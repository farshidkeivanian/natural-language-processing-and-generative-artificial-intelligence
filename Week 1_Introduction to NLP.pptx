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1626" r:id="rId12"/>
    <p:sldId id="1627" r:id="rId13"/>
    <p:sldId id="1628" r:id="rId14"/>
    <p:sldId id="1629" r:id="rId15"/>
    <p:sldId id="1630" r:id="rId16"/>
    <p:sldId id="1631" r:id="rId17"/>
    <p:sldId id="1632" r:id="rId18"/>
    <p:sldId id="1633" r:id="rId19"/>
    <p:sldId id="1634" r:id="rId20"/>
    <p:sldId id="1635" r:id="rId21"/>
    <p:sldId id="1636" r:id="rId22"/>
    <p:sldId id="1637" r:id="rId23"/>
    <p:sldId id="1638" r:id="rId24"/>
    <p:sldId id="1639" r:id="rId25"/>
    <p:sldId id="1640" r:id="rId26"/>
    <p:sldId id="266" r:id="rId27"/>
    <p:sldId id="267" r:id="rId28"/>
    <p:sldId id="268" r:id="rId29"/>
    <p:sldId id="1608" r:id="rId30"/>
    <p:sldId id="1610" r:id="rId31"/>
    <p:sldId id="1609" r:id="rId32"/>
    <p:sldId id="1612" r:id="rId33"/>
    <p:sldId id="1613" r:id="rId34"/>
    <p:sldId id="1619" r:id="rId35"/>
    <p:sldId id="1620" r:id="rId36"/>
    <p:sldId id="1622" r:id="rId37"/>
    <p:sldId id="1611" r:id="rId38"/>
    <p:sldId id="1614" r:id="rId39"/>
    <p:sldId id="1615" r:id="rId40"/>
    <p:sldId id="1616" r:id="rId41"/>
    <p:sldId id="1617" r:id="rId42"/>
    <p:sldId id="1623" r:id="rId43"/>
    <p:sldId id="1624" r:id="rId44"/>
    <p:sldId id="1625" r:id="rId45"/>
    <p:sldId id="1641" r:id="rId46"/>
    <p:sldId id="1642" r:id="rId47"/>
    <p:sldId id="1643" r:id="rId48"/>
    <p:sldId id="1644" r:id="rId49"/>
    <p:sldId id="1645" r:id="rId50"/>
    <p:sldId id="1646" r:id="rId51"/>
    <p:sldId id="1647" r:id="rId52"/>
    <p:sldId id="1648" r:id="rId53"/>
    <p:sldId id="1649" r:id="rId54"/>
    <p:sldId id="1650" r:id="rId55"/>
    <p:sldId id="1651" r:id="rId56"/>
    <p:sldId id="1652" r:id="rId57"/>
    <p:sldId id="1653" r:id="rId58"/>
    <p:sldId id="1654" r:id="rId59"/>
    <p:sldId id="1655" r:id="rId60"/>
    <p:sldId id="1656" r:id="rId61"/>
    <p:sldId id="1657" r:id="rId62"/>
    <p:sldId id="1658" r:id="rId63"/>
    <p:sldId id="1659" r:id="rId64"/>
    <p:sldId id="1660" r:id="rId65"/>
    <p:sldId id="1661" r:id="rId66"/>
    <p:sldId id="1662" r:id="rId67"/>
    <p:sldId id="1663" r:id="rId68"/>
    <p:sldId id="1673" r:id="rId69"/>
    <p:sldId id="1674" r:id="rId70"/>
    <p:sldId id="1675" r:id="rId71"/>
    <p:sldId id="1676" r:id="rId72"/>
    <p:sldId id="1664" r:id="rId73"/>
    <p:sldId id="1665" r:id="rId74"/>
    <p:sldId id="1666" r:id="rId75"/>
    <p:sldId id="1667" r:id="rId76"/>
    <p:sldId id="1668" r:id="rId77"/>
    <p:sldId id="1669" r:id="rId78"/>
    <p:sldId id="1670" r:id="rId79"/>
    <p:sldId id="1671" r:id="rId80"/>
    <p:sldId id="1672" r:id="rId81"/>
    <p:sldId id="790" r:id="rId82"/>
    <p:sldId id="749"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954"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7FA1A-548F-DD22-D11A-7950EC833B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46EDB9-F7B6-5665-F88B-95BB4F9B5A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1EA7AF-809D-2BBB-FCDE-DEF8B0577865}"/>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5" name="Footer Placeholder 4">
            <a:extLst>
              <a:ext uri="{FF2B5EF4-FFF2-40B4-BE49-F238E27FC236}">
                <a16:creationId xmlns:a16="http://schemas.microsoft.com/office/drawing/2014/main" id="{A82E5C33-A84A-9F00-E746-305CBBCC44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E1E3FE-2785-7795-8C68-060DDC56A7BD}"/>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3337648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EC5D6-1D27-64E1-972A-FE8D768B4B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606DB3-5BAD-79BB-47B6-48B7F3378D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F35CC0-5FB5-8F6E-425B-E22D83A24908}"/>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5" name="Footer Placeholder 4">
            <a:extLst>
              <a:ext uri="{FF2B5EF4-FFF2-40B4-BE49-F238E27FC236}">
                <a16:creationId xmlns:a16="http://schemas.microsoft.com/office/drawing/2014/main" id="{CC810AC2-5397-4D43-A9A8-D8B49D2F0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BEF1D8-D9E7-0FA8-28EE-29D2986D676D}"/>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2873962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064A-B93B-C4AF-6EA5-3CFB39618C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D4FDF8-73FC-E8B6-BD5A-AC513EDF7A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B4AF8B-B065-485E-D387-4A7E205CE1E3}"/>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5" name="Footer Placeholder 4">
            <a:extLst>
              <a:ext uri="{FF2B5EF4-FFF2-40B4-BE49-F238E27FC236}">
                <a16:creationId xmlns:a16="http://schemas.microsoft.com/office/drawing/2014/main" id="{094084AF-A889-8544-EBF8-DEC48AEAE3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46041-B5E4-84AF-14FE-92A4D5453BF7}"/>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3640324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FC2A-D545-9D7A-9831-6D439D86B2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D69AB9-BEE5-FF51-A447-FD0BF60E08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41A705-8894-3862-7A7A-82FEA58200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5F741C-E652-5F31-D28D-2564964AEC6F}"/>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6" name="Footer Placeholder 5">
            <a:extLst>
              <a:ext uri="{FF2B5EF4-FFF2-40B4-BE49-F238E27FC236}">
                <a16:creationId xmlns:a16="http://schemas.microsoft.com/office/drawing/2014/main" id="{A5399244-0B65-9890-C4A4-9003B37590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7CE26A-3A6B-76F9-DCC9-57ED71AA6EB5}"/>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274691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23A29-D895-A3F2-A45E-ABF6E624C2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640C78-870A-2E79-9333-1BC6C4007C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149F24-E44E-2A04-114A-F48174F683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5A2719-8390-FB70-ACC5-C6CC9C832A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CF798F-BAC6-6699-0EC1-B146E63F76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A65A0-4DBB-D142-4DD8-60F549931543}"/>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8" name="Footer Placeholder 7">
            <a:extLst>
              <a:ext uri="{FF2B5EF4-FFF2-40B4-BE49-F238E27FC236}">
                <a16:creationId xmlns:a16="http://schemas.microsoft.com/office/drawing/2014/main" id="{FF35EC79-B316-3AE3-4407-50F36823A1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2C7D63-C1B7-F017-F428-C38D872B278E}"/>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1687784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06EA8-6CCC-3007-5D41-7059E97F74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BE53EB-521C-CDC7-1DBE-4501672423E4}"/>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4" name="Footer Placeholder 3">
            <a:extLst>
              <a:ext uri="{FF2B5EF4-FFF2-40B4-BE49-F238E27FC236}">
                <a16:creationId xmlns:a16="http://schemas.microsoft.com/office/drawing/2014/main" id="{EDE83848-A994-DDF6-B4E0-E0EEE11951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2CE24D-2D8E-1746-3FE2-6CDBDBF8D0BA}"/>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3002403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0DE317-18A4-563B-6A83-6747A670E643}"/>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3" name="Footer Placeholder 2">
            <a:extLst>
              <a:ext uri="{FF2B5EF4-FFF2-40B4-BE49-F238E27FC236}">
                <a16:creationId xmlns:a16="http://schemas.microsoft.com/office/drawing/2014/main" id="{5577C82F-34B1-E64C-9908-194995615E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D15121-9284-B3F6-43B6-6657C0C17361}"/>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1363282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005B8-B635-114B-A46B-6A58595D5A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795FC0-EFB3-871A-2BC7-B0B3CA90F1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E861A4-A989-55DC-CA82-032233C855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AF5F51-537A-5206-F484-58CBDBF6F5CB}"/>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6" name="Footer Placeholder 5">
            <a:extLst>
              <a:ext uri="{FF2B5EF4-FFF2-40B4-BE49-F238E27FC236}">
                <a16:creationId xmlns:a16="http://schemas.microsoft.com/office/drawing/2014/main" id="{4BE7E559-A1EE-A113-426D-B3F69337A9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5BF45A-418B-FAEF-E4B3-B36F9ADD280C}"/>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4006697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2A767-84B1-6F8D-C8E8-904B10CA2B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DE2F5E-63C8-E00D-60CB-C918B441B8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E375C8-5142-F2BF-C1B9-52738E99B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953237-D4FE-C225-9D51-19299EDA78BF}"/>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6" name="Footer Placeholder 5">
            <a:extLst>
              <a:ext uri="{FF2B5EF4-FFF2-40B4-BE49-F238E27FC236}">
                <a16:creationId xmlns:a16="http://schemas.microsoft.com/office/drawing/2014/main" id="{E4036967-B9A2-7771-FCD9-6672C7629C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32BFFD-6D39-8833-A6E8-FE705D5089A0}"/>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835899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4731-7731-DF72-0029-942004FE4B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599BDD-5576-817C-3B9A-440943A875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097AFB-3832-57D8-B09D-5237F7D3186A}"/>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5" name="Footer Placeholder 4">
            <a:extLst>
              <a:ext uri="{FF2B5EF4-FFF2-40B4-BE49-F238E27FC236}">
                <a16:creationId xmlns:a16="http://schemas.microsoft.com/office/drawing/2014/main" id="{61EE38A0-02D0-3BA0-44E0-36C7245DFC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22B5CB-B0E3-FACA-16FA-D1B2FFCD8A09}"/>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2348950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837890-05C6-60E5-5D9C-E63FC12E1E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E6D774-5761-1135-7CDB-E8FF1561DC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7D7B09-4340-2A8E-A096-8AB011283150}"/>
              </a:ext>
            </a:extLst>
          </p:cNvPr>
          <p:cNvSpPr>
            <a:spLocks noGrp="1"/>
          </p:cNvSpPr>
          <p:nvPr>
            <p:ph type="dt" sz="half" idx="10"/>
          </p:nvPr>
        </p:nvSpPr>
        <p:spPr/>
        <p:txBody>
          <a:bodyPr/>
          <a:lstStyle/>
          <a:p>
            <a:fld id="{0DF8E727-C31C-40C4-BCBF-6B56EC34ABF7}" type="datetimeFigureOut">
              <a:rPr lang="en-US" smtClean="0"/>
              <a:t>9/8/2026</a:t>
            </a:fld>
            <a:endParaRPr lang="en-US"/>
          </a:p>
        </p:txBody>
      </p:sp>
      <p:sp>
        <p:nvSpPr>
          <p:cNvPr id="5" name="Footer Placeholder 4">
            <a:extLst>
              <a:ext uri="{FF2B5EF4-FFF2-40B4-BE49-F238E27FC236}">
                <a16:creationId xmlns:a16="http://schemas.microsoft.com/office/drawing/2014/main" id="{98BC3D46-7948-506A-13E9-043A09E641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A9416-6374-927A-2292-D2EEB224309A}"/>
              </a:ext>
            </a:extLst>
          </p:cNvPr>
          <p:cNvSpPr>
            <a:spLocks noGrp="1"/>
          </p:cNvSpPr>
          <p:nvPr>
            <p:ph type="sldNum" sz="quarter" idx="12"/>
          </p:nvPr>
        </p:nvSpPr>
        <p:spPr/>
        <p:txBody>
          <a:bodyPr/>
          <a:lstStyle/>
          <a:p>
            <a:fld id="{4C83345E-2DB6-4760-A74B-F3B60350991E}" type="slidenum">
              <a:rPr lang="en-US" smtClean="0"/>
              <a:t>‹#›</a:t>
            </a:fld>
            <a:endParaRPr lang="en-US"/>
          </a:p>
        </p:txBody>
      </p:sp>
    </p:spTree>
    <p:extLst>
      <p:ext uri="{BB962C8B-B14F-4D97-AF65-F5344CB8AC3E}">
        <p14:creationId xmlns:p14="http://schemas.microsoft.com/office/powerpoint/2010/main" val="499498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D4ADFD-5477-23C7-050F-F37F6FBE2D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A20BBC-043C-2572-F7FC-35C7E27035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8F0446-49B7-92A4-1770-D8B7EEEC09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F8E727-C31C-40C4-BCBF-6B56EC34ABF7}" type="datetimeFigureOut">
              <a:rPr lang="en-US" smtClean="0"/>
              <a:t>9/8/2026</a:t>
            </a:fld>
            <a:endParaRPr lang="en-US"/>
          </a:p>
        </p:txBody>
      </p:sp>
      <p:sp>
        <p:nvSpPr>
          <p:cNvPr id="5" name="Footer Placeholder 4">
            <a:extLst>
              <a:ext uri="{FF2B5EF4-FFF2-40B4-BE49-F238E27FC236}">
                <a16:creationId xmlns:a16="http://schemas.microsoft.com/office/drawing/2014/main" id="{038020F9-7291-9199-D343-5080720AFB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7AA6A84-C211-42FE-6FD6-C819748994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83345E-2DB6-4760-A74B-F3B60350991E}" type="slidenum">
              <a:rPr lang="en-US" smtClean="0"/>
              <a:t>‹#›</a:t>
            </a:fld>
            <a:endParaRPr lang="en-US"/>
          </a:p>
        </p:txBody>
      </p:sp>
    </p:spTree>
    <p:extLst>
      <p:ext uri="{BB962C8B-B14F-4D97-AF65-F5344CB8AC3E}">
        <p14:creationId xmlns:p14="http://schemas.microsoft.com/office/powerpoint/2010/main" val="1644553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hyperlink" Target="mailto:test@email.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hyperlink" Target="https://x.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hyperlink" Target="https://www.youtube.com/watch?v=w__y7508704"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hyperlink" Target="https://www.youtube.com/watch?v=w__y7508704"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PPJzuVzbmMg" TargetMode="Externa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PPJzuVzbmMg" TargetMode="Externa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hyperlink" Target="https://www.linkedin.com/in/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1B4912-CB00-8833-054B-C238137B10CA}"/>
              </a:ext>
            </a:extLst>
          </p:cNvPr>
          <p:cNvSpPr>
            <a:spLocks noGrp="1"/>
          </p:cNvSpPr>
          <p:nvPr>
            <p:ph type="ctrTitle"/>
          </p:nvPr>
        </p:nvSpPr>
        <p:spPr>
          <a:xfrm>
            <a:off x="638882" y="3577456"/>
            <a:ext cx="10909640" cy="1687814"/>
          </a:xfrm>
        </p:spPr>
        <p:txBody>
          <a:bodyPr anchor="b">
            <a:normAutofit/>
          </a:bodyPr>
          <a:lstStyle/>
          <a:p>
            <a:r>
              <a:rPr lang="en-US" sz="5100" dirty="0"/>
              <a:t>DATM754 Natural Language Processing and Generative Artificial Intelligence</a:t>
            </a:r>
          </a:p>
        </p:txBody>
      </p:sp>
      <p:sp>
        <p:nvSpPr>
          <p:cNvPr id="3" name="Subtitle 2">
            <a:extLst>
              <a:ext uri="{FF2B5EF4-FFF2-40B4-BE49-F238E27FC236}">
                <a16:creationId xmlns:a16="http://schemas.microsoft.com/office/drawing/2014/main" id="{7194A9D4-E479-136C-9B18-BFFB5391C7DF}"/>
              </a:ext>
            </a:extLst>
          </p:cNvPr>
          <p:cNvSpPr>
            <a:spLocks noGrp="1"/>
          </p:cNvSpPr>
          <p:nvPr>
            <p:ph type="subTitle" idx="1"/>
          </p:nvPr>
        </p:nvSpPr>
        <p:spPr>
          <a:xfrm>
            <a:off x="638881" y="5660607"/>
            <a:ext cx="10909643" cy="978215"/>
          </a:xfrm>
        </p:spPr>
        <p:txBody>
          <a:bodyPr anchor="t">
            <a:normAutofit fontScale="85000" lnSpcReduction="20000"/>
          </a:bodyPr>
          <a:lstStyle/>
          <a:p>
            <a:pPr>
              <a:lnSpc>
                <a:spcPct val="170000"/>
              </a:lnSpc>
            </a:pPr>
            <a:r>
              <a:rPr lang="en-US" dirty="0"/>
              <a:t>Week 1: Introduction to NLP</a:t>
            </a:r>
            <a:br>
              <a:rPr lang="en-US" dirty="0"/>
            </a:br>
            <a:r>
              <a:rPr lang="en-US" dirty="0"/>
              <a:t>Dr. Farshid Keivanian</a:t>
            </a:r>
          </a:p>
        </p:txBody>
      </p:sp>
      <p:pic>
        <p:nvPicPr>
          <p:cNvPr id="5" name="Picture 4">
            <a:extLst>
              <a:ext uri="{FF2B5EF4-FFF2-40B4-BE49-F238E27FC236}">
                <a16:creationId xmlns:a16="http://schemas.microsoft.com/office/drawing/2014/main" id="{2A87EB0C-C615-BF1A-E470-8B59D9A1E328}"/>
              </a:ext>
            </a:extLst>
          </p:cNvPr>
          <p:cNvPicPr>
            <a:picLocks noChangeAspect="1"/>
          </p:cNvPicPr>
          <p:nvPr/>
        </p:nvPicPr>
        <p:blipFill>
          <a:blip r:embed="rId2"/>
          <a:srcRect l="32661" t="41720" r="16290" b="27312"/>
          <a:stretch>
            <a:fillRect/>
          </a:stretch>
        </p:blipFill>
        <p:spPr>
          <a:xfrm>
            <a:off x="2873908" y="863979"/>
            <a:ext cx="6439588" cy="2197387"/>
          </a:xfrm>
          <a:prstGeom prst="rect">
            <a:avLst/>
          </a:prstGeom>
        </p:spPr>
      </p:pic>
      <p:sp>
        <p:nvSpPr>
          <p:cNvPr id="12"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7225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85B7-850E-9A5F-A097-21A29F781F3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3CA796E-BB77-50AE-5D46-84B0EC825D78}"/>
              </a:ext>
            </a:extLst>
          </p:cNvPr>
          <p:cNvSpPr txBox="1"/>
          <p:nvPr/>
        </p:nvSpPr>
        <p:spPr>
          <a:xfrm>
            <a:off x="0" y="346169"/>
            <a:ext cx="12192000" cy="6165662"/>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Big View of This Unit</a:t>
            </a:r>
          </a:p>
          <a:p>
            <a:pPr>
              <a:lnSpc>
                <a:spcPct val="150000"/>
              </a:lnSpc>
              <a:buNone/>
            </a:pPr>
            <a:r>
              <a:rPr lang="en-US" sz="2800" dirty="0">
                <a:latin typeface="Calibri" panose="020F0502020204030204" pitchFamily="34" charset="0"/>
                <a:cs typeface="Calibri" panose="020F0502020204030204" pitchFamily="34" charset="0"/>
              </a:rPr>
              <a:t>In this unit, you will learn how computers work with human language.</a:t>
            </a:r>
          </a:p>
          <a:p>
            <a:pPr>
              <a:lnSpc>
                <a:spcPct val="150000"/>
              </a:lnSpc>
              <a:buNone/>
            </a:pPr>
            <a:r>
              <a:rPr lang="en-US" sz="2600" dirty="0">
                <a:latin typeface="Calibri" panose="020F0502020204030204" pitchFamily="34" charset="0"/>
                <a:cs typeface="Calibri" panose="020F0502020204030204" pitchFamily="34" charset="0"/>
              </a:rPr>
              <a:t>You will explore how AI systems:</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read text,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clean messy language,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split text into useful parts,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find patterns,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classify text, </a:t>
            </a:r>
          </a:p>
          <a:p>
            <a:pPr marL="342900" lvl="0" indent="-342900">
              <a:lnSpc>
                <a:spcPct val="150000"/>
              </a:lnSpc>
              <a:buFont typeface="Arial" panose="020B0604020202020204" pitchFamily="34" charset="0"/>
              <a:buChar char="•"/>
            </a:pPr>
            <a:r>
              <a:rPr lang="en-US" sz="2600" dirty="0" err="1">
                <a:latin typeface="Calibri" panose="020F0502020204030204" pitchFamily="34" charset="0"/>
                <a:cs typeface="Calibri" panose="020F0502020204030204" pitchFamily="34" charset="0"/>
              </a:rPr>
              <a:t>summarise</a:t>
            </a:r>
            <a:r>
              <a:rPr lang="en-US" sz="2600" dirty="0">
                <a:latin typeface="Calibri" panose="020F0502020204030204" pitchFamily="34" charset="0"/>
                <a:cs typeface="Calibri" panose="020F0502020204030204" pitchFamily="34" charset="0"/>
              </a:rPr>
              <a:t> information,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and support chatbot or Generative AI systems.</a:t>
            </a:r>
            <a:r>
              <a:rPr lang="en-US" sz="2800" dirty="0">
                <a:latin typeface="Calibri" panose="020F0502020204030204" pitchFamily="34" charset="0"/>
                <a:cs typeface="Calibri" panose="020F0502020204030204" pitchFamily="34" charset="0"/>
              </a:rPr>
              <a:t> </a:t>
            </a:r>
          </a:p>
        </p:txBody>
      </p:sp>
      <p:pic>
        <p:nvPicPr>
          <p:cNvPr id="11" name="Picture 10">
            <a:extLst>
              <a:ext uri="{FF2B5EF4-FFF2-40B4-BE49-F238E27FC236}">
                <a16:creationId xmlns:a16="http://schemas.microsoft.com/office/drawing/2014/main" id="{81FACF88-D20B-7877-6359-201AD47D8442}"/>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Tree>
    <p:extLst>
      <p:ext uri="{BB962C8B-B14F-4D97-AF65-F5344CB8AC3E}">
        <p14:creationId xmlns:p14="http://schemas.microsoft.com/office/powerpoint/2010/main" val="679464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AE736-B58E-BFEE-C89F-FCEAC4D0605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C5732E1-F159-0515-EE6F-6C31DDA4F0B1}"/>
              </a:ext>
            </a:extLst>
          </p:cNvPr>
          <p:cNvSpPr txBox="1"/>
          <p:nvPr/>
        </p:nvSpPr>
        <p:spPr>
          <a:xfrm>
            <a:off x="0" y="346169"/>
            <a:ext cx="12192000" cy="2610843"/>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The main idea is simple:</a:t>
            </a:r>
          </a:p>
          <a:p>
            <a:pPr>
              <a:lnSpc>
                <a:spcPct val="150000"/>
              </a:lnSpc>
              <a:buNone/>
            </a:pPr>
            <a:r>
              <a:rPr lang="en-US" sz="2800" dirty="0">
                <a:latin typeface="Calibri" panose="020F0502020204030204" pitchFamily="34" charset="0"/>
                <a:cs typeface="Calibri" panose="020F0502020204030204" pitchFamily="34" charset="0"/>
              </a:rPr>
              <a:t>Raw text is messy. NLP helps us turn messy language into useful data.</a:t>
            </a:r>
          </a:p>
          <a:p>
            <a:pPr>
              <a:lnSpc>
                <a:spcPct val="150000"/>
              </a:lnSpc>
              <a:buNone/>
            </a:pPr>
            <a:r>
              <a:rPr lang="en-US" sz="2800" dirty="0">
                <a:latin typeface="Calibri" panose="020F0502020204030204" pitchFamily="34" charset="0"/>
                <a:cs typeface="Calibri" panose="020F0502020204030204" pitchFamily="34" charset="0"/>
              </a:rPr>
              <a:t>By the end of the unit, you should be able to design, build, and explain a practical NLP workflow.</a:t>
            </a:r>
          </a:p>
        </p:txBody>
      </p:sp>
      <p:pic>
        <p:nvPicPr>
          <p:cNvPr id="3" name="Picture 2">
            <a:extLst>
              <a:ext uri="{FF2B5EF4-FFF2-40B4-BE49-F238E27FC236}">
                <a16:creationId xmlns:a16="http://schemas.microsoft.com/office/drawing/2014/main" id="{36AB650B-045B-AA80-BAE3-132EB792AC15}"/>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Tree>
    <p:extLst>
      <p:ext uri="{BB962C8B-B14F-4D97-AF65-F5344CB8AC3E}">
        <p14:creationId xmlns:p14="http://schemas.microsoft.com/office/powerpoint/2010/main" val="3347166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DBAAE-7285-6B92-C237-F98A7E0A30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007B0A-C2F7-3059-A9BB-D0408D8F7287}"/>
              </a:ext>
            </a:extLst>
          </p:cNvPr>
          <p:cNvSpPr txBox="1"/>
          <p:nvPr/>
        </p:nvSpPr>
        <p:spPr>
          <a:xfrm>
            <a:off x="0" y="1"/>
            <a:ext cx="12196916" cy="6488828"/>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What This Unit Expects From You</a:t>
            </a:r>
          </a:p>
          <a:p>
            <a:pPr>
              <a:lnSpc>
                <a:spcPct val="150000"/>
              </a:lnSpc>
              <a:buNone/>
            </a:pPr>
            <a:r>
              <a:rPr lang="en-US" sz="2800" dirty="0">
                <a:latin typeface="Calibri" panose="020F0502020204030204" pitchFamily="34" charset="0"/>
                <a:cs typeface="Calibri" panose="020F0502020204030204" pitchFamily="34" charset="0"/>
              </a:rPr>
              <a:t>You are expected to:</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attend and participate,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complete weekly practice,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write clean and simple code,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explain your own work,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connect theory to examples,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use ethical and responsible AI thinking,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prepare for viva questions,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submit reproducible notebooks. </a:t>
            </a:r>
          </a:p>
        </p:txBody>
      </p:sp>
      <p:pic>
        <p:nvPicPr>
          <p:cNvPr id="5" name="Picture 4">
            <a:extLst>
              <a:ext uri="{FF2B5EF4-FFF2-40B4-BE49-F238E27FC236}">
                <a16:creationId xmlns:a16="http://schemas.microsoft.com/office/drawing/2014/main" id="{744B1B09-0247-18D6-6BF6-FB626C1F7F9A}"/>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Tree>
    <p:extLst>
      <p:ext uri="{BB962C8B-B14F-4D97-AF65-F5344CB8AC3E}">
        <p14:creationId xmlns:p14="http://schemas.microsoft.com/office/powerpoint/2010/main" val="1537131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64088-AAA2-40AF-51A5-A02C628394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619B991-EB29-5ABC-A87B-CE4770FDA288}"/>
              </a:ext>
            </a:extLst>
          </p:cNvPr>
          <p:cNvSpPr txBox="1"/>
          <p:nvPr/>
        </p:nvSpPr>
        <p:spPr>
          <a:xfrm>
            <a:off x="-4916" y="2123578"/>
            <a:ext cx="12196916" cy="2610843"/>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A good student in this unit does not just “run code”.</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A good student can explain:</a:t>
            </a:r>
          </a:p>
          <a:p>
            <a:pPr>
              <a:lnSpc>
                <a:spcPct val="150000"/>
              </a:lnSpc>
              <a:buNone/>
            </a:pPr>
            <a:r>
              <a:rPr lang="en-US" sz="2800" dirty="0">
                <a:latin typeface="Calibri" panose="020F0502020204030204" pitchFamily="34" charset="0"/>
                <a:cs typeface="Calibri" panose="020F0502020204030204" pitchFamily="34" charset="0"/>
              </a:rPr>
              <a:t>What did I do? Why did I do it? What changed in the text? How could this affect a model later?</a:t>
            </a:r>
          </a:p>
        </p:txBody>
      </p:sp>
      <p:pic>
        <p:nvPicPr>
          <p:cNvPr id="4" name="Picture 3">
            <a:extLst>
              <a:ext uri="{FF2B5EF4-FFF2-40B4-BE49-F238E27FC236}">
                <a16:creationId xmlns:a16="http://schemas.microsoft.com/office/drawing/2014/main" id="{C578F58B-5730-FF75-4DC8-A15FA1DA6595}"/>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Tree>
    <p:extLst>
      <p:ext uri="{BB962C8B-B14F-4D97-AF65-F5344CB8AC3E}">
        <p14:creationId xmlns:p14="http://schemas.microsoft.com/office/powerpoint/2010/main" val="1607497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FA220-7850-A26F-1398-CA2432DEA66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1F882D-85D9-9965-5729-FB0043BF11CF}"/>
              </a:ext>
            </a:extLst>
          </p:cNvPr>
          <p:cNvSpPr txBox="1"/>
          <p:nvPr/>
        </p:nvSpPr>
        <p:spPr>
          <a:xfrm>
            <a:off x="0" y="0"/>
            <a:ext cx="12196916" cy="6780189"/>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Why This Unit Matters for Jobs in Australia</a:t>
            </a:r>
          </a:p>
          <a:p>
            <a:pPr>
              <a:lnSpc>
                <a:spcPct val="150000"/>
              </a:lnSpc>
              <a:buNone/>
            </a:pP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NLP and Generative AI skills are useful in many Australian job areas, including:</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data analyst, </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AI/ML engineer, </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junior data scientist, </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business analyst, </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chatbot developer, </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automation consultant, </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digital transformation analyst, </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research assistant, </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cybersecurity analyst using text logs, </a:t>
            </a:r>
          </a:p>
          <a:p>
            <a:pPr marL="811213"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customer analytics specialist. </a:t>
            </a:r>
          </a:p>
        </p:txBody>
      </p:sp>
      <p:pic>
        <p:nvPicPr>
          <p:cNvPr id="6" name="Picture 5">
            <a:extLst>
              <a:ext uri="{FF2B5EF4-FFF2-40B4-BE49-F238E27FC236}">
                <a16:creationId xmlns:a16="http://schemas.microsoft.com/office/drawing/2014/main" id="{7E02145F-E5DA-F938-E3D4-9EF6BF611EE2}"/>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Tree>
    <p:extLst>
      <p:ext uri="{BB962C8B-B14F-4D97-AF65-F5344CB8AC3E}">
        <p14:creationId xmlns:p14="http://schemas.microsoft.com/office/powerpoint/2010/main" val="3445127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DE053-87F1-E9BD-6323-44A4F7A9FFC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8C79120-AE7E-1877-8131-406618628ABB}"/>
              </a:ext>
            </a:extLst>
          </p:cNvPr>
          <p:cNvSpPr txBox="1"/>
          <p:nvPr/>
        </p:nvSpPr>
        <p:spPr>
          <a:xfrm>
            <a:off x="0" y="1800413"/>
            <a:ext cx="12196916" cy="3257174"/>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Jobs and Skills Australia reports that Generative AI is more likely to support and improve human work rather than simply replace it, and it is changing skills needs across many occupations. SEEK job listings also show Australian demand for data science, machine learning, and LLM-related roles, including hybrid and government/public-sector roles. </a:t>
            </a:r>
          </a:p>
        </p:txBody>
      </p:sp>
      <p:pic>
        <p:nvPicPr>
          <p:cNvPr id="3" name="Picture 2">
            <a:extLst>
              <a:ext uri="{FF2B5EF4-FFF2-40B4-BE49-F238E27FC236}">
                <a16:creationId xmlns:a16="http://schemas.microsoft.com/office/drawing/2014/main" id="{A79E1167-95B0-9A62-6E9F-E60A8C487613}"/>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Tree>
    <p:extLst>
      <p:ext uri="{BB962C8B-B14F-4D97-AF65-F5344CB8AC3E}">
        <p14:creationId xmlns:p14="http://schemas.microsoft.com/office/powerpoint/2010/main" val="1624935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E1E5A-5EC4-646C-70FF-9B37A7F59FF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71CE2F-A6CD-42FA-3A08-6C766A55C622}"/>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9152D463-4BBB-46BD-568D-2BC1D4A98DFE}"/>
              </a:ext>
            </a:extLst>
          </p:cNvPr>
          <p:cNvSpPr txBox="1"/>
          <p:nvPr/>
        </p:nvSpPr>
        <p:spPr>
          <a:xfrm>
            <a:off x="0" y="184586"/>
            <a:ext cx="12196916" cy="6488828"/>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This unit helps you build job-ready skills such as:</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Python text processing,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data cleaning, </a:t>
            </a:r>
          </a:p>
          <a:p>
            <a:pPr marL="722313" lvl="0" indent="-342900">
              <a:lnSpc>
                <a:spcPct val="150000"/>
              </a:lnSpc>
              <a:buFont typeface="Arial" panose="020B0604020202020204" pitchFamily="34" charset="0"/>
              <a:buChar char="•"/>
            </a:pP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vocabulary analysis,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feature preparation,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model evaluation,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explaining AI decisions,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communicating technical results,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ethical AI awareness.</a:t>
            </a:r>
          </a:p>
        </p:txBody>
      </p:sp>
    </p:spTree>
    <p:extLst>
      <p:ext uri="{BB962C8B-B14F-4D97-AF65-F5344CB8AC3E}">
        <p14:creationId xmlns:p14="http://schemas.microsoft.com/office/powerpoint/2010/main" val="1269382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48FA4-94DC-E8E2-DBC5-702C787F3CA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FD56EA7-1990-775F-8A7C-93004D9011A9}"/>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EAF9C697-22C4-2CFC-18EC-26612E11A29E}"/>
              </a:ext>
            </a:extLst>
          </p:cNvPr>
          <p:cNvSpPr txBox="1"/>
          <p:nvPr/>
        </p:nvSpPr>
        <p:spPr>
          <a:xfrm>
            <a:off x="0" y="1"/>
            <a:ext cx="12196916" cy="6867714"/>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Industry Insight: Where NLP Is Used</a:t>
            </a:r>
          </a:p>
          <a:p>
            <a:pPr>
              <a:lnSpc>
                <a:spcPct val="150000"/>
              </a:lnSpc>
              <a:buNone/>
            </a:pPr>
            <a:r>
              <a:rPr lang="en-US" sz="2800" dirty="0">
                <a:latin typeface="Calibri" panose="020F0502020204030204" pitchFamily="34" charset="0"/>
                <a:cs typeface="Calibri" panose="020F0502020204030204" pitchFamily="34" charset="0"/>
              </a:rPr>
              <a:t>NLP is used </a:t>
            </a:r>
            <a:r>
              <a:rPr lang="en-US" sz="2400" dirty="0">
                <a:latin typeface="Calibri" panose="020F0502020204030204" pitchFamily="34" charset="0"/>
                <a:cs typeface="Calibri" panose="020F0502020204030204" pitchFamily="34" charset="0"/>
              </a:rPr>
              <a:t>in real workplaces for:</a:t>
            </a:r>
          </a:p>
          <a:p>
            <a:pPr marL="722313"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customer review analysis, </a:t>
            </a:r>
          </a:p>
          <a:p>
            <a:pPr marL="722313"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email classification, </a:t>
            </a:r>
          </a:p>
          <a:p>
            <a:pPr marL="722313"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chatbot support, </a:t>
            </a:r>
          </a:p>
          <a:p>
            <a:pPr marL="722313"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fraud detection from text, </a:t>
            </a:r>
          </a:p>
          <a:p>
            <a:pPr marL="722313"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resume screening, </a:t>
            </a:r>
          </a:p>
          <a:p>
            <a:pPr marL="722313"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legal document search, </a:t>
            </a:r>
          </a:p>
          <a:p>
            <a:pPr marL="722313"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medical note analysis, </a:t>
            </a:r>
          </a:p>
          <a:p>
            <a:pPr marL="722313"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social media monitoring, </a:t>
            </a:r>
          </a:p>
          <a:p>
            <a:pPr marL="722313"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sentiment analysis, </a:t>
            </a:r>
          </a:p>
          <a:p>
            <a:pPr marL="722313" lvl="0" indent="-342900">
              <a:lnSpc>
                <a:spcPct val="150000"/>
              </a:lnSpc>
              <a:buFont typeface="Arial" panose="020B0604020202020204" pitchFamily="34" charset="0"/>
              <a:buChar char="•"/>
            </a:pPr>
            <a:r>
              <a:rPr lang="en-US" sz="2400" dirty="0" err="1">
                <a:latin typeface="Calibri" panose="020F0502020204030204" pitchFamily="34" charset="0"/>
                <a:cs typeface="Calibri" panose="020F0502020204030204" pitchFamily="34" charset="0"/>
              </a:rPr>
              <a:t>summarising</a:t>
            </a:r>
            <a:r>
              <a:rPr lang="en-US" sz="2400" dirty="0">
                <a:latin typeface="Calibri" panose="020F0502020204030204" pitchFamily="34" charset="0"/>
                <a:cs typeface="Calibri" panose="020F0502020204030204" pitchFamily="34" charset="0"/>
              </a:rPr>
              <a:t> large documents. </a:t>
            </a:r>
          </a:p>
        </p:txBody>
      </p:sp>
    </p:spTree>
    <p:extLst>
      <p:ext uri="{BB962C8B-B14F-4D97-AF65-F5344CB8AC3E}">
        <p14:creationId xmlns:p14="http://schemas.microsoft.com/office/powerpoint/2010/main" val="723551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132F2-4502-2DA3-8340-2C5FA941B29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9B86D2D-23A5-E4EE-271F-1DF767237FAA}"/>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DC0A1197-87F4-13F2-CE5C-12C125AA971D}"/>
              </a:ext>
            </a:extLst>
          </p:cNvPr>
          <p:cNvSpPr txBox="1"/>
          <p:nvPr/>
        </p:nvSpPr>
        <p:spPr>
          <a:xfrm>
            <a:off x="0" y="1696066"/>
            <a:ext cx="12196916" cy="2610843"/>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Example:</a:t>
            </a:r>
          </a:p>
          <a:p>
            <a:pPr>
              <a:lnSpc>
                <a:spcPct val="150000"/>
              </a:lnSpc>
              <a:buNone/>
            </a:pPr>
            <a:r>
              <a:rPr lang="en-US" sz="2800" dirty="0">
                <a:latin typeface="Calibri" panose="020F0502020204030204" pitchFamily="34" charset="0"/>
                <a:cs typeface="Calibri" panose="020F0502020204030204" pitchFamily="34" charset="0"/>
              </a:rPr>
              <a:t>Question: A company receives 10,000 customer reviews. What can NLP do?</a:t>
            </a:r>
          </a:p>
          <a:p>
            <a:pPr>
              <a:lnSpc>
                <a:spcPct val="150000"/>
              </a:lnSpc>
              <a:buNone/>
            </a:pPr>
            <a:r>
              <a:rPr lang="en-US" sz="2800" dirty="0">
                <a:latin typeface="Calibri" panose="020F0502020204030204" pitchFamily="34" charset="0"/>
                <a:cs typeface="Calibri" panose="020F0502020204030204" pitchFamily="34" charset="0"/>
              </a:rPr>
              <a:t>Answer: NLP can clean the text, count common words, find complaints, classify positive/negative reviews, and </a:t>
            </a:r>
            <a:r>
              <a:rPr lang="en-US" sz="2800" dirty="0" err="1">
                <a:latin typeface="Calibri" panose="020F0502020204030204" pitchFamily="34" charset="0"/>
                <a:cs typeface="Calibri" panose="020F0502020204030204" pitchFamily="34" charset="0"/>
              </a:rPr>
              <a:t>summarise</a:t>
            </a:r>
            <a:r>
              <a:rPr lang="en-US" sz="2800" dirty="0">
                <a:latin typeface="Calibri" panose="020F0502020204030204" pitchFamily="34" charset="0"/>
                <a:cs typeface="Calibri" panose="020F0502020204030204" pitchFamily="34" charset="0"/>
              </a:rPr>
              <a:t> key problems.</a:t>
            </a:r>
          </a:p>
        </p:txBody>
      </p:sp>
    </p:spTree>
    <p:extLst>
      <p:ext uri="{BB962C8B-B14F-4D97-AF65-F5344CB8AC3E}">
        <p14:creationId xmlns:p14="http://schemas.microsoft.com/office/powerpoint/2010/main" val="4269055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2A3A-B6CF-E4F5-5FA3-FE73C37B16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29AE2B-5888-BA21-F229-3D66954C486E}"/>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907B0499-67E8-70E7-227F-26855320DE9B}"/>
              </a:ext>
            </a:extLst>
          </p:cNvPr>
          <p:cNvSpPr txBox="1"/>
          <p:nvPr/>
        </p:nvSpPr>
        <p:spPr>
          <a:xfrm>
            <a:off x="0" y="0"/>
            <a:ext cx="12196916" cy="5842497"/>
          </a:xfrm>
          <a:prstGeom prst="rect">
            <a:avLst/>
          </a:prstGeom>
          <a:noFill/>
        </p:spPr>
        <p:txBody>
          <a:bodyPr wrap="square">
            <a:spAutoFit/>
          </a:bodyPr>
          <a:lstStyle/>
          <a:p>
            <a:pPr>
              <a:lnSpc>
                <a:spcPct val="150000"/>
              </a:lnSpc>
            </a:pPr>
            <a:r>
              <a:rPr lang="en-US" sz="3000" b="1" dirty="0">
                <a:latin typeface="Calibri" panose="020F0502020204030204" pitchFamily="34" charset="0"/>
                <a:cs typeface="Calibri" panose="020F0502020204030204" pitchFamily="34" charset="0"/>
              </a:rPr>
              <a:t>Big View of Week 1</a:t>
            </a:r>
          </a:p>
          <a:p>
            <a:pPr>
              <a:lnSpc>
                <a:spcPct val="150000"/>
              </a:lnSpc>
            </a:pPr>
            <a:r>
              <a:rPr lang="en-US" sz="2800" dirty="0">
                <a:latin typeface="Calibri" panose="020F0502020204030204" pitchFamily="34" charset="0"/>
                <a:cs typeface="Calibri" panose="020F0502020204030204" pitchFamily="34" charset="0"/>
              </a:rPr>
              <a:t>Week 1 introduces the language of AI, NLP, and Generative AI.</a:t>
            </a:r>
          </a:p>
          <a:p>
            <a:pPr>
              <a:lnSpc>
                <a:spcPct val="150000"/>
              </a:lnSpc>
            </a:pPr>
            <a:r>
              <a:rPr lang="en-US" sz="2800" dirty="0">
                <a:latin typeface="Calibri" panose="020F0502020204030204" pitchFamily="34" charset="0"/>
                <a:cs typeface="Calibri" panose="020F0502020204030204" pitchFamily="34" charset="0"/>
              </a:rPr>
              <a:t>You will understand:</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AI, ML, DL, NLP, and Generative AI mean,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how NLP fits inside AI,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a basic NLP pipeline looks like,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why preprocessing is important,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why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is not always simple,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how Week 1 connects to Assessment 1.</a:t>
            </a:r>
          </a:p>
        </p:txBody>
      </p:sp>
    </p:spTree>
    <p:extLst>
      <p:ext uri="{BB962C8B-B14F-4D97-AF65-F5344CB8AC3E}">
        <p14:creationId xmlns:p14="http://schemas.microsoft.com/office/powerpoint/2010/main" val="3733664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5A30-8741-1C88-538B-388B9D24550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F2E214-F8EF-59C9-572C-72DDE22AE3FF}"/>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CE5D1E98-15B3-914A-6750-AB007AEDE3CB}"/>
              </a:ext>
            </a:extLst>
          </p:cNvPr>
          <p:cNvSpPr txBox="1"/>
          <p:nvPr/>
        </p:nvSpPr>
        <p:spPr>
          <a:xfrm>
            <a:off x="0" y="0"/>
            <a:ext cx="12196916" cy="5288499"/>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Week 1 Learning Objectives</a:t>
            </a:r>
          </a:p>
          <a:p>
            <a:pPr>
              <a:lnSpc>
                <a:spcPct val="150000"/>
              </a:lnSpc>
            </a:pPr>
            <a:r>
              <a:rPr lang="en-US" sz="2800" dirty="0">
                <a:latin typeface="Calibri" panose="020F0502020204030204" pitchFamily="34" charset="0"/>
                <a:cs typeface="Calibri" panose="020F0502020204030204" pitchFamily="34" charset="0"/>
              </a:rPr>
              <a:t>By the end of Week 1, you should be able to:</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define NLP in simple words,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define Generative AI in simple words,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explain the NLP pipeline,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identify everyday NLP examples,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run a small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demo, </a:t>
            </a:r>
          </a:p>
          <a:p>
            <a:pPr marL="722313"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explain why raw text needs preprocessing.</a:t>
            </a:r>
          </a:p>
        </p:txBody>
      </p:sp>
    </p:spTree>
    <p:extLst>
      <p:ext uri="{BB962C8B-B14F-4D97-AF65-F5344CB8AC3E}">
        <p14:creationId xmlns:p14="http://schemas.microsoft.com/office/powerpoint/2010/main" val="195259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B5ED-76AE-8062-AF44-BB936749543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F4EDB56-B8E1-33EA-3831-E614C3C6ED3C}"/>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EFC5F0F8-3092-5CCB-910C-41CDC0B801E1}"/>
              </a:ext>
            </a:extLst>
          </p:cNvPr>
          <p:cNvSpPr txBox="1"/>
          <p:nvPr/>
        </p:nvSpPr>
        <p:spPr>
          <a:xfrm>
            <a:off x="0" y="0"/>
            <a:ext cx="12192000" cy="5934830"/>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Concept 1: What Is NLP?</a:t>
            </a:r>
          </a:p>
          <a:p>
            <a:pPr>
              <a:lnSpc>
                <a:spcPct val="150000"/>
              </a:lnSpc>
              <a:buNone/>
            </a:pPr>
            <a:r>
              <a:rPr lang="en-US" sz="2800" b="1" dirty="0">
                <a:latin typeface="Calibri" panose="020F0502020204030204" pitchFamily="34" charset="0"/>
                <a:cs typeface="Calibri" panose="020F0502020204030204" pitchFamily="34" charset="0"/>
              </a:rPr>
              <a:t>Simple meaning:</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NLP means teaching computers to work with human language.</a:t>
            </a:r>
          </a:p>
          <a:p>
            <a:pPr>
              <a:lnSpc>
                <a:spcPct val="150000"/>
              </a:lnSpc>
              <a:buNone/>
            </a:pPr>
            <a:r>
              <a:rPr lang="en-US" sz="2800" dirty="0">
                <a:latin typeface="Calibri" panose="020F0502020204030204" pitchFamily="34" charset="0"/>
                <a:cs typeface="Calibri" panose="020F0502020204030204" pitchFamily="34" charset="0"/>
              </a:rPr>
              <a:t>Examples:</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Google Search understands your query.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Gmail detects spam.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Google Translate translates sentences.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ChatGPT generates text.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Siri or Alexa understands voice commands. </a:t>
            </a:r>
          </a:p>
        </p:txBody>
      </p:sp>
    </p:spTree>
    <p:extLst>
      <p:ext uri="{BB962C8B-B14F-4D97-AF65-F5344CB8AC3E}">
        <p14:creationId xmlns:p14="http://schemas.microsoft.com/office/powerpoint/2010/main" val="4072884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783A6-2A88-12DE-F21A-4247902CCC7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269165-5CA4-A6FB-2A5C-B2D33164C7CF}"/>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7575B378-7E8F-6565-6D5D-7BAA814F97C1}"/>
              </a:ext>
            </a:extLst>
          </p:cNvPr>
          <p:cNvSpPr txBox="1"/>
          <p:nvPr/>
        </p:nvSpPr>
        <p:spPr>
          <a:xfrm>
            <a:off x="0" y="0"/>
            <a:ext cx="12192000" cy="3349507"/>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Is spell check an NLP system?</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Yes. It reads text, detects language patterns, and suggests corrections.</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Is a calculator an NLP system?</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No, not normally. A calculator works with numbers, not human language.</a:t>
            </a:r>
          </a:p>
        </p:txBody>
      </p:sp>
    </p:spTree>
    <p:extLst>
      <p:ext uri="{BB962C8B-B14F-4D97-AF65-F5344CB8AC3E}">
        <p14:creationId xmlns:p14="http://schemas.microsoft.com/office/powerpoint/2010/main" val="133078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1000"/>
                                        <p:tgtEl>
                                          <p:spTgt spid="5">
                                            <p:txEl>
                                              <p:pRg st="4" end="4"/>
                                            </p:txEl>
                                          </p:spTgt>
                                        </p:tgtEl>
                                      </p:cBhvr>
                                    </p:animEffect>
                                    <p:anim calcmode="lin" valueType="num">
                                      <p:cBhvr>
                                        <p:cTn id="1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28D59-77BA-7F15-A682-A438026FD4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29BD762-09D1-3453-9DE5-552BF0CE171D}"/>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D95754F2-CC58-55E2-7CB7-AAE91E6394C5}"/>
              </a:ext>
            </a:extLst>
          </p:cNvPr>
          <p:cNvSpPr txBox="1"/>
          <p:nvPr/>
        </p:nvSpPr>
        <p:spPr>
          <a:xfrm>
            <a:off x="0" y="1"/>
            <a:ext cx="12192000" cy="6581161"/>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Concept 2: What Is Generative AI?</a:t>
            </a:r>
          </a:p>
          <a:p>
            <a:pPr>
              <a:lnSpc>
                <a:spcPct val="150000"/>
              </a:lnSpc>
              <a:buNone/>
            </a:pPr>
            <a:r>
              <a:rPr lang="en-US" sz="2800" b="1" dirty="0">
                <a:latin typeface="Calibri" panose="020F0502020204030204" pitchFamily="34" charset="0"/>
                <a:cs typeface="Calibri" panose="020F0502020204030204" pitchFamily="34" charset="0"/>
              </a:rPr>
              <a:t>Simple meaning:</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Generative AI creates new content.</a:t>
            </a:r>
          </a:p>
          <a:p>
            <a:pPr>
              <a:lnSpc>
                <a:spcPct val="150000"/>
              </a:lnSpc>
              <a:buNone/>
            </a:pPr>
            <a:r>
              <a:rPr lang="en-US" sz="2800" dirty="0">
                <a:latin typeface="Calibri" panose="020F0502020204030204" pitchFamily="34" charset="0"/>
                <a:cs typeface="Calibri" panose="020F0502020204030204" pitchFamily="34" charset="0"/>
              </a:rPr>
              <a:t>It can create:</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text,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code,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images,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summaries,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answers, </a:t>
            </a:r>
          </a:p>
          <a:p>
            <a:pPr marL="7223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chatbot responses. </a:t>
            </a:r>
          </a:p>
        </p:txBody>
      </p:sp>
    </p:spTree>
    <p:extLst>
      <p:ext uri="{BB962C8B-B14F-4D97-AF65-F5344CB8AC3E}">
        <p14:creationId xmlns:p14="http://schemas.microsoft.com/office/powerpoint/2010/main" val="1306115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0298B-FA78-3934-D1D2-91D8E529BE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24353D-F1A2-9B74-C96F-81445C6A8AFE}"/>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5F609493-729F-867A-B71F-854CD35C7DCC}"/>
              </a:ext>
            </a:extLst>
          </p:cNvPr>
          <p:cNvSpPr txBox="1"/>
          <p:nvPr/>
        </p:nvSpPr>
        <p:spPr>
          <a:xfrm>
            <a:off x="0" y="1489588"/>
            <a:ext cx="12192000" cy="3349507"/>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Is ChatGPT an example of Generative AI?</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Yes. It generates new text based on your prompt.</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Is a spam filter Generative AI?</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Not usually. A spam filter normally classifies text instead of creating new text.</a:t>
            </a:r>
          </a:p>
        </p:txBody>
      </p:sp>
    </p:spTree>
    <p:extLst>
      <p:ext uri="{BB962C8B-B14F-4D97-AF65-F5344CB8AC3E}">
        <p14:creationId xmlns:p14="http://schemas.microsoft.com/office/powerpoint/2010/main" val="14353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1000"/>
                                        <p:tgtEl>
                                          <p:spTgt spid="4">
                                            <p:txEl>
                                              <p:pRg st="4" end="4"/>
                                            </p:txEl>
                                          </p:spTgt>
                                        </p:tgtEl>
                                      </p:cBhvr>
                                    </p:animEffect>
                                    <p:anim calcmode="lin" valueType="num">
                                      <p:cBhvr>
                                        <p:cTn id="1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4FBA5-4B69-6109-D4CB-291A8B0090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0F229C2-A71E-EB6B-39D1-9D18F646B510}"/>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96B24660-DB9D-D914-FA40-F88A8F7D64AA}"/>
              </a:ext>
            </a:extLst>
          </p:cNvPr>
          <p:cNvSpPr txBox="1"/>
          <p:nvPr/>
        </p:nvSpPr>
        <p:spPr>
          <a:xfrm>
            <a:off x="0" y="1107916"/>
            <a:ext cx="12196916" cy="4642168"/>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Concept 3: AI, Machine Learning, Deep Learning, NLP</a:t>
            </a:r>
          </a:p>
          <a:p>
            <a:pPr>
              <a:lnSpc>
                <a:spcPct val="150000"/>
              </a:lnSpc>
              <a:buNone/>
            </a:pPr>
            <a:r>
              <a:rPr lang="en-US" sz="2800" dirty="0">
                <a:latin typeface="Calibri" panose="020F0502020204030204" pitchFamily="34" charset="0"/>
                <a:cs typeface="Calibri" panose="020F0502020204030204" pitchFamily="34" charset="0"/>
              </a:rPr>
              <a:t>Simple relationship:</a:t>
            </a:r>
          </a:p>
          <a:p>
            <a:pPr>
              <a:lnSpc>
                <a:spcPct val="150000"/>
              </a:lnSpc>
              <a:buNone/>
            </a:pPr>
            <a:r>
              <a:rPr lang="en-US" sz="2800" dirty="0">
                <a:latin typeface="Calibri" panose="020F0502020204030204" pitchFamily="34" charset="0"/>
                <a:cs typeface="Calibri" panose="020F0502020204030204" pitchFamily="34" charset="0"/>
              </a:rPr>
              <a:t>AI is the big field.</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Machine Learning is one part of AI.</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Deep Learning is one part of Machine Learning.</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NLP is focused on language.</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Generative AI can use NLP to generate language.</a:t>
            </a:r>
          </a:p>
        </p:txBody>
      </p:sp>
    </p:spTree>
    <p:extLst>
      <p:ext uri="{BB962C8B-B14F-4D97-AF65-F5344CB8AC3E}">
        <p14:creationId xmlns:p14="http://schemas.microsoft.com/office/powerpoint/2010/main" val="1200414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E61E4-75DA-7D16-5763-FFEF042E935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A245770-5536-E37A-CA1B-637868796564}"/>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6A93E973-3F88-BA38-EB3B-08A9A5BA1C8C}"/>
              </a:ext>
            </a:extLst>
          </p:cNvPr>
          <p:cNvSpPr txBox="1"/>
          <p:nvPr/>
        </p:nvSpPr>
        <p:spPr>
          <a:xfrm>
            <a:off x="0" y="1107916"/>
            <a:ext cx="12196916" cy="3349507"/>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Where does NLP fit?</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NLP is an AI area that focuses on language.</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Does every NLP system use deep learning?</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No. Some NLP systems use simple rules or classical machine learning.</a:t>
            </a:r>
          </a:p>
        </p:txBody>
      </p:sp>
    </p:spTree>
    <p:extLst>
      <p:ext uri="{BB962C8B-B14F-4D97-AF65-F5344CB8AC3E}">
        <p14:creationId xmlns:p14="http://schemas.microsoft.com/office/powerpoint/2010/main" val="2063335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1000"/>
                                        <p:tgtEl>
                                          <p:spTgt spid="5">
                                            <p:txEl>
                                              <p:pRg st="4" end="4"/>
                                            </p:txEl>
                                          </p:spTgt>
                                        </p:tgtEl>
                                      </p:cBhvr>
                                    </p:animEffect>
                                    <p:anim calcmode="lin" valueType="num">
                                      <p:cBhvr>
                                        <p:cTn id="1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5B2C1-B6C7-4FC9-7F03-5881F524470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7D2EA9C-3845-E2D4-0472-361FEF7035A4}"/>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7A7F956F-180F-541A-C27A-759D15C35668}"/>
              </a:ext>
            </a:extLst>
          </p:cNvPr>
          <p:cNvSpPr txBox="1"/>
          <p:nvPr/>
        </p:nvSpPr>
        <p:spPr>
          <a:xfrm>
            <a:off x="0" y="0"/>
            <a:ext cx="12196916" cy="5934830"/>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Concept 4: The NLP Pipeline</a:t>
            </a:r>
          </a:p>
          <a:p>
            <a:pPr>
              <a:lnSpc>
                <a:spcPct val="150000"/>
              </a:lnSpc>
              <a:buNone/>
            </a:pPr>
            <a:r>
              <a:rPr lang="en-US" sz="2800" dirty="0">
                <a:latin typeface="Calibri" panose="020F0502020204030204" pitchFamily="34" charset="0"/>
                <a:cs typeface="Calibri" panose="020F0502020204030204" pitchFamily="34" charset="0"/>
              </a:rPr>
              <a:t>A common NLP pipeline is:</a:t>
            </a:r>
          </a:p>
          <a:p>
            <a:pPr>
              <a:lnSpc>
                <a:spcPct val="150000"/>
              </a:lnSpc>
              <a:buNone/>
            </a:pPr>
            <a:r>
              <a:rPr lang="en-US" sz="2800" dirty="0">
                <a:latin typeface="Calibri" panose="020F0502020204030204" pitchFamily="34" charset="0"/>
                <a:cs typeface="Calibri" panose="020F0502020204030204" pitchFamily="34" charset="0"/>
              </a:rPr>
              <a:t>Ingest → Preprocess → Represent → Model → Evaluate</a:t>
            </a:r>
          </a:p>
          <a:p>
            <a:pPr>
              <a:lnSpc>
                <a:spcPct val="150000"/>
              </a:lnSpc>
              <a:buNone/>
            </a:pPr>
            <a:r>
              <a:rPr lang="en-US" sz="2800" dirty="0">
                <a:latin typeface="Calibri" panose="020F0502020204030204" pitchFamily="34" charset="0"/>
                <a:cs typeface="Calibri" panose="020F0502020204030204" pitchFamily="34" charset="0"/>
              </a:rPr>
              <a:t>Simple meaning:</a:t>
            </a:r>
          </a:p>
          <a:p>
            <a:pPr marL="811213" lvl="0" indent="-514350">
              <a:lnSpc>
                <a:spcPct val="150000"/>
              </a:lnSpc>
              <a:buFont typeface="+mj-lt"/>
              <a:buAutoNum type="arabicPeriod"/>
            </a:pPr>
            <a:r>
              <a:rPr lang="en-US" sz="2800" b="1" dirty="0">
                <a:latin typeface="Calibri" panose="020F0502020204030204" pitchFamily="34" charset="0"/>
                <a:cs typeface="Calibri" panose="020F0502020204030204" pitchFamily="34" charset="0"/>
              </a:rPr>
              <a:t>Ingest:</a:t>
            </a:r>
            <a:r>
              <a:rPr lang="en-US" sz="2800" dirty="0">
                <a:latin typeface="Calibri" panose="020F0502020204030204" pitchFamily="34" charset="0"/>
                <a:cs typeface="Calibri" panose="020F0502020204030204" pitchFamily="34" charset="0"/>
              </a:rPr>
              <a:t> collect text. </a:t>
            </a:r>
          </a:p>
          <a:p>
            <a:pPr marL="811213" lvl="0" indent="-514350">
              <a:lnSpc>
                <a:spcPct val="150000"/>
              </a:lnSpc>
              <a:buFont typeface="+mj-lt"/>
              <a:buAutoNum type="arabicPeriod"/>
            </a:pPr>
            <a:r>
              <a:rPr lang="en-US" sz="2800" b="1" dirty="0">
                <a:latin typeface="Calibri" panose="020F0502020204030204" pitchFamily="34" charset="0"/>
                <a:cs typeface="Calibri" panose="020F0502020204030204" pitchFamily="34" charset="0"/>
              </a:rPr>
              <a:t>Preprocess:</a:t>
            </a:r>
            <a:r>
              <a:rPr lang="en-US" sz="2800" dirty="0">
                <a:latin typeface="Calibri" panose="020F0502020204030204" pitchFamily="34" charset="0"/>
                <a:cs typeface="Calibri" panose="020F0502020204030204" pitchFamily="34" charset="0"/>
              </a:rPr>
              <a:t> clean and prepare text. </a:t>
            </a:r>
          </a:p>
          <a:p>
            <a:pPr marL="811213" lvl="0" indent="-514350">
              <a:lnSpc>
                <a:spcPct val="150000"/>
              </a:lnSpc>
              <a:buFont typeface="+mj-lt"/>
              <a:buAutoNum type="arabicPeriod"/>
            </a:pPr>
            <a:r>
              <a:rPr lang="en-US" sz="2800" b="1" dirty="0">
                <a:latin typeface="Calibri" panose="020F0502020204030204" pitchFamily="34" charset="0"/>
                <a:cs typeface="Calibri" panose="020F0502020204030204" pitchFamily="34" charset="0"/>
              </a:rPr>
              <a:t>Represent:</a:t>
            </a:r>
            <a:r>
              <a:rPr lang="en-US" sz="2800" dirty="0">
                <a:latin typeface="Calibri" panose="020F0502020204030204" pitchFamily="34" charset="0"/>
                <a:cs typeface="Calibri" panose="020F0502020204030204" pitchFamily="34" charset="0"/>
              </a:rPr>
              <a:t> turn text into numbers/features. </a:t>
            </a:r>
          </a:p>
          <a:p>
            <a:pPr marL="811213" lvl="0" indent="-514350">
              <a:lnSpc>
                <a:spcPct val="150000"/>
              </a:lnSpc>
              <a:buFont typeface="+mj-lt"/>
              <a:buAutoNum type="arabicPeriod"/>
            </a:pPr>
            <a:r>
              <a:rPr lang="en-US" sz="2800" b="1" dirty="0">
                <a:latin typeface="Calibri" panose="020F0502020204030204" pitchFamily="34" charset="0"/>
                <a:cs typeface="Calibri" panose="020F0502020204030204" pitchFamily="34" charset="0"/>
              </a:rPr>
              <a:t>Model:</a:t>
            </a:r>
            <a:r>
              <a:rPr lang="en-US" sz="2800" dirty="0">
                <a:latin typeface="Calibri" panose="020F0502020204030204" pitchFamily="34" charset="0"/>
                <a:cs typeface="Calibri" panose="020F0502020204030204" pitchFamily="34" charset="0"/>
              </a:rPr>
              <a:t> train or use an algorithm. </a:t>
            </a:r>
          </a:p>
          <a:p>
            <a:pPr marL="811213" lvl="0" indent="-514350">
              <a:lnSpc>
                <a:spcPct val="150000"/>
              </a:lnSpc>
              <a:buFont typeface="+mj-lt"/>
              <a:buAutoNum type="arabicPeriod"/>
            </a:pPr>
            <a:r>
              <a:rPr lang="en-US" sz="2800" b="1" dirty="0">
                <a:latin typeface="Calibri" panose="020F0502020204030204" pitchFamily="34" charset="0"/>
                <a:cs typeface="Calibri" panose="020F0502020204030204" pitchFamily="34" charset="0"/>
              </a:rPr>
              <a:t>Evaluate:</a:t>
            </a:r>
            <a:r>
              <a:rPr lang="en-US" sz="2800" dirty="0">
                <a:latin typeface="Calibri" panose="020F0502020204030204" pitchFamily="34" charset="0"/>
                <a:cs typeface="Calibri" panose="020F0502020204030204" pitchFamily="34" charset="0"/>
              </a:rPr>
              <a:t> check how well it works. </a:t>
            </a:r>
          </a:p>
        </p:txBody>
      </p:sp>
    </p:spTree>
    <p:extLst>
      <p:ext uri="{BB962C8B-B14F-4D97-AF65-F5344CB8AC3E}">
        <p14:creationId xmlns:p14="http://schemas.microsoft.com/office/powerpoint/2010/main" val="2731548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D97D5-4B15-A76D-7310-C159FA478BE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84B8C6-A4D3-C1DE-B372-0D8E33CED3E0}"/>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91C31583-9F5D-0596-744F-497261550E78}"/>
              </a:ext>
            </a:extLst>
          </p:cNvPr>
          <p:cNvSpPr txBox="1"/>
          <p:nvPr/>
        </p:nvSpPr>
        <p:spPr>
          <a:xfrm>
            <a:off x="-4916" y="2400577"/>
            <a:ext cx="12196916" cy="2056845"/>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Which part is most connected to Assessment 1?</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Preprocess. Assessment 1 is about preparing raw text for later modelling.</a:t>
            </a:r>
          </a:p>
        </p:txBody>
      </p:sp>
    </p:spTree>
    <p:extLst>
      <p:ext uri="{BB962C8B-B14F-4D97-AF65-F5344CB8AC3E}">
        <p14:creationId xmlns:p14="http://schemas.microsoft.com/office/powerpoint/2010/main" val="3130407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3606-5940-9996-D32D-BBCBD23B644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DD75367-E013-C63F-3A8B-C40905243B4A}"/>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44050848-1BCF-98F1-3196-52DEA6020C1A}"/>
              </a:ext>
            </a:extLst>
          </p:cNvPr>
          <p:cNvSpPr txBox="1"/>
          <p:nvPr/>
        </p:nvSpPr>
        <p:spPr>
          <a:xfrm>
            <a:off x="0" y="1"/>
            <a:ext cx="12196916" cy="6872522"/>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Concept 5: Why Text Preprocessing Matters</a:t>
            </a:r>
          </a:p>
          <a:p>
            <a:pPr>
              <a:lnSpc>
                <a:spcPct val="150000"/>
              </a:lnSpc>
              <a:buNone/>
            </a:pPr>
            <a:r>
              <a:rPr lang="en-US" sz="2200" dirty="0">
                <a:latin typeface="Calibri" panose="020F0502020204030204" pitchFamily="34" charset="0"/>
                <a:cs typeface="Calibri" panose="020F0502020204030204" pitchFamily="34" charset="0"/>
              </a:rPr>
              <a:t>Raw text is messy.</a:t>
            </a:r>
          </a:p>
          <a:p>
            <a:pPr>
              <a:lnSpc>
                <a:spcPct val="150000"/>
              </a:lnSpc>
              <a:buNone/>
            </a:pPr>
            <a:r>
              <a:rPr lang="en-US" sz="2200" dirty="0">
                <a:latin typeface="Calibri" panose="020F0502020204030204" pitchFamily="34" charset="0"/>
                <a:cs typeface="Calibri" panose="020F0502020204030204" pitchFamily="34" charset="0"/>
              </a:rPr>
              <a:t>Example raw text:</a:t>
            </a:r>
          </a:p>
          <a:p>
            <a:pPr>
              <a:lnSpc>
                <a:spcPct val="150000"/>
              </a:lnSpc>
              <a:buNone/>
            </a:pPr>
            <a:r>
              <a:rPr lang="en-US" sz="2200" dirty="0">
                <a:latin typeface="Calibri" panose="020F0502020204030204" pitchFamily="34" charset="0"/>
                <a:cs typeface="Calibri" panose="020F0502020204030204" pitchFamily="34" charset="0"/>
              </a:rPr>
              <a:t>“I LOVE this app!!! 😊 Visit https://app.com”</a:t>
            </a:r>
          </a:p>
          <a:p>
            <a:pPr>
              <a:lnSpc>
                <a:spcPct val="150000"/>
              </a:lnSpc>
              <a:buNone/>
            </a:pPr>
            <a:r>
              <a:rPr lang="en-US" sz="2200" dirty="0">
                <a:latin typeface="Calibri" panose="020F0502020204030204" pitchFamily="34" charset="0"/>
                <a:cs typeface="Calibri" panose="020F0502020204030204" pitchFamily="34" charset="0"/>
              </a:rPr>
              <a:t>A computer needs clear rules for:</a:t>
            </a:r>
          </a:p>
          <a:p>
            <a:pPr marL="342900"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lowercase or not, </a:t>
            </a:r>
          </a:p>
          <a:p>
            <a:pPr marL="342900"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punctuation, </a:t>
            </a:r>
          </a:p>
          <a:p>
            <a:pPr marL="342900"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emojis, </a:t>
            </a:r>
          </a:p>
          <a:p>
            <a:pPr marL="342900"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URLs, </a:t>
            </a:r>
          </a:p>
          <a:p>
            <a:pPr marL="342900"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contractions, </a:t>
            </a:r>
          </a:p>
          <a:p>
            <a:pPr marL="342900" lvl="0" indent="-342900">
              <a:lnSpc>
                <a:spcPct val="150000"/>
              </a:lnSpc>
              <a:buFont typeface="Arial" panose="020B0604020202020204" pitchFamily="34" charset="0"/>
              <a:buChar char="•"/>
            </a:pPr>
            <a:r>
              <a:rPr lang="en-US" sz="2200" dirty="0" err="1">
                <a:latin typeface="Calibri" panose="020F0502020204030204" pitchFamily="34" charset="0"/>
                <a:cs typeface="Calibri" panose="020F0502020204030204" pitchFamily="34" charset="0"/>
              </a:rPr>
              <a:t>stopwords</a:t>
            </a:r>
            <a:r>
              <a:rPr lang="en-US" sz="2200" dirty="0">
                <a:latin typeface="Calibri" panose="020F0502020204030204" pitchFamily="34" charset="0"/>
                <a:cs typeface="Calibri" panose="020F0502020204030204" pitchFamily="34" charset="0"/>
              </a:rPr>
              <a:t>, </a:t>
            </a:r>
          </a:p>
          <a:p>
            <a:pPr marL="342900"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spelling, </a:t>
            </a:r>
          </a:p>
          <a:p>
            <a:pPr marL="342900"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repeated words. </a:t>
            </a:r>
          </a:p>
        </p:txBody>
      </p:sp>
    </p:spTree>
    <p:extLst>
      <p:ext uri="{BB962C8B-B14F-4D97-AF65-F5344CB8AC3E}">
        <p14:creationId xmlns:p14="http://schemas.microsoft.com/office/powerpoint/2010/main" val="2741523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24C78-AE20-5757-E6B3-A2E9C305E0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46DD0F-DD94-81FF-6E19-01703971C57D}"/>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A6AF4940-7F2B-E028-50B6-022DDCA13C7D}"/>
              </a:ext>
            </a:extLst>
          </p:cNvPr>
          <p:cNvSpPr txBox="1"/>
          <p:nvPr/>
        </p:nvSpPr>
        <p:spPr>
          <a:xfrm>
            <a:off x="0" y="1"/>
            <a:ext cx="12196916" cy="2703176"/>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Should we always remove emojis?</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No. If we </a:t>
            </a:r>
            <a:r>
              <a:rPr lang="en-US" sz="2800" dirty="0" err="1">
                <a:latin typeface="Calibri" panose="020F0502020204030204" pitchFamily="34" charset="0"/>
                <a:cs typeface="Calibri" panose="020F0502020204030204" pitchFamily="34" charset="0"/>
              </a:rPr>
              <a:t>analyse</a:t>
            </a:r>
            <a:r>
              <a:rPr lang="en-US" sz="2800" dirty="0">
                <a:latin typeface="Calibri" panose="020F0502020204030204" pitchFamily="34" charset="0"/>
                <a:cs typeface="Calibri" panose="020F0502020204030204" pitchFamily="34" charset="0"/>
              </a:rPr>
              <a:t> sentiment, emojis may be useful. If we </a:t>
            </a:r>
            <a:r>
              <a:rPr lang="en-US" sz="2800" dirty="0" err="1">
                <a:latin typeface="Calibri" panose="020F0502020204030204" pitchFamily="34" charset="0"/>
                <a:cs typeface="Calibri" panose="020F0502020204030204" pitchFamily="34" charset="0"/>
              </a:rPr>
              <a:t>analyse</a:t>
            </a:r>
            <a:r>
              <a:rPr lang="en-US" sz="2800" dirty="0">
                <a:latin typeface="Calibri" panose="020F0502020204030204" pitchFamily="34" charset="0"/>
                <a:cs typeface="Calibri" panose="020F0502020204030204" pitchFamily="34" charset="0"/>
              </a:rPr>
              <a:t> formal reports, emojis may not matter.</a:t>
            </a:r>
          </a:p>
        </p:txBody>
      </p:sp>
    </p:spTree>
    <p:extLst>
      <p:ext uri="{BB962C8B-B14F-4D97-AF65-F5344CB8AC3E}">
        <p14:creationId xmlns:p14="http://schemas.microsoft.com/office/powerpoint/2010/main" val="309753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AB8F5-EA9A-E362-FCBD-85A2DE8EEF1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3FC358-94B5-DBEC-B53E-42E8B1AC28B3}"/>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093A39F9-4831-4EAD-838A-88F43D98F65E}"/>
              </a:ext>
            </a:extLst>
          </p:cNvPr>
          <p:cNvSpPr txBox="1"/>
          <p:nvPr/>
        </p:nvSpPr>
        <p:spPr>
          <a:xfrm>
            <a:off x="0" y="0"/>
            <a:ext cx="12196916" cy="6581161"/>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Concept 6: </a:t>
            </a:r>
            <a:r>
              <a:rPr lang="en-US" sz="3200" b="1" dirty="0" err="1">
                <a:latin typeface="Calibri" panose="020F0502020204030204" pitchFamily="34" charset="0"/>
                <a:cs typeface="Calibri" panose="020F0502020204030204" pitchFamily="34" charset="0"/>
              </a:rPr>
              <a:t>Tokenisation</a:t>
            </a:r>
            <a:endParaRPr lang="en-US" sz="3200" b="1" dirty="0">
              <a:latin typeface="Calibri" panose="020F0502020204030204" pitchFamily="34" charset="0"/>
              <a:cs typeface="Calibri" panose="020F0502020204030204" pitchFamily="34" charset="0"/>
            </a:endParaRPr>
          </a:p>
          <a:p>
            <a:pPr>
              <a:lnSpc>
                <a:spcPct val="150000"/>
              </a:lnSpc>
              <a:buNone/>
            </a:pP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means splitting text into smaller pieces.</a:t>
            </a:r>
          </a:p>
          <a:p>
            <a:pPr>
              <a:lnSpc>
                <a:spcPct val="150000"/>
              </a:lnSpc>
              <a:buNone/>
            </a:pPr>
            <a:r>
              <a:rPr lang="en-US" sz="2800" dirty="0">
                <a:latin typeface="Calibri" panose="020F0502020204030204" pitchFamily="34" charset="0"/>
                <a:cs typeface="Calibri" panose="020F0502020204030204" pitchFamily="34" charset="0"/>
              </a:rPr>
              <a:t>Example:</a:t>
            </a:r>
          </a:p>
          <a:p>
            <a:pPr>
              <a:lnSpc>
                <a:spcPct val="150000"/>
              </a:lnSpc>
              <a:buNone/>
            </a:pPr>
            <a:r>
              <a:rPr lang="en-US" sz="2800" dirty="0">
                <a:latin typeface="Calibri" panose="020F0502020204030204" pitchFamily="34" charset="0"/>
                <a:cs typeface="Calibri" panose="020F0502020204030204" pitchFamily="34" charset="0"/>
              </a:rPr>
              <a:t>“It’s amazing!”</a:t>
            </a:r>
          </a:p>
          <a:p>
            <a:pPr>
              <a:lnSpc>
                <a:spcPct val="150000"/>
              </a:lnSpc>
              <a:buNone/>
            </a:pPr>
            <a:r>
              <a:rPr lang="en-US" sz="2800" dirty="0">
                <a:latin typeface="Calibri" panose="020F0502020204030204" pitchFamily="34" charset="0"/>
                <a:cs typeface="Calibri" panose="020F0502020204030204" pitchFamily="34" charset="0"/>
              </a:rPr>
              <a:t>Possible tokens:</a:t>
            </a:r>
          </a:p>
          <a:p>
            <a:pPr>
              <a:lnSpc>
                <a:spcPct val="150000"/>
              </a:lnSpc>
              <a:buNone/>
            </a:pPr>
            <a:r>
              <a:rPr lang="en-US" sz="2800" dirty="0">
                <a:latin typeface="Calibri" panose="020F0502020204030204" pitchFamily="34" charset="0"/>
                <a:cs typeface="Calibri" panose="020F0502020204030204" pitchFamily="34" charset="0"/>
              </a:rPr>
              <a:t>“It”, “’s”, “amazing”, “!”</a:t>
            </a:r>
          </a:p>
          <a:p>
            <a:pPr>
              <a:lnSpc>
                <a:spcPct val="150000"/>
              </a:lnSpc>
              <a:buNone/>
            </a:pPr>
            <a:r>
              <a:rPr lang="en-US" sz="28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is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not always easy?</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Because URLs, emojis, hyphenated words, contractions, and languages without spaces can be difficult to split correctly.</a:t>
            </a:r>
          </a:p>
        </p:txBody>
      </p:sp>
    </p:spTree>
    <p:extLst>
      <p:ext uri="{BB962C8B-B14F-4D97-AF65-F5344CB8AC3E}">
        <p14:creationId xmlns:p14="http://schemas.microsoft.com/office/powerpoint/2010/main" val="43161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1000"/>
                                        <p:tgtEl>
                                          <p:spTgt spid="4">
                                            <p:txEl>
                                              <p:pRg st="8" end="8"/>
                                            </p:txEl>
                                          </p:spTgt>
                                        </p:tgtEl>
                                      </p:cBhvr>
                                    </p:animEffect>
                                    <p:anim calcmode="lin" valueType="num">
                                      <p:cBhvr>
                                        <p:cTn id="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7A6AD-3A2D-68CE-C366-F1F1EABF422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E23D85-0D9F-3B01-9321-9B2C87E8B79D}"/>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72F831EB-F20B-672C-BE19-DFBCB55AEF27}"/>
              </a:ext>
            </a:extLst>
          </p:cNvPr>
          <p:cNvSpPr txBox="1"/>
          <p:nvPr/>
        </p:nvSpPr>
        <p:spPr>
          <a:xfrm>
            <a:off x="0" y="1"/>
            <a:ext cx="12196916" cy="5288499"/>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Concept 7: Corpus, Tokens, and Vocabulary</a:t>
            </a:r>
          </a:p>
          <a:p>
            <a:pPr>
              <a:lnSpc>
                <a:spcPct val="150000"/>
              </a:lnSpc>
              <a:buNone/>
            </a:pPr>
            <a:r>
              <a:rPr lang="en-US" sz="2800" dirty="0">
                <a:latin typeface="Calibri" panose="020F0502020204030204" pitchFamily="34" charset="0"/>
                <a:cs typeface="Calibri" panose="020F0502020204030204" pitchFamily="34" charset="0"/>
              </a:rPr>
              <a:t>A corpus is a collection of texts.</a:t>
            </a:r>
          </a:p>
          <a:p>
            <a:pPr>
              <a:lnSpc>
                <a:spcPct val="150000"/>
              </a:lnSpc>
              <a:buNone/>
            </a:pPr>
            <a:r>
              <a:rPr lang="en-US" sz="2800" dirty="0">
                <a:latin typeface="Calibri" panose="020F0502020204030204" pitchFamily="34" charset="0"/>
                <a:cs typeface="Calibri" panose="020F0502020204030204" pitchFamily="34" charset="0"/>
              </a:rPr>
              <a:t>A token is one item after splitting text.</a:t>
            </a:r>
          </a:p>
          <a:p>
            <a:pPr>
              <a:lnSpc>
                <a:spcPct val="150000"/>
              </a:lnSpc>
              <a:buNone/>
            </a:pPr>
            <a:r>
              <a:rPr lang="en-US" sz="2800" dirty="0">
                <a:latin typeface="Calibri" panose="020F0502020204030204" pitchFamily="34" charset="0"/>
                <a:cs typeface="Calibri" panose="020F0502020204030204" pitchFamily="34" charset="0"/>
              </a:rPr>
              <a:t>A vocabulary is the list of unique tokens.</a:t>
            </a:r>
          </a:p>
          <a:p>
            <a:pPr>
              <a:lnSpc>
                <a:spcPct val="150000"/>
              </a:lnSpc>
              <a:buNone/>
            </a:pPr>
            <a:r>
              <a:rPr lang="en-US" sz="2800" dirty="0">
                <a:latin typeface="Calibri" panose="020F0502020204030204" pitchFamily="34" charset="0"/>
                <a:cs typeface="Calibri" panose="020F0502020204030204" pitchFamily="34" charset="0"/>
              </a:rPr>
              <a:t>Example:</a:t>
            </a:r>
          </a:p>
          <a:p>
            <a:pPr>
              <a:lnSpc>
                <a:spcPct val="150000"/>
              </a:lnSpc>
              <a:buNone/>
            </a:pPr>
            <a:r>
              <a:rPr lang="en-US" sz="2800" dirty="0">
                <a:latin typeface="Calibri" panose="020F0502020204030204" pitchFamily="34" charset="0"/>
                <a:cs typeface="Calibri" panose="020F0502020204030204" pitchFamily="34" charset="0"/>
              </a:rPr>
              <a:t>Text: “The dog chased the cat.”</a:t>
            </a:r>
          </a:p>
          <a:p>
            <a:pPr>
              <a:lnSpc>
                <a:spcPct val="150000"/>
              </a:lnSpc>
              <a:buNone/>
            </a:pPr>
            <a:r>
              <a:rPr lang="en-US" sz="2800" dirty="0">
                <a:latin typeface="Calibri" panose="020F0502020204030204" pitchFamily="34" charset="0"/>
                <a:cs typeface="Calibri" panose="020F0502020204030204" pitchFamily="34" charset="0"/>
              </a:rPr>
              <a:t>Tokens: The, dog, chased, the, cat</a:t>
            </a:r>
          </a:p>
          <a:p>
            <a:pPr>
              <a:lnSpc>
                <a:spcPct val="150000"/>
              </a:lnSpc>
              <a:buNone/>
            </a:pPr>
            <a:r>
              <a:rPr lang="en-US" sz="2800" dirty="0">
                <a:latin typeface="Calibri" panose="020F0502020204030204" pitchFamily="34" charset="0"/>
                <a:cs typeface="Calibri" panose="020F0502020204030204" pitchFamily="34" charset="0"/>
              </a:rPr>
              <a:t>Vocabulary: The, dog, chased, cat</a:t>
            </a:r>
          </a:p>
        </p:txBody>
      </p:sp>
    </p:spTree>
    <p:extLst>
      <p:ext uri="{BB962C8B-B14F-4D97-AF65-F5344CB8AC3E}">
        <p14:creationId xmlns:p14="http://schemas.microsoft.com/office/powerpoint/2010/main" val="1241794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E744-F481-3327-94E7-978D2CD975B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8B6818A-E56D-14CB-619F-FA0CC178310D}"/>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4B6859FC-35AB-FA5D-EDB0-F4A4641E49B7}"/>
              </a:ext>
            </a:extLst>
          </p:cNvPr>
          <p:cNvSpPr txBox="1"/>
          <p:nvPr/>
        </p:nvSpPr>
        <p:spPr>
          <a:xfrm>
            <a:off x="0" y="1"/>
            <a:ext cx="12196916" cy="3349507"/>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Discussion Question</a:t>
            </a:r>
          </a:p>
          <a:p>
            <a:pPr>
              <a:lnSpc>
                <a:spcPct val="150000"/>
              </a:lnSpc>
              <a:buNone/>
            </a:pPr>
            <a:r>
              <a:rPr lang="en-US" sz="2800" dirty="0">
                <a:latin typeface="Calibri" panose="020F0502020204030204" pitchFamily="34" charset="0"/>
                <a:cs typeface="Calibri" panose="020F0502020204030204" pitchFamily="34" charset="0"/>
              </a:rPr>
              <a:t>Q: How many tokens are there?</a:t>
            </a:r>
          </a:p>
          <a:p>
            <a:pPr>
              <a:lnSpc>
                <a:spcPct val="150000"/>
              </a:lnSpc>
              <a:buNone/>
            </a:pPr>
            <a:r>
              <a:rPr lang="en-US" sz="2800" dirty="0">
                <a:latin typeface="Calibri" panose="020F0502020204030204" pitchFamily="34" charset="0"/>
                <a:cs typeface="Calibri" panose="020F0502020204030204" pitchFamily="34" charset="0"/>
              </a:rPr>
              <a:t>A: 5.</a:t>
            </a:r>
          </a:p>
          <a:p>
            <a:pPr>
              <a:lnSpc>
                <a:spcPct val="150000"/>
              </a:lnSpc>
              <a:buNone/>
            </a:pPr>
            <a:r>
              <a:rPr lang="en-US" sz="2800" dirty="0">
                <a:latin typeface="Calibri" panose="020F0502020204030204" pitchFamily="34" charset="0"/>
                <a:cs typeface="Calibri" panose="020F0502020204030204" pitchFamily="34" charset="0"/>
              </a:rPr>
              <a:t>Q: How many unique vocabulary items are there?</a:t>
            </a:r>
          </a:p>
          <a:p>
            <a:pPr>
              <a:lnSpc>
                <a:spcPct val="150000"/>
              </a:lnSpc>
              <a:buNone/>
            </a:pPr>
            <a:r>
              <a:rPr lang="en-US" sz="2800" dirty="0">
                <a:latin typeface="Calibri" panose="020F0502020204030204" pitchFamily="34" charset="0"/>
                <a:cs typeface="Calibri" panose="020F0502020204030204" pitchFamily="34" charset="0"/>
              </a:rPr>
              <a:t>A: 4, if “The” and “the” are treated as the same after lowercasing.</a:t>
            </a:r>
          </a:p>
        </p:txBody>
      </p:sp>
    </p:spTree>
    <p:extLst>
      <p:ext uri="{BB962C8B-B14F-4D97-AF65-F5344CB8AC3E}">
        <p14:creationId xmlns:p14="http://schemas.microsoft.com/office/powerpoint/2010/main" val="266413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1000"/>
                                        <p:tgtEl>
                                          <p:spTgt spid="5">
                                            <p:txEl>
                                              <p:pRg st="4" end="4"/>
                                            </p:txEl>
                                          </p:spTgt>
                                        </p:tgtEl>
                                      </p:cBhvr>
                                    </p:animEffect>
                                    <p:anim calcmode="lin" valueType="num">
                                      <p:cBhvr>
                                        <p:cTn id="1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3F423-8F46-851F-E3A5-1FAD0920B6A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3446D6C-5B67-DF30-A942-2C89D065BEDD}"/>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
        <p:nvSpPr>
          <p:cNvPr id="5" name="TextBox 4">
            <a:extLst>
              <a:ext uri="{FF2B5EF4-FFF2-40B4-BE49-F238E27FC236}">
                <a16:creationId xmlns:a16="http://schemas.microsoft.com/office/drawing/2014/main" id="{902B6A24-4936-A694-925A-B6C8E8D8009C}"/>
              </a:ext>
            </a:extLst>
          </p:cNvPr>
          <p:cNvSpPr txBox="1"/>
          <p:nvPr/>
        </p:nvSpPr>
        <p:spPr>
          <a:xfrm>
            <a:off x="0" y="572879"/>
            <a:ext cx="12064180" cy="5842497"/>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Goal:</a:t>
            </a:r>
            <a:r>
              <a:rPr lang="en-US" sz="2800" dirty="0">
                <a:latin typeface="Calibri" panose="020F0502020204030204" pitchFamily="34" charset="0"/>
                <a:cs typeface="Calibri" panose="020F0502020204030204" pitchFamily="34" charset="0"/>
              </a:rPr>
              <a:t> Create a simple Telegram bot that receives human text and sends a response. Then discuss what would need to change for the bot to actually use NLP or Generative AI.</a:t>
            </a:r>
          </a:p>
          <a:p>
            <a:pPr>
              <a:lnSpc>
                <a:spcPct val="150000"/>
              </a:lnSpc>
              <a:buNone/>
            </a:pPr>
            <a:r>
              <a:rPr lang="en-US" sz="2800" dirty="0">
                <a:latin typeface="Calibri" panose="020F0502020204030204" pitchFamily="34" charset="0"/>
                <a:cs typeface="Calibri" panose="020F0502020204030204" pitchFamily="34" charset="0"/>
              </a:rPr>
              <a:t>After you run the code, answer these questions:</a:t>
            </a:r>
          </a:p>
          <a:p>
            <a:pPr>
              <a:lnSpc>
                <a:spcPct val="150000"/>
              </a:lnSpc>
              <a:buNone/>
            </a:pPr>
            <a:r>
              <a:rPr lang="en-US" sz="2800" b="1" dirty="0">
                <a:latin typeface="Calibri" panose="020F0502020204030204" pitchFamily="34" charset="0"/>
                <a:cs typeface="Calibri" panose="020F0502020204030204" pitchFamily="34" charset="0"/>
              </a:rPr>
              <a:t>Question 1:</a:t>
            </a:r>
            <a:r>
              <a:rPr lang="en-US" sz="2800" dirty="0">
                <a:latin typeface="Calibri" panose="020F0502020204030204" pitchFamily="34" charset="0"/>
                <a:cs typeface="Calibri" panose="020F0502020204030204" pitchFamily="34" charset="0"/>
              </a:rPr>
              <a:t> What happens when you type Hello?</a:t>
            </a:r>
          </a:p>
          <a:p>
            <a:pPr>
              <a:lnSpc>
                <a:spcPct val="150000"/>
              </a:lnSpc>
              <a:buNone/>
            </a:pPr>
            <a:r>
              <a:rPr lang="en-US" sz="2800" b="1" dirty="0">
                <a:latin typeface="Calibri" panose="020F0502020204030204" pitchFamily="34" charset="0"/>
                <a:cs typeface="Calibri" panose="020F0502020204030204" pitchFamily="34" charset="0"/>
              </a:rPr>
              <a:t>Question 2:</a:t>
            </a:r>
            <a:r>
              <a:rPr lang="en-US" sz="2800" dirty="0">
                <a:latin typeface="Calibri" panose="020F0502020204030204" pitchFamily="34" charset="0"/>
                <a:cs typeface="Calibri" panose="020F0502020204030204" pitchFamily="34" charset="0"/>
              </a:rPr>
              <a:t> Does this bot understand what “Hello” means?</a:t>
            </a:r>
          </a:p>
          <a:p>
            <a:pPr>
              <a:lnSpc>
                <a:spcPct val="150000"/>
              </a:lnSpc>
              <a:buNone/>
            </a:pPr>
            <a:r>
              <a:rPr lang="en-US" sz="2800" b="1" dirty="0">
                <a:latin typeface="Calibri" panose="020F0502020204030204" pitchFamily="34" charset="0"/>
                <a:cs typeface="Calibri" panose="020F0502020204030204" pitchFamily="34" charset="0"/>
              </a:rPr>
              <a:t>Question 3:</a:t>
            </a:r>
            <a:r>
              <a:rPr lang="en-US" sz="2800" dirty="0">
                <a:latin typeface="Calibri" panose="020F0502020204030204" pitchFamily="34" charset="0"/>
                <a:cs typeface="Calibri" panose="020F0502020204030204" pitchFamily="34" charset="0"/>
              </a:rPr>
              <a:t> Is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happening in our code?</a:t>
            </a:r>
          </a:p>
          <a:p>
            <a:pPr>
              <a:lnSpc>
                <a:spcPct val="150000"/>
              </a:lnSpc>
              <a:buNone/>
            </a:pPr>
            <a:r>
              <a:rPr lang="en-US" sz="2800" b="1" dirty="0">
                <a:latin typeface="Calibri" panose="020F0502020204030204" pitchFamily="34" charset="0"/>
                <a:cs typeface="Calibri" panose="020F0502020204030204" pitchFamily="34" charset="0"/>
              </a:rPr>
              <a:t>Question 4:</a:t>
            </a:r>
            <a:r>
              <a:rPr lang="en-US" sz="2800" dirty="0">
                <a:latin typeface="Calibri" panose="020F0502020204030204" pitchFamily="34" charset="0"/>
                <a:cs typeface="Calibri" panose="020F0502020204030204" pitchFamily="34" charset="0"/>
              </a:rPr>
              <a:t> How could we make this an NLP application?</a:t>
            </a:r>
          </a:p>
          <a:p>
            <a:pPr>
              <a:lnSpc>
                <a:spcPct val="150000"/>
              </a:lnSpc>
              <a:buNone/>
            </a:pPr>
            <a:r>
              <a:rPr lang="en-US" sz="2800" b="1" dirty="0">
                <a:latin typeface="Calibri" panose="020F0502020204030204" pitchFamily="34" charset="0"/>
                <a:cs typeface="Calibri" panose="020F0502020204030204" pitchFamily="34" charset="0"/>
              </a:rPr>
              <a:t>Question 5:</a:t>
            </a:r>
            <a:r>
              <a:rPr lang="en-US" sz="2800" dirty="0">
                <a:latin typeface="Calibri" panose="020F0502020204030204" pitchFamily="34" charset="0"/>
                <a:cs typeface="Calibri" panose="020F0502020204030204" pitchFamily="34" charset="0"/>
              </a:rPr>
              <a:t> How could we make it a Generative AI chatbot?</a:t>
            </a:r>
          </a:p>
        </p:txBody>
      </p:sp>
    </p:spTree>
    <p:extLst>
      <p:ext uri="{BB962C8B-B14F-4D97-AF65-F5344CB8AC3E}">
        <p14:creationId xmlns:p14="http://schemas.microsoft.com/office/powerpoint/2010/main" val="2828413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93C5D-C6CB-6E4F-8815-9AD8C8C5A4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B9CA44D-E2C1-16AE-B261-370B131C118F}"/>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
        <p:nvSpPr>
          <p:cNvPr id="5" name="TextBox 4">
            <a:extLst>
              <a:ext uri="{FF2B5EF4-FFF2-40B4-BE49-F238E27FC236}">
                <a16:creationId xmlns:a16="http://schemas.microsoft.com/office/drawing/2014/main" id="{1B09FB3A-47A0-82F2-0348-86669FA07181}"/>
              </a:ext>
            </a:extLst>
          </p:cNvPr>
          <p:cNvSpPr txBox="1"/>
          <p:nvPr/>
        </p:nvSpPr>
        <p:spPr>
          <a:xfrm>
            <a:off x="0" y="572879"/>
            <a:ext cx="12064180" cy="4549835"/>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Question 1:</a:t>
            </a:r>
            <a:r>
              <a:rPr lang="en-US" sz="2800" dirty="0">
                <a:latin typeface="Calibri" panose="020F0502020204030204" pitchFamily="34" charset="0"/>
                <a:cs typeface="Calibri" panose="020F0502020204030204" pitchFamily="34" charset="0"/>
              </a:rPr>
              <a:t> What happens when you type Hello?</a:t>
            </a:r>
          </a:p>
          <a:p>
            <a:pPr>
              <a:lnSpc>
                <a:spcPct val="150000"/>
              </a:lnSpc>
              <a:buNone/>
            </a:pPr>
            <a:r>
              <a:rPr lang="en-US" sz="2800" dirty="0">
                <a:latin typeface="Calibri" panose="020F0502020204030204" pitchFamily="34" charset="0"/>
                <a:cs typeface="Calibri" panose="020F0502020204030204" pitchFamily="34" charset="0"/>
              </a:rPr>
              <a:t>The bot receives the text and echoes it back.</a:t>
            </a:r>
          </a:p>
          <a:p>
            <a:pPr>
              <a:lnSpc>
                <a:spcPct val="150000"/>
              </a:lnSpc>
              <a:buNone/>
            </a:pPr>
            <a:r>
              <a:rPr lang="en-US" sz="2800" b="1" dirty="0">
                <a:latin typeface="Calibri" panose="020F0502020204030204" pitchFamily="34" charset="0"/>
                <a:cs typeface="Calibri" panose="020F0502020204030204" pitchFamily="34" charset="0"/>
              </a:rPr>
              <a:t>Question 2:</a:t>
            </a:r>
            <a:r>
              <a:rPr lang="en-US" sz="2800" dirty="0">
                <a:latin typeface="Calibri" panose="020F0502020204030204" pitchFamily="34" charset="0"/>
                <a:cs typeface="Calibri" panose="020F0502020204030204" pitchFamily="34" charset="0"/>
              </a:rPr>
              <a:t> Does this bot understand what “Hello” means?</a:t>
            </a:r>
          </a:p>
          <a:p>
            <a:pPr>
              <a:lnSpc>
                <a:spcPct val="150000"/>
              </a:lnSpc>
              <a:buNone/>
            </a:pPr>
            <a:r>
              <a:rPr lang="en-US" sz="2800" dirty="0">
                <a:latin typeface="Calibri" panose="020F0502020204030204" pitchFamily="34" charset="0"/>
                <a:cs typeface="Calibri" panose="020F0502020204030204" pitchFamily="34" charset="0"/>
              </a:rPr>
              <a:t>No. It follows rules in our Python code.</a:t>
            </a:r>
          </a:p>
          <a:p>
            <a:pPr>
              <a:lnSpc>
                <a:spcPct val="150000"/>
              </a:lnSpc>
              <a:buNone/>
            </a:pPr>
            <a:r>
              <a:rPr lang="en-US" sz="2800" b="1" dirty="0">
                <a:latin typeface="Calibri" panose="020F0502020204030204" pitchFamily="34" charset="0"/>
                <a:cs typeface="Calibri" panose="020F0502020204030204" pitchFamily="34" charset="0"/>
              </a:rPr>
              <a:t>Question 3:</a:t>
            </a:r>
            <a:r>
              <a:rPr lang="en-US" sz="2800" dirty="0">
                <a:latin typeface="Calibri" panose="020F0502020204030204" pitchFamily="34" charset="0"/>
                <a:cs typeface="Calibri" panose="020F0502020204030204" pitchFamily="34" charset="0"/>
              </a:rPr>
              <a:t> Is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happening in our code?</a:t>
            </a:r>
          </a:p>
          <a:p>
            <a:pPr>
              <a:lnSpc>
                <a:spcPct val="150000"/>
              </a:lnSpc>
              <a:buNone/>
            </a:pPr>
            <a:r>
              <a:rPr lang="en-US" sz="2800" dirty="0">
                <a:latin typeface="Calibri" panose="020F0502020204030204" pitchFamily="34" charset="0"/>
                <a:cs typeface="Calibri" panose="020F0502020204030204" pitchFamily="34" charset="0"/>
              </a:rPr>
              <a:t>No. We are currently treating the user's message as text and returning it without building an NLP preprocessing pipeline.</a:t>
            </a:r>
          </a:p>
        </p:txBody>
      </p:sp>
    </p:spTree>
    <p:extLst>
      <p:ext uri="{BB962C8B-B14F-4D97-AF65-F5344CB8AC3E}">
        <p14:creationId xmlns:p14="http://schemas.microsoft.com/office/powerpoint/2010/main" val="110539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1000"/>
                                        <p:tgtEl>
                                          <p:spTgt spid="5">
                                            <p:txEl>
                                              <p:pRg st="5" end="5"/>
                                            </p:txEl>
                                          </p:spTgt>
                                        </p:tgtEl>
                                      </p:cBhvr>
                                    </p:animEffect>
                                    <p:anim calcmode="lin" valueType="num">
                                      <p:cBhvr>
                                        <p:cTn id="1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C406A-9961-6CBE-5140-CC68089434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BF3A57B-D30D-61E3-49C3-8F89EF5625E6}"/>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
        <p:nvSpPr>
          <p:cNvPr id="5" name="TextBox 4">
            <a:extLst>
              <a:ext uri="{FF2B5EF4-FFF2-40B4-BE49-F238E27FC236}">
                <a16:creationId xmlns:a16="http://schemas.microsoft.com/office/drawing/2014/main" id="{03A53451-8125-73C4-15E2-D8DE64DA6E44}"/>
              </a:ext>
            </a:extLst>
          </p:cNvPr>
          <p:cNvSpPr txBox="1"/>
          <p:nvPr/>
        </p:nvSpPr>
        <p:spPr>
          <a:xfrm>
            <a:off x="0" y="369172"/>
            <a:ext cx="12064180" cy="6488828"/>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Question 4:</a:t>
            </a:r>
            <a:r>
              <a:rPr lang="en-US" sz="2800" dirty="0">
                <a:latin typeface="Calibri" panose="020F0502020204030204" pitchFamily="34" charset="0"/>
                <a:cs typeface="Calibri" panose="020F0502020204030204" pitchFamily="34" charset="0"/>
              </a:rPr>
              <a:t> How could we make this an NLP application?</a:t>
            </a:r>
          </a:p>
          <a:p>
            <a:pPr>
              <a:lnSpc>
                <a:spcPct val="150000"/>
              </a:lnSpc>
              <a:buNone/>
            </a:pPr>
            <a:r>
              <a:rPr lang="en-US" sz="2800" dirty="0">
                <a:latin typeface="Calibri" panose="020F0502020204030204" pitchFamily="34" charset="0"/>
                <a:cs typeface="Calibri" panose="020F0502020204030204" pitchFamily="34" charset="0"/>
              </a:rPr>
              <a:t>We could add cleaning,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sentiment analysis, intent classification, or another NLP task.</a:t>
            </a:r>
          </a:p>
          <a:p>
            <a:pPr>
              <a:lnSpc>
                <a:spcPct val="150000"/>
              </a:lnSpc>
              <a:buNone/>
            </a:pPr>
            <a:r>
              <a:rPr lang="en-US" sz="2800" b="1" dirty="0">
                <a:latin typeface="Calibri" panose="020F0502020204030204" pitchFamily="34" charset="0"/>
                <a:cs typeface="Calibri" panose="020F0502020204030204" pitchFamily="34" charset="0"/>
              </a:rPr>
              <a:t>Question 5:</a:t>
            </a:r>
            <a:r>
              <a:rPr lang="en-US" sz="2800" dirty="0">
                <a:latin typeface="Calibri" panose="020F0502020204030204" pitchFamily="34" charset="0"/>
                <a:cs typeface="Calibri" panose="020F0502020204030204" pitchFamily="34" charset="0"/>
              </a:rPr>
              <a:t> How could we make it a Generative AI chatbot?</a:t>
            </a:r>
          </a:p>
          <a:p>
            <a:pPr>
              <a:lnSpc>
                <a:spcPct val="150000"/>
              </a:lnSpc>
              <a:buNone/>
            </a:pPr>
            <a:r>
              <a:rPr lang="en-US" sz="2800" dirty="0">
                <a:latin typeface="Calibri" panose="020F0502020204030204" pitchFamily="34" charset="0"/>
                <a:cs typeface="Calibri" panose="020F0502020204030204" pitchFamily="34" charset="0"/>
              </a:rPr>
              <a:t>Instead of simply echoing </a:t>
            </a:r>
            <a:r>
              <a:rPr lang="en-US" sz="2800" dirty="0" err="1">
                <a:latin typeface="Calibri" panose="020F0502020204030204" pitchFamily="34" charset="0"/>
                <a:cs typeface="Calibri" panose="020F0502020204030204" pitchFamily="34" charset="0"/>
              </a:rPr>
              <a:t>message.text</a:t>
            </a:r>
            <a:r>
              <a:rPr lang="en-US" sz="2800" dirty="0">
                <a:latin typeface="Calibri" panose="020F0502020204030204" pitchFamily="34" charset="0"/>
                <a:cs typeface="Calibri" panose="020F0502020204030204" pitchFamily="34" charset="0"/>
              </a:rPr>
              <a:t>, we could send the user's message to an LLM and return the generated response.</a:t>
            </a:r>
          </a:p>
          <a:p>
            <a:pPr>
              <a:lnSpc>
                <a:spcPct val="150000"/>
              </a:lnSpc>
              <a:buNone/>
            </a:pPr>
            <a:r>
              <a:rPr lang="en-US" sz="2800" dirty="0">
                <a:latin typeface="Calibri" panose="020F0502020204030204" pitchFamily="34" charset="0"/>
                <a:cs typeface="Calibri" panose="020F0502020204030204" pitchFamily="34" charset="0"/>
              </a:rPr>
              <a:t>Assessment 1 connection explicit:</a:t>
            </a:r>
          </a:p>
          <a:p>
            <a:pPr>
              <a:lnSpc>
                <a:spcPct val="150000"/>
              </a:lnSpc>
              <a:buNone/>
            </a:pPr>
            <a:r>
              <a:rPr lang="en-US" sz="2800" dirty="0">
                <a:latin typeface="Calibri" panose="020F0502020204030204" pitchFamily="34" charset="0"/>
                <a:cs typeface="Calibri" panose="020F0502020204030204" pitchFamily="34" charset="0"/>
              </a:rPr>
              <a:t>Telegram message → raw text → clean → </a:t>
            </a:r>
            <a:r>
              <a:rPr lang="en-US" sz="2800" dirty="0" err="1">
                <a:latin typeface="Calibri" panose="020F0502020204030204" pitchFamily="34" charset="0"/>
                <a:cs typeface="Calibri" panose="020F0502020204030204" pitchFamily="34" charset="0"/>
              </a:rPr>
              <a:t>tokenise</a:t>
            </a:r>
            <a:r>
              <a:rPr lang="en-US" sz="2800" dirty="0">
                <a:latin typeface="Calibri" panose="020F0502020204030204" pitchFamily="34" charset="0"/>
                <a:cs typeface="Calibri" panose="020F0502020204030204" pitchFamily="34" charset="0"/>
              </a:rPr>
              <a:t> → </a:t>
            </a:r>
            <a:r>
              <a:rPr lang="en-US" sz="2800" dirty="0" err="1">
                <a:latin typeface="Calibri" panose="020F0502020204030204" pitchFamily="34" charset="0"/>
                <a:cs typeface="Calibri" panose="020F0502020204030204" pitchFamily="34" charset="0"/>
              </a:rPr>
              <a:t>normalise</a:t>
            </a:r>
            <a:r>
              <a:rPr lang="en-US" sz="2800" dirty="0">
                <a:latin typeface="Calibri" panose="020F0502020204030204" pitchFamily="34" charset="0"/>
                <a:cs typeface="Calibri" panose="020F0502020204030204" pitchFamily="34" charset="0"/>
              </a:rPr>
              <a:t> → </a:t>
            </a:r>
            <a:r>
              <a:rPr lang="en-US" sz="2800" dirty="0" err="1">
                <a:latin typeface="Calibri" panose="020F0502020204030204" pitchFamily="34" charset="0"/>
                <a:cs typeface="Calibri" panose="020F0502020204030204" pitchFamily="34" charset="0"/>
              </a:rPr>
              <a:t>analyse</a:t>
            </a:r>
            <a:endParaRPr lang="en-US" sz="2800" dirty="0">
              <a:latin typeface="Calibri" panose="020F0502020204030204" pitchFamily="34" charset="0"/>
              <a:cs typeface="Calibri" panose="020F0502020204030204" pitchFamily="34" charset="0"/>
            </a:endParaRPr>
          </a:p>
          <a:p>
            <a:pPr>
              <a:lnSpc>
                <a:spcPct val="150000"/>
              </a:lnSpc>
              <a:buNone/>
            </a:pPr>
            <a:r>
              <a:rPr lang="en-US" sz="2800" dirty="0">
                <a:latin typeface="Calibri" panose="020F0502020204030204" pitchFamily="34" charset="0"/>
                <a:cs typeface="Calibri" panose="020F0502020204030204" pitchFamily="34" charset="0"/>
              </a:rPr>
              <a:t>Assessment 1 focuses on the middle part. You are learning how to prepare raw language before later NLP modelling.</a:t>
            </a:r>
          </a:p>
        </p:txBody>
      </p:sp>
    </p:spTree>
    <p:extLst>
      <p:ext uri="{BB962C8B-B14F-4D97-AF65-F5344CB8AC3E}">
        <p14:creationId xmlns:p14="http://schemas.microsoft.com/office/powerpoint/2010/main" val="212734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1000"/>
                                        <p:tgtEl>
                                          <p:spTgt spid="5">
                                            <p:txEl>
                                              <p:pRg st="5" end="5"/>
                                            </p:txEl>
                                          </p:spTgt>
                                        </p:tgtEl>
                                      </p:cBhvr>
                                    </p:animEffect>
                                    <p:anim calcmode="lin" valueType="num">
                                      <p:cBhvr>
                                        <p:cTn id="2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1000"/>
                                        <p:tgtEl>
                                          <p:spTgt spid="5">
                                            <p:txEl>
                                              <p:pRg st="6" end="6"/>
                                            </p:txEl>
                                          </p:spTgt>
                                        </p:tgtEl>
                                      </p:cBhvr>
                                    </p:animEffect>
                                    <p:anim calcmode="lin" valueType="num">
                                      <p:cBhvr>
                                        <p:cTn id="2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EE0DF-39BC-590E-406E-41A72E34E1C4}"/>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6E32A12-45FD-B5E8-4319-28E8C9B3445B}"/>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pic>
        <p:nvPicPr>
          <p:cNvPr id="5" name="Picture 4">
            <a:extLst>
              <a:ext uri="{FF2B5EF4-FFF2-40B4-BE49-F238E27FC236}">
                <a16:creationId xmlns:a16="http://schemas.microsoft.com/office/drawing/2014/main" id="{027F3907-1539-4F2D-513E-6A5BA5EE2282}"/>
              </a:ext>
            </a:extLst>
          </p:cNvPr>
          <p:cNvPicPr>
            <a:picLocks noChangeAspect="1"/>
          </p:cNvPicPr>
          <p:nvPr/>
        </p:nvPicPr>
        <p:blipFill>
          <a:blip r:embed="rId2"/>
          <a:srcRect t="14469" b="45161"/>
          <a:stretch/>
        </p:blipFill>
        <p:spPr>
          <a:xfrm>
            <a:off x="0" y="992265"/>
            <a:ext cx="12192000" cy="2768575"/>
          </a:xfrm>
          <a:prstGeom prst="rect">
            <a:avLst/>
          </a:prstGeom>
        </p:spPr>
      </p:pic>
      <p:sp>
        <p:nvSpPr>
          <p:cNvPr id="6" name="Rectangle 1">
            <a:extLst>
              <a:ext uri="{FF2B5EF4-FFF2-40B4-BE49-F238E27FC236}">
                <a16:creationId xmlns:a16="http://schemas.microsoft.com/office/drawing/2014/main" id="{3C74A58B-4DDE-4DEC-D317-5E05DD7705FC}"/>
              </a:ext>
            </a:extLst>
          </p:cNvPr>
          <p:cNvSpPr>
            <a:spLocks noChangeArrowheads="1"/>
          </p:cNvSpPr>
          <p:nvPr/>
        </p:nvSpPr>
        <p:spPr bwMode="auto">
          <a:xfrm>
            <a:off x="0" y="3901223"/>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This Python script implements a simple Telegram bot using the </a:t>
            </a:r>
            <a:r>
              <a:rPr kumimoji="0" lang="en-US" altLang="en-US" sz="2800" b="0" i="0" u="none" strike="noStrike" cap="none" normalizeH="0" baseline="0" dirty="0" err="1">
                <a:ln>
                  <a:noFill/>
                </a:ln>
                <a:solidFill>
                  <a:schemeClr val="tx1"/>
                </a:solidFill>
                <a:effectLst/>
                <a:latin typeface="Calibir"/>
              </a:rPr>
              <a:t>telebot</a:t>
            </a:r>
            <a:r>
              <a:rPr kumimoji="0" lang="en-US" altLang="en-US" sz="2800" b="0" i="0" u="none" strike="noStrike" cap="none" normalizeH="0" baseline="0" dirty="0">
                <a:ln>
                  <a:noFill/>
                </a:ln>
                <a:solidFill>
                  <a:schemeClr val="tx1"/>
                </a:solidFill>
                <a:effectLst/>
                <a:latin typeface="Calibir"/>
              </a:rPr>
              <a:t> library. The bot responds with a welcome message for specific commands (/start and /hello) and echoes back any text messages sent by users. </a:t>
            </a:r>
          </a:p>
        </p:txBody>
      </p:sp>
      <p:sp>
        <p:nvSpPr>
          <p:cNvPr id="4" name="TextBox 3">
            <a:extLst>
              <a:ext uri="{FF2B5EF4-FFF2-40B4-BE49-F238E27FC236}">
                <a16:creationId xmlns:a16="http://schemas.microsoft.com/office/drawing/2014/main" id="{A7FA9324-A6E2-26EE-3495-0612FED7B203}"/>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14557123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4EDCC-BF50-BC7D-7F2B-94D2E5D7F5A1}"/>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A5E21062-F416-3C41-9E0F-76F9AC3258F1}"/>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4" name="TextBox 3">
            <a:extLst>
              <a:ext uri="{FF2B5EF4-FFF2-40B4-BE49-F238E27FC236}">
                <a16:creationId xmlns:a16="http://schemas.microsoft.com/office/drawing/2014/main" id="{AD252DC9-9752-0642-4238-E4494DC33C63}"/>
              </a:ext>
            </a:extLst>
          </p:cNvPr>
          <p:cNvSpPr txBox="1"/>
          <p:nvPr/>
        </p:nvSpPr>
        <p:spPr>
          <a:xfrm>
            <a:off x="0" y="948690"/>
            <a:ext cx="12192000" cy="523220"/>
          </a:xfrm>
          <a:prstGeom prst="rect">
            <a:avLst/>
          </a:prstGeom>
          <a:solidFill>
            <a:schemeClr val="tx1"/>
          </a:solidFill>
        </p:spPr>
        <p:txBody>
          <a:bodyPr wrap="square">
            <a:spAutoFit/>
          </a:bodyPr>
          <a:lstStyle/>
          <a:p>
            <a:r>
              <a:rPr lang="en-US" sz="2800" b="0" dirty="0">
                <a:solidFill>
                  <a:srgbClr val="C586C0"/>
                </a:solidFill>
                <a:effectLst/>
                <a:latin typeface="Consolas" panose="020B0609020204030204" pitchFamily="49" charset="0"/>
              </a:rPr>
              <a:t>pip install </a:t>
            </a:r>
            <a:r>
              <a:rPr lang="en-US" sz="2800" b="0" dirty="0" err="1">
                <a:solidFill>
                  <a:srgbClr val="C586C0"/>
                </a:solidFill>
                <a:effectLst/>
                <a:latin typeface="Consolas" panose="020B0609020204030204" pitchFamily="49" charset="0"/>
              </a:rPr>
              <a:t>pyTelegramBotAPI</a:t>
            </a:r>
            <a:r>
              <a:rPr lang="en-US" sz="2800" b="0" dirty="0">
                <a:solidFill>
                  <a:srgbClr val="C586C0"/>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p:txBody>
      </p:sp>
      <p:sp>
        <p:nvSpPr>
          <p:cNvPr id="7" name="Rectangle 1">
            <a:extLst>
              <a:ext uri="{FF2B5EF4-FFF2-40B4-BE49-F238E27FC236}">
                <a16:creationId xmlns:a16="http://schemas.microsoft.com/office/drawing/2014/main" id="{C987C0D2-D2E0-23F0-1E8D-927FDB782932}"/>
              </a:ext>
            </a:extLst>
          </p:cNvPr>
          <p:cNvSpPr>
            <a:spLocks noChangeArrowheads="1"/>
          </p:cNvSpPr>
          <p:nvPr/>
        </p:nvSpPr>
        <p:spPr bwMode="auto">
          <a:xfrm>
            <a:off x="0" y="2303228"/>
            <a:ext cx="12192000" cy="671851"/>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Install the Required Library</a:t>
            </a:r>
            <a:r>
              <a:rPr kumimoji="0" lang="en-US" altLang="en-US" sz="2800" b="0" i="0" u="none" strike="noStrike" cap="none" normalizeH="0" baseline="0" dirty="0">
                <a:ln>
                  <a:noFill/>
                </a:ln>
                <a:solidFill>
                  <a:schemeClr val="tx1"/>
                </a:solidFill>
                <a:effectLst/>
                <a:latin typeface="Calibir"/>
              </a:rPr>
              <a:t>: Install the </a:t>
            </a:r>
            <a:r>
              <a:rPr kumimoji="0" lang="en-US" altLang="en-US" sz="2800" b="0" i="0" u="none" strike="noStrike" cap="none" normalizeH="0" baseline="0" dirty="0" err="1">
                <a:ln>
                  <a:noFill/>
                </a:ln>
                <a:solidFill>
                  <a:schemeClr val="tx1"/>
                </a:solidFill>
                <a:effectLst/>
                <a:latin typeface="Calibir"/>
              </a:rPr>
              <a:t>pyTelegramBotAPI</a:t>
            </a:r>
            <a:r>
              <a:rPr kumimoji="0" lang="en-US" altLang="en-US" sz="2800" b="0" i="0" u="none" strike="noStrike" cap="none" normalizeH="0" baseline="0" dirty="0">
                <a:ln>
                  <a:noFill/>
                </a:ln>
                <a:solidFill>
                  <a:schemeClr val="tx1"/>
                </a:solidFill>
                <a:effectLst/>
                <a:latin typeface="Calibir"/>
              </a:rPr>
              <a:t> library using pip: </a:t>
            </a:r>
          </a:p>
        </p:txBody>
      </p:sp>
      <p:sp>
        <p:nvSpPr>
          <p:cNvPr id="8" name="TextBox 7">
            <a:extLst>
              <a:ext uri="{FF2B5EF4-FFF2-40B4-BE49-F238E27FC236}">
                <a16:creationId xmlns:a16="http://schemas.microsoft.com/office/drawing/2014/main" id="{5C3DB341-6F0E-5C8E-1DB1-B24EF05DA0DD}"/>
              </a:ext>
            </a:extLst>
          </p:cNvPr>
          <p:cNvSpPr txBox="1"/>
          <p:nvPr/>
        </p:nvSpPr>
        <p:spPr>
          <a:xfrm>
            <a:off x="0" y="1688837"/>
            <a:ext cx="12192000" cy="523220"/>
          </a:xfrm>
          <a:prstGeom prst="rect">
            <a:avLst/>
          </a:prstGeom>
          <a:solidFill>
            <a:schemeClr val="tx1"/>
          </a:solidFill>
        </p:spPr>
        <p:txBody>
          <a:bodyPr wrap="square">
            <a:spAutoFit/>
          </a:bodyPr>
          <a:lstStyle/>
          <a:p>
            <a:r>
              <a:rPr lang="en-US" sz="2800" b="0" dirty="0">
                <a:solidFill>
                  <a:srgbClr val="C586C0"/>
                </a:solidFill>
                <a:effectLst/>
                <a:latin typeface="Consolas" panose="020B0609020204030204" pitchFamily="49" charset="0"/>
              </a:rPr>
              <a:t>pip install requests </a:t>
            </a:r>
            <a:endParaRPr lang="en-US" sz="2800" b="0" dirty="0">
              <a:solidFill>
                <a:srgbClr val="CCCCCC"/>
              </a:solidFill>
              <a:effectLst/>
              <a:latin typeface="Consolas" panose="020B0609020204030204" pitchFamily="49" charset="0"/>
            </a:endParaRPr>
          </a:p>
        </p:txBody>
      </p:sp>
      <p:sp>
        <p:nvSpPr>
          <p:cNvPr id="5" name="TextBox 4">
            <a:extLst>
              <a:ext uri="{FF2B5EF4-FFF2-40B4-BE49-F238E27FC236}">
                <a16:creationId xmlns:a16="http://schemas.microsoft.com/office/drawing/2014/main" id="{05D4B7C8-8F7F-5A14-FE58-976DB3A48B54}"/>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140168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49CB-0E2A-DDBB-D9BC-F73569D3B64B}"/>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70C8165D-25F1-16A6-128C-E2D59730BB2E}"/>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7" name="Rectangle 1">
            <a:extLst>
              <a:ext uri="{FF2B5EF4-FFF2-40B4-BE49-F238E27FC236}">
                <a16:creationId xmlns:a16="http://schemas.microsoft.com/office/drawing/2014/main" id="{D095AEFD-1109-2669-8520-13213B502078}"/>
              </a:ext>
            </a:extLst>
          </p:cNvPr>
          <p:cNvSpPr>
            <a:spLocks noChangeArrowheads="1"/>
          </p:cNvSpPr>
          <p:nvPr/>
        </p:nvSpPr>
        <p:spPr bwMode="auto">
          <a:xfrm>
            <a:off x="0" y="184586"/>
            <a:ext cx="12192000" cy="6488828"/>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Steps to Get Started</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Calibir"/>
              </a:rPr>
              <a:t>Create a Telegram Bot</a:t>
            </a:r>
            <a:r>
              <a:rPr kumimoji="0" lang="en-US" altLang="en-US" sz="2800" b="0" i="0" u="none" strike="noStrike" cap="none" normalizeH="0" baseline="0" dirty="0">
                <a:ln>
                  <a:noFill/>
                </a:ln>
                <a:solidFill>
                  <a:schemeClr val="tx1"/>
                </a:solidFill>
                <a:effectLst/>
                <a:latin typeface="Calibir"/>
              </a:rPr>
              <a:t>:</a:t>
            </a:r>
          </a:p>
          <a:p>
            <a:pPr marL="971550"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chemeClr val="tx1"/>
                </a:solidFill>
                <a:effectLst/>
                <a:latin typeface="Calibir"/>
              </a:rPr>
              <a:t>Open Telegram and search </a:t>
            </a:r>
            <a:r>
              <a:rPr kumimoji="0" lang="en-US" altLang="en-US" sz="2800" b="0" i="0" u="none" strike="noStrike" cap="none" normalizeH="0" baseline="0">
                <a:ln>
                  <a:noFill/>
                </a:ln>
                <a:solidFill>
                  <a:schemeClr val="tx1"/>
                </a:solidFill>
                <a:effectLst/>
                <a:latin typeface="Calibir"/>
              </a:rPr>
              <a:t>for </a:t>
            </a:r>
            <a:r>
              <a:rPr lang="en-US" altLang="en-US" sz="2800">
                <a:latin typeface="Calibir"/>
              </a:rPr>
              <a:t>@B</a:t>
            </a:r>
            <a:r>
              <a:rPr kumimoji="0" lang="en-US" altLang="en-US" sz="2800" b="0" i="0" u="none" strike="noStrike" cap="none" normalizeH="0" baseline="0">
                <a:ln>
                  <a:noFill/>
                </a:ln>
                <a:solidFill>
                  <a:schemeClr val="tx1"/>
                </a:solidFill>
                <a:effectLst/>
                <a:latin typeface="Calibir"/>
              </a:rPr>
              <a:t>otFather</a:t>
            </a:r>
            <a:endParaRPr kumimoji="0" lang="en-US" altLang="en-US" sz="2800" b="0" i="0" u="none" strike="noStrike" cap="none" normalizeH="0" baseline="0" dirty="0">
              <a:ln>
                <a:noFill/>
              </a:ln>
              <a:solidFill>
                <a:schemeClr val="tx1"/>
              </a:solidFill>
              <a:effectLst/>
              <a:latin typeface="Calibir"/>
            </a:endParaRPr>
          </a:p>
          <a:p>
            <a:pPr marL="971550"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chemeClr val="tx1"/>
                </a:solidFill>
                <a:effectLst/>
                <a:latin typeface="Calibir"/>
              </a:rPr>
              <a:t>Start a chat with </a:t>
            </a:r>
            <a:r>
              <a:rPr kumimoji="0" lang="en-US" altLang="en-US" sz="2800" b="0" i="0" u="none" strike="noStrike" cap="none" normalizeH="0" baseline="0" dirty="0" err="1">
                <a:ln>
                  <a:noFill/>
                </a:ln>
                <a:solidFill>
                  <a:schemeClr val="tx1"/>
                </a:solidFill>
                <a:effectLst/>
                <a:latin typeface="Calibir"/>
              </a:rPr>
              <a:t>BotFather</a:t>
            </a:r>
            <a:r>
              <a:rPr kumimoji="0" lang="en-US" altLang="en-US" sz="2800" b="0" i="0" u="none" strike="noStrike" cap="none" normalizeH="0" baseline="0" dirty="0">
                <a:ln>
                  <a:noFill/>
                </a:ln>
                <a:solidFill>
                  <a:schemeClr val="tx1"/>
                </a:solidFill>
                <a:effectLst/>
                <a:latin typeface="Calibir"/>
              </a:rPr>
              <a:t> and use the command /</a:t>
            </a:r>
            <a:r>
              <a:rPr kumimoji="0" lang="en-US" altLang="en-US" sz="2800" b="0" i="0" u="none" strike="noStrike" cap="none" normalizeH="0" baseline="0" dirty="0" err="1">
                <a:ln>
                  <a:noFill/>
                </a:ln>
                <a:solidFill>
                  <a:schemeClr val="tx1"/>
                </a:solidFill>
                <a:effectLst/>
                <a:latin typeface="Calibir"/>
              </a:rPr>
              <a:t>newbot</a:t>
            </a:r>
            <a:r>
              <a:rPr kumimoji="0" lang="en-US" altLang="en-US" sz="2800" b="0" i="0" u="none" strike="noStrike" cap="none" normalizeH="0" baseline="0" dirty="0">
                <a:ln>
                  <a:noFill/>
                </a:ln>
                <a:solidFill>
                  <a:schemeClr val="tx1"/>
                </a:solidFill>
                <a:effectLst/>
                <a:latin typeface="Calibir"/>
              </a:rPr>
              <a:t> to create a bot.</a:t>
            </a:r>
          </a:p>
          <a:p>
            <a:pPr marL="971550"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chemeClr val="tx1"/>
                </a:solidFill>
                <a:effectLst/>
                <a:latin typeface="Calibir"/>
              </a:rPr>
              <a:t>Follow this instruction and get your bot's </a:t>
            </a:r>
            <a:r>
              <a:rPr kumimoji="0" lang="en-US" altLang="en-US" sz="2800" b="1" i="0" u="none" strike="noStrike" cap="none" normalizeH="0" baseline="0" dirty="0">
                <a:ln>
                  <a:noFill/>
                </a:ln>
                <a:solidFill>
                  <a:schemeClr val="tx1"/>
                </a:solidFill>
                <a:effectLst/>
                <a:latin typeface="Calibir"/>
              </a:rPr>
              <a:t>API token</a:t>
            </a:r>
            <a:r>
              <a:rPr lang="en-US" altLang="en-US" sz="2800" dirty="0">
                <a:latin typeface="Calibir"/>
              </a:rPr>
              <a:t>:</a:t>
            </a:r>
          </a:p>
          <a:p>
            <a:pPr marL="971550"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chemeClr val="tx1"/>
                </a:solidFill>
                <a:effectLst/>
                <a:latin typeface="Calibir"/>
              </a:rPr>
              <a:t>Send the command /</a:t>
            </a:r>
            <a:r>
              <a:rPr kumimoji="0" lang="en-US" altLang="en-US" sz="2800" b="0" i="0" u="none" strike="noStrike" cap="none" normalizeH="0" baseline="0" dirty="0" err="1">
                <a:ln>
                  <a:noFill/>
                </a:ln>
                <a:solidFill>
                  <a:schemeClr val="tx1"/>
                </a:solidFill>
                <a:effectLst/>
                <a:latin typeface="Calibir"/>
              </a:rPr>
              <a:t>newbot</a:t>
            </a:r>
            <a:r>
              <a:rPr kumimoji="0" lang="en-US" altLang="en-US" sz="2800" b="0" i="0" u="none" strike="noStrike" cap="none" normalizeH="0" baseline="0" dirty="0">
                <a:ln>
                  <a:noFill/>
                </a:ln>
                <a:solidFill>
                  <a:schemeClr val="tx1"/>
                </a:solidFill>
                <a:effectLst/>
                <a:latin typeface="Calibir"/>
              </a:rPr>
              <a:t> to </a:t>
            </a:r>
            <a:r>
              <a:rPr kumimoji="0" lang="en-US" altLang="en-US" sz="2800" b="0" i="0" u="none" strike="noStrike" cap="none" normalizeH="0" baseline="0" dirty="0" err="1">
                <a:ln>
                  <a:noFill/>
                </a:ln>
                <a:solidFill>
                  <a:schemeClr val="tx1"/>
                </a:solidFill>
                <a:effectLst/>
                <a:latin typeface="Calibir"/>
              </a:rPr>
              <a:t>BotFather</a:t>
            </a:r>
            <a:r>
              <a:rPr kumimoji="0" lang="en-US" altLang="en-US" sz="2800" b="0" i="0" u="none" strike="noStrike" cap="none" normalizeH="0" baseline="0" dirty="0">
                <a:ln>
                  <a:noFill/>
                </a:ln>
                <a:solidFill>
                  <a:schemeClr val="tx1"/>
                </a:solidFill>
                <a:effectLst/>
                <a:latin typeface="Calibir"/>
              </a:rPr>
              <a:t>.</a:t>
            </a:r>
          </a:p>
          <a:p>
            <a:pPr marL="971550" marR="0" lvl="1"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0" i="0" u="none" strike="noStrike" cap="none" normalizeH="0" baseline="0" dirty="0" err="1">
                <a:ln>
                  <a:noFill/>
                </a:ln>
                <a:solidFill>
                  <a:schemeClr val="tx1"/>
                </a:solidFill>
                <a:effectLst/>
                <a:latin typeface="Calibir"/>
              </a:rPr>
              <a:t>BotFather</a:t>
            </a:r>
            <a:r>
              <a:rPr kumimoji="0" lang="en-US" altLang="en-US" sz="2800" b="0" i="0" u="none" strike="noStrike" cap="none" normalizeH="0" baseline="0" dirty="0">
                <a:ln>
                  <a:noFill/>
                </a:ln>
                <a:solidFill>
                  <a:schemeClr val="tx1"/>
                </a:solidFill>
                <a:effectLst/>
                <a:latin typeface="Calibir"/>
              </a:rPr>
              <a:t> will ask you for:</a:t>
            </a:r>
          </a:p>
          <a:p>
            <a:pPr marL="1428750" lvl="2" indent="-514350" eaLnBrk="0" fontAlgn="base" hangingPunct="0">
              <a:lnSpc>
                <a:spcPct val="150000"/>
              </a:lnSpc>
              <a:spcBef>
                <a:spcPct val="0"/>
              </a:spcBef>
              <a:spcAft>
                <a:spcPct val="0"/>
              </a:spcAft>
              <a:buFont typeface="+mj-lt"/>
              <a:buAutoNum type="arabicPeriod"/>
            </a:pPr>
            <a:r>
              <a:rPr kumimoji="0" lang="en-US" altLang="en-US" sz="2800" b="0" i="0" u="none" strike="noStrike" cap="none" normalizeH="0" baseline="0" dirty="0">
                <a:ln>
                  <a:noFill/>
                </a:ln>
                <a:solidFill>
                  <a:schemeClr val="tx1"/>
                </a:solidFill>
                <a:effectLst/>
                <a:latin typeface="Calibir"/>
              </a:rPr>
              <a:t>A </a:t>
            </a:r>
            <a:r>
              <a:rPr kumimoji="0" lang="en-US" altLang="en-US" sz="2800" b="1" i="0" u="none" strike="noStrike" cap="none" normalizeH="0" baseline="0" dirty="0">
                <a:ln>
                  <a:noFill/>
                </a:ln>
                <a:solidFill>
                  <a:schemeClr val="tx1"/>
                </a:solidFill>
                <a:effectLst/>
                <a:latin typeface="Calibir"/>
              </a:rPr>
              <a:t>name</a:t>
            </a:r>
            <a:r>
              <a:rPr kumimoji="0" lang="en-US" altLang="en-US" sz="2800" b="0" i="0" u="none" strike="noStrike" cap="none" normalizeH="0" baseline="0" dirty="0">
                <a:ln>
                  <a:noFill/>
                </a:ln>
                <a:solidFill>
                  <a:schemeClr val="tx1"/>
                </a:solidFill>
                <a:effectLst/>
                <a:latin typeface="Calibir"/>
              </a:rPr>
              <a:t> for your bot (e.g., "</a:t>
            </a:r>
            <a:r>
              <a:rPr kumimoji="0" lang="en-US" altLang="en-US" sz="2800" b="0" i="0" u="none" strike="noStrike" cap="none" normalizeH="0" baseline="0" dirty="0" err="1">
                <a:ln>
                  <a:noFill/>
                </a:ln>
                <a:solidFill>
                  <a:schemeClr val="tx1"/>
                </a:solidFill>
                <a:effectLst/>
                <a:latin typeface="Calibir"/>
              </a:rPr>
              <a:t>MyTestBot</a:t>
            </a:r>
            <a:r>
              <a:rPr kumimoji="0" lang="en-US" altLang="en-US" sz="2800" b="0" i="0" u="none" strike="noStrike" cap="none" normalizeH="0" baseline="0" dirty="0">
                <a:ln>
                  <a:noFill/>
                </a:ln>
                <a:solidFill>
                  <a:schemeClr val="tx1"/>
                </a:solidFill>
                <a:effectLst/>
                <a:latin typeface="Calibir"/>
              </a:rPr>
              <a:t>").</a:t>
            </a:r>
          </a:p>
          <a:p>
            <a:pPr marL="1428750" lvl="2" indent="-514350" eaLnBrk="0" fontAlgn="base" hangingPunct="0">
              <a:lnSpc>
                <a:spcPct val="150000"/>
              </a:lnSpc>
              <a:spcBef>
                <a:spcPct val="0"/>
              </a:spcBef>
              <a:spcAft>
                <a:spcPct val="0"/>
              </a:spcAft>
              <a:buFont typeface="+mj-lt"/>
              <a:buAutoNum type="arabicPeriod"/>
            </a:pPr>
            <a:r>
              <a:rPr kumimoji="0" lang="en-US" altLang="en-US" sz="2800" b="0" i="0" u="none" strike="noStrike" cap="none" normalizeH="0" baseline="0" dirty="0">
                <a:ln>
                  <a:noFill/>
                </a:ln>
                <a:solidFill>
                  <a:schemeClr val="tx1"/>
                </a:solidFill>
                <a:effectLst/>
                <a:latin typeface="Calibir"/>
              </a:rPr>
              <a:t>A </a:t>
            </a:r>
            <a:r>
              <a:rPr kumimoji="0" lang="en-US" altLang="en-US" sz="2800" b="1" i="0" u="none" strike="noStrike" cap="none" normalizeH="0" baseline="0" dirty="0">
                <a:ln>
                  <a:noFill/>
                </a:ln>
                <a:solidFill>
                  <a:schemeClr val="tx1"/>
                </a:solidFill>
                <a:effectLst/>
                <a:latin typeface="Calibir"/>
              </a:rPr>
              <a:t>username</a:t>
            </a:r>
            <a:r>
              <a:rPr kumimoji="0" lang="en-US" altLang="en-US" sz="2800" b="0" i="0" u="none" strike="noStrike" cap="none" normalizeH="0" baseline="0" dirty="0">
                <a:ln>
                  <a:noFill/>
                </a:ln>
                <a:solidFill>
                  <a:schemeClr val="tx1"/>
                </a:solidFill>
                <a:effectLst/>
                <a:latin typeface="Calibir"/>
              </a:rPr>
              <a:t> for your bot (e.g., "MyTestBot123"). The username must end with "bot".</a:t>
            </a:r>
          </a:p>
        </p:txBody>
      </p:sp>
    </p:spTree>
    <p:extLst>
      <p:ext uri="{BB962C8B-B14F-4D97-AF65-F5344CB8AC3E}">
        <p14:creationId xmlns:p14="http://schemas.microsoft.com/office/powerpoint/2010/main" val="2252740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E6D8-78FF-24EC-D3C8-E5A340E87B94}"/>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6C41F5C1-05C9-4764-DFF4-433D2F8EA97E}"/>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7" name="Rectangle 1">
            <a:extLst>
              <a:ext uri="{FF2B5EF4-FFF2-40B4-BE49-F238E27FC236}">
                <a16:creationId xmlns:a16="http://schemas.microsoft.com/office/drawing/2014/main" id="{01572A05-7551-16F7-2B8C-C9EFC3C05A09}"/>
              </a:ext>
            </a:extLst>
          </p:cNvPr>
          <p:cNvSpPr>
            <a:spLocks noChangeArrowheads="1"/>
          </p:cNvSpPr>
          <p:nvPr/>
        </p:nvSpPr>
        <p:spPr bwMode="auto">
          <a:xfrm>
            <a:off x="0" y="602428"/>
            <a:ext cx="12192000"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Receive the Token</a:t>
            </a:r>
          </a:p>
          <a:p>
            <a:pPr marL="457200" indent="-457200">
              <a:lnSpc>
                <a:spcPct val="150000"/>
              </a:lnSpc>
              <a:buFont typeface="Arial" panose="020B0604020202020204" pitchFamily="34" charset="0"/>
              <a:buChar char="•"/>
            </a:pPr>
            <a:r>
              <a:rPr lang="en-US" sz="2800" dirty="0">
                <a:latin typeface="Calibir"/>
              </a:rPr>
              <a:t>Once you've chosen a name and username, </a:t>
            </a:r>
            <a:r>
              <a:rPr lang="en-US" sz="2800" dirty="0" err="1">
                <a:latin typeface="Calibir"/>
              </a:rPr>
              <a:t>BotFather</a:t>
            </a:r>
            <a:r>
              <a:rPr lang="en-US" sz="2800" dirty="0">
                <a:latin typeface="Calibir"/>
              </a:rPr>
              <a:t> will generate and send you a message with your bot's </a:t>
            </a:r>
            <a:r>
              <a:rPr lang="en-US" sz="2800" b="1" dirty="0">
                <a:latin typeface="Calibir"/>
              </a:rPr>
              <a:t>API token</a:t>
            </a:r>
            <a:r>
              <a:rPr lang="en-US" sz="2800" dirty="0">
                <a:latin typeface="Calibir"/>
              </a:rPr>
              <a:t>.</a:t>
            </a:r>
          </a:p>
          <a:p>
            <a:pPr marL="457200" indent="-457200">
              <a:lnSpc>
                <a:spcPct val="150000"/>
              </a:lnSpc>
              <a:buFont typeface="Arial" panose="020B0604020202020204" pitchFamily="34" charset="0"/>
              <a:buChar char="•"/>
            </a:pPr>
            <a:r>
              <a:rPr lang="en-US" sz="2800" dirty="0"/>
              <a:t>The message will look something like this:</a:t>
            </a:r>
            <a:endParaRPr lang="en-US" sz="2800" dirty="0">
              <a:latin typeface="Calibir"/>
            </a:endParaRPr>
          </a:p>
        </p:txBody>
      </p:sp>
      <p:sp>
        <p:nvSpPr>
          <p:cNvPr id="3" name="TextBox 2">
            <a:extLst>
              <a:ext uri="{FF2B5EF4-FFF2-40B4-BE49-F238E27FC236}">
                <a16:creationId xmlns:a16="http://schemas.microsoft.com/office/drawing/2014/main" id="{4051A0FC-1294-49F2-67A4-01C0030426E9}"/>
              </a:ext>
            </a:extLst>
          </p:cNvPr>
          <p:cNvSpPr txBox="1"/>
          <p:nvPr/>
        </p:nvSpPr>
        <p:spPr>
          <a:xfrm>
            <a:off x="0" y="3429000"/>
            <a:ext cx="12192000" cy="2677656"/>
          </a:xfrm>
          <a:prstGeom prst="rect">
            <a:avLst/>
          </a:prstGeom>
          <a:noFill/>
        </p:spPr>
        <p:txBody>
          <a:bodyPr wrap="square">
            <a:spAutoFit/>
          </a:bodyPr>
          <a:lstStyle/>
          <a:p>
            <a:r>
              <a:rPr lang="en-AU" sz="2800" dirty="0">
                <a:latin typeface="Calibir"/>
              </a:rPr>
              <a:t>Done! Congratulations on your new bot. You will find it at t.me/</a:t>
            </a:r>
            <a:r>
              <a:rPr lang="en-AU" sz="2800" dirty="0" err="1">
                <a:latin typeface="Calibir"/>
              </a:rPr>
              <a:t>FarshidKeivanian</a:t>
            </a:r>
            <a:r>
              <a:rPr lang="en-AU" sz="2800" dirty="0">
                <a:latin typeface="Calibir"/>
              </a:rPr>
              <a:t>.</a:t>
            </a:r>
          </a:p>
          <a:p>
            <a:r>
              <a:rPr lang="en-AU" sz="2800" dirty="0">
                <a:latin typeface="Calibir"/>
              </a:rPr>
              <a:t>You can now add a description, about section, and profile picture for your bot. See /help for a list of commands.</a:t>
            </a:r>
          </a:p>
          <a:p>
            <a:endParaRPr lang="en-AU" sz="2800" dirty="0">
              <a:latin typeface="Calibir"/>
            </a:endParaRPr>
          </a:p>
          <a:p>
            <a:r>
              <a:rPr lang="en-AU" sz="2800" dirty="0">
                <a:latin typeface="Calibir"/>
              </a:rPr>
              <a:t>Use this token to access the HTTP API:</a:t>
            </a:r>
          </a:p>
          <a:p>
            <a:r>
              <a:rPr lang="en-AU" sz="2800" dirty="0">
                <a:latin typeface="Calibir"/>
              </a:rPr>
              <a:t>……..</a:t>
            </a:r>
          </a:p>
        </p:txBody>
      </p:sp>
      <p:sp>
        <p:nvSpPr>
          <p:cNvPr id="5" name="TextBox 4">
            <a:extLst>
              <a:ext uri="{FF2B5EF4-FFF2-40B4-BE49-F238E27FC236}">
                <a16:creationId xmlns:a16="http://schemas.microsoft.com/office/drawing/2014/main" id="{902EBAD1-839B-0A8D-ED49-2B3E299BD109}"/>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1213826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49A8A-C468-02BB-EEB9-58BCBB87DC8A}"/>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B13CAB95-DD14-235A-BFBF-BE1128FF9DF5}"/>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7" name="Rectangle 1">
            <a:extLst>
              <a:ext uri="{FF2B5EF4-FFF2-40B4-BE49-F238E27FC236}">
                <a16:creationId xmlns:a16="http://schemas.microsoft.com/office/drawing/2014/main" id="{39611157-A787-AC92-1DE7-ED8452E24B3D}"/>
              </a:ext>
            </a:extLst>
          </p:cNvPr>
          <p:cNvSpPr>
            <a:spLocks noChangeArrowheads="1"/>
          </p:cNvSpPr>
          <p:nvPr/>
        </p:nvSpPr>
        <p:spPr bwMode="auto">
          <a:xfrm>
            <a:off x="0" y="992265"/>
            <a:ext cx="12192000" cy="196451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Copy the Token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Copy the token (e.g., ….:ABCDEFGHIJKLMNOPQRSTUVWXYZ12345678) to use it in the Python code.</a:t>
            </a:r>
          </a:p>
        </p:txBody>
      </p:sp>
      <p:sp>
        <p:nvSpPr>
          <p:cNvPr id="3" name="TextBox 2">
            <a:extLst>
              <a:ext uri="{FF2B5EF4-FFF2-40B4-BE49-F238E27FC236}">
                <a16:creationId xmlns:a16="http://schemas.microsoft.com/office/drawing/2014/main" id="{A042FAE8-E52B-839D-EC05-A2E9002693C8}"/>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1139479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82829-5F00-A280-210A-1E6A216E5F03}"/>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63EF2149-AF9B-EBFF-173B-56A58ABF01C7}"/>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3" name="TextBox 2">
            <a:extLst>
              <a:ext uri="{FF2B5EF4-FFF2-40B4-BE49-F238E27FC236}">
                <a16:creationId xmlns:a16="http://schemas.microsoft.com/office/drawing/2014/main" id="{FBE73DCF-B3C1-CD3F-DAD8-70D5E4B8E385}"/>
              </a:ext>
            </a:extLst>
          </p:cNvPr>
          <p:cNvSpPr txBox="1"/>
          <p:nvPr/>
        </p:nvSpPr>
        <p:spPr>
          <a:xfrm>
            <a:off x="0" y="-44244"/>
            <a:ext cx="12192000" cy="4524315"/>
          </a:xfrm>
          <a:prstGeom prst="rect">
            <a:avLst/>
          </a:prstGeom>
          <a:solidFill>
            <a:schemeClr val="tx1"/>
          </a:solidFill>
        </p:spPr>
        <p:txBody>
          <a:bodyPr wrap="square">
            <a:spAutoFit/>
          </a:bodyPr>
          <a:lstStyle/>
          <a:p>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telebot</a:t>
            </a:r>
            <a:endParaRPr lang="en-US" b="0" dirty="0">
              <a:solidFill>
                <a:srgbClr val="CCCCCC"/>
              </a:solidFill>
              <a:effectLst/>
              <a:latin typeface="Consolas" panose="020B0609020204030204" pitchFamily="49" charset="0"/>
            </a:endParaRPr>
          </a:p>
          <a:p>
            <a:r>
              <a:rPr lang="en-US" b="0" dirty="0">
                <a:solidFill>
                  <a:srgbClr val="6A9955"/>
                </a:solidFill>
                <a:effectLst/>
                <a:latin typeface="Consolas" panose="020B0609020204030204" pitchFamily="49" charset="0"/>
              </a:rPr>
              <a:t># Replace with your bot's API token</a:t>
            </a:r>
            <a:endParaRPr lang="en-US" b="0" dirty="0">
              <a:solidFill>
                <a:srgbClr val="CCCCCC"/>
              </a:solidFill>
              <a:effectLst/>
              <a:latin typeface="Consolas" panose="020B0609020204030204" pitchFamily="49" charset="0"/>
            </a:endParaRPr>
          </a:p>
          <a:p>
            <a:r>
              <a:rPr lang="en-US" b="0" dirty="0">
                <a:solidFill>
                  <a:srgbClr val="4FC1FF"/>
                </a:solidFill>
                <a:effectLst/>
                <a:latin typeface="Consolas" panose="020B0609020204030204" pitchFamily="49" charset="0"/>
              </a:rPr>
              <a:t>API_TOKEN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'Replace with your bot’s API token'</a:t>
            </a:r>
            <a:endParaRPr lang="en-US" b="0" dirty="0">
              <a:solidFill>
                <a:srgbClr val="CCCCCC"/>
              </a:solidFill>
              <a:effectLst/>
              <a:latin typeface="Consolas" panose="020B0609020204030204" pitchFamily="49" charset="0"/>
            </a:endParaRPr>
          </a:p>
          <a:p>
            <a:r>
              <a:rPr lang="en-US" b="0" dirty="0">
                <a:solidFill>
                  <a:srgbClr val="6A9955"/>
                </a:solidFill>
                <a:effectLst/>
                <a:latin typeface="Consolas" panose="020B0609020204030204" pitchFamily="49" charset="0"/>
              </a:rPr>
              <a:t># Initialize the bot</a:t>
            </a:r>
            <a:endParaRPr lang="en-US" b="0" dirty="0">
              <a:solidFill>
                <a:srgbClr val="CCCCCC"/>
              </a:solidFill>
              <a:effectLst/>
              <a:latin typeface="Consolas" panose="020B0609020204030204" pitchFamily="49" charset="0"/>
            </a:endParaRPr>
          </a:p>
          <a:p>
            <a:r>
              <a:rPr lang="en-US" b="0" dirty="0">
                <a:solidFill>
                  <a:srgbClr val="9CDCFE"/>
                </a:solidFill>
                <a:effectLst/>
                <a:latin typeface="Consolas" panose="020B0609020204030204" pitchFamily="49" charset="0"/>
              </a:rPr>
              <a:t>bot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telebot</a:t>
            </a:r>
            <a:r>
              <a:rPr lang="en-US" b="0" dirty="0" err="1">
                <a:solidFill>
                  <a:srgbClr val="CCCCCC"/>
                </a:solidFill>
                <a:effectLst/>
                <a:latin typeface="Consolas" panose="020B0609020204030204" pitchFamily="49" charset="0"/>
              </a:rPr>
              <a:t>.TeleBot</a:t>
            </a:r>
            <a:r>
              <a:rPr lang="en-US" b="0" dirty="0">
                <a:solidFill>
                  <a:srgbClr val="CCCCCC"/>
                </a:solidFill>
                <a:effectLst/>
                <a:latin typeface="Consolas" panose="020B0609020204030204" pitchFamily="49" charset="0"/>
              </a:rPr>
              <a:t>(</a:t>
            </a:r>
            <a:r>
              <a:rPr lang="en-US" b="0" dirty="0">
                <a:solidFill>
                  <a:srgbClr val="4FC1FF"/>
                </a:solidFill>
                <a:effectLst/>
                <a:latin typeface="Consolas" panose="020B0609020204030204" pitchFamily="49" charset="0"/>
              </a:rPr>
              <a:t>API_TOKEN</a:t>
            </a:r>
            <a:r>
              <a:rPr lang="en-US" b="0" dirty="0">
                <a:solidFill>
                  <a:srgbClr val="CCCCCC"/>
                </a:solidFill>
                <a:effectLst/>
                <a:latin typeface="Consolas" panose="020B0609020204030204" pitchFamily="49" charset="0"/>
              </a:rPr>
              <a:t>)</a:t>
            </a:r>
          </a:p>
          <a:p>
            <a:r>
              <a:rPr lang="en-US" b="0" dirty="0">
                <a:solidFill>
                  <a:srgbClr val="6A9955"/>
                </a:solidFill>
                <a:effectLst/>
                <a:latin typeface="Consolas" panose="020B0609020204030204" pitchFamily="49" charset="0"/>
              </a:rPr>
              <a:t># Command to handle the '/start' or '/hello' message</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a:t>
            </a:r>
            <a:r>
              <a:rPr lang="en-US" b="0" dirty="0">
                <a:solidFill>
                  <a:srgbClr val="9CDCFE"/>
                </a:solidFill>
                <a:effectLst/>
                <a:latin typeface="Consolas" panose="020B0609020204030204" pitchFamily="49" charset="0"/>
              </a:rPr>
              <a:t>bot</a:t>
            </a:r>
            <a:r>
              <a:rPr lang="en-US" b="0" dirty="0">
                <a:solidFill>
                  <a:srgbClr val="DCDCAA"/>
                </a:solidFill>
                <a:effectLst/>
                <a:latin typeface="Consolas" panose="020B0609020204030204" pitchFamily="49" charset="0"/>
              </a:rPr>
              <a:t>.message_handler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commands</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'start'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'hello'</a:t>
            </a:r>
            <a:r>
              <a:rPr lang="en-US" b="0" dirty="0">
                <a:solidFill>
                  <a:srgbClr val="CCCCCC"/>
                </a:solidFill>
                <a:effectLst/>
                <a:latin typeface="Consolas" panose="020B0609020204030204" pitchFamily="49" charset="0"/>
              </a:rPr>
              <a:t>])</a:t>
            </a:r>
          </a:p>
          <a:p>
            <a:r>
              <a:rPr lang="en-US" b="0" dirty="0">
                <a:solidFill>
                  <a:srgbClr val="569CD6"/>
                </a:solidFill>
                <a:effectLst/>
                <a:latin typeface="Consolas" panose="020B0609020204030204" pitchFamily="49" charset="0"/>
              </a:rPr>
              <a:t>def</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send_welcome</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.reply_to</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"Welcome to my bot, </a:t>
            </a:r>
            <a:r>
              <a:rPr lang="en-US" b="0" dirty="0" err="1">
                <a:solidFill>
                  <a:srgbClr val="CE9178"/>
                </a:solidFill>
                <a:effectLst/>
                <a:latin typeface="Consolas" panose="020B0609020204030204" pitchFamily="49" charset="0"/>
              </a:rPr>
              <a:t>Farshidkeivanian</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r>
              <a:rPr lang="en-US" b="0" dirty="0">
                <a:solidFill>
                  <a:srgbClr val="6A9955"/>
                </a:solidFill>
                <a:effectLst/>
                <a:latin typeface="Consolas" panose="020B0609020204030204" pitchFamily="49" charset="0"/>
              </a:rPr>
              <a:t># Command to handle text messages</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a:t>
            </a:r>
            <a:r>
              <a:rPr lang="en-US" b="0" dirty="0">
                <a:solidFill>
                  <a:srgbClr val="9CDCFE"/>
                </a:solidFill>
                <a:effectLst/>
                <a:latin typeface="Consolas" panose="020B0609020204030204" pitchFamily="49" charset="0"/>
              </a:rPr>
              <a:t>bot</a:t>
            </a:r>
            <a:r>
              <a:rPr lang="en-US" b="0" dirty="0">
                <a:solidFill>
                  <a:srgbClr val="DCDCAA"/>
                </a:solidFill>
                <a:effectLst/>
                <a:latin typeface="Consolas" panose="020B0609020204030204" pitchFamily="49" charset="0"/>
              </a:rPr>
              <a:t>.message_handler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func</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lambda</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True</a:t>
            </a:r>
            <a:r>
              <a:rPr lang="en-US" b="0" dirty="0">
                <a:solidFill>
                  <a:srgbClr val="CCCCCC"/>
                </a:solidFill>
                <a:effectLst/>
                <a:latin typeface="Consolas" panose="020B0609020204030204" pitchFamily="49" charset="0"/>
              </a:rPr>
              <a:t>)</a:t>
            </a:r>
          </a:p>
          <a:p>
            <a:r>
              <a:rPr lang="en-US" b="0" dirty="0">
                <a:solidFill>
                  <a:srgbClr val="569CD6"/>
                </a:solidFill>
                <a:effectLst/>
                <a:latin typeface="Consolas" panose="020B0609020204030204" pitchFamily="49" charset="0"/>
              </a:rPr>
              <a:t>def</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echo_all</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.reply_to</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"You</a:t>
            </a:r>
            <a:r>
              <a:rPr lang="en-US" b="0" dirty="0">
                <a:solidFill>
                  <a:srgbClr val="CE9178"/>
                </a:solidFill>
                <a:effectLst/>
                <a:latin typeface="Consolas" panose="020B0609020204030204" pitchFamily="49" charset="0"/>
              </a:rPr>
              <a:t> said: </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message</a:t>
            </a:r>
            <a:r>
              <a:rPr lang="en-US" b="0" dirty="0" err="1">
                <a:solidFill>
                  <a:srgbClr val="CCCCCC"/>
                </a:solidFill>
                <a:effectLst/>
                <a:latin typeface="Consolas" panose="020B0609020204030204" pitchFamily="49" charset="0"/>
              </a:rPr>
              <a:t>.text</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r>
              <a:rPr lang="en-US" b="0" dirty="0">
                <a:solidFill>
                  <a:srgbClr val="6A9955"/>
                </a:solidFill>
                <a:effectLst/>
                <a:latin typeface="Consolas" panose="020B0609020204030204" pitchFamily="49" charset="0"/>
              </a:rPr>
              <a:t># Poll the server for new messages</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"Bot is running... Press </a:t>
            </a:r>
            <a:r>
              <a:rPr lang="en-US" b="0" dirty="0" err="1">
                <a:solidFill>
                  <a:srgbClr val="CE9178"/>
                </a:solidFill>
                <a:effectLst/>
                <a:latin typeface="Consolas" panose="020B0609020204030204" pitchFamily="49" charset="0"/>
              </a:rPr>
              <a:t>Ctrl+C</a:t>
            </a:r>
            <a:r>
              <a:rPr lang="en-US" b="0" dirty="0">
                <a:solidFill>
                  <a:srgbClr val="CE9178"/>
                </a:solidFill>
                <a:effectLst/>
                <a:latin typeface="Consolas" panose="020B0609020204030204" pitchFamily="49" charset="0"/>
              </a:rPr>
              <a:t> to stop."</a:t>
            </a:r>
            <a:r>
              <a:rPr lang="en-US" b="0" dirty="0">
                <a:solidFill>
                  <a:srgbClr val="CCCCCC"/>
                </a:solidFill>
                <a:effectLst/>
                <a:latin typeface="Consolas" panose="020B0609020204030204" pitchFamily="49" charset="0"/>
              </a:rPr>
              <a:t>)</a:t>
            </a:r>
          </a:p>
          <a:p>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.polling</a:t>
            </a:r>
            <a:r>
              <a:rPr lang="en-US" b="0" dirty="0">
                <a:solidFill>
                  <a:srgbClr val="CCCCCC"/>
                </a:solidFill>
                <a:effectLst/>
                <a:latin typeface="Consolas" panose="020B0609020204030204" pitchFamily="49" charset="0"/>
              </a:rPr>
              <a:t>()</a:t>
            </a:r>
          </a:p>
        </p:txBody>
      </p:sp>
      <p:sp>
        <p:nvSpPr>
          <p:cNvPr id="5" name="Rectangle 1">
            <a:extLst>
              <a:ext uri="{FF2B5EF4-FFF2-40B4-BE49-F238E27FC236}">
                <a16:creationId xmlns:a16="http://schemas.microsoft.com/office/drawing/2014/main" id="{58B8CEFE-7942-23C1-3C5B-68354675B678}"/>
              </a:ext>
            </a:extLst>
          </p:cNvPr>
          <p:cNvSpPr>
            <a:spLocks noChangeArrowheads="1"/>
          </p:cNvSpPr>
          <p:nvPr/>
        </p:nvSpPr>
        <p:spPr bwMode="auto">
          <a:xfrm>
            <a:off x="1" y="4472027"/>
            <a:ext cx="12191999" cy="2341025"/>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ir"/>
              </a:rPr>
              <a:t>This code is a simple Telegram bot implemented using the </a:t>
            </a:r>
            <a:r>
              <a:rPr kumimoji="0" lang="en-US" altLang="en-US" sz="2500" b="0" i="0" u="none" strike="noStrike" cap="none" normalizeH="0" baseline="0" dirty="0" err="1">
                <a:ln>
                  <a:noFill/>
                </a:ln>
                <a:solidFill>
                  <a:schemeClr val="tx1"/>
                </a:solidFill>
                <a:effectLst/>
                <a:latin typeface="Calibir"/>
              </a:rPr>
              <a:t>telebot</a:t>
            </a:r>
            <a:r>
              <a:rPr kumimoji="0" lang="en-US" altLang="en-US" sz="2500" b="0" i="0" u="none" strike="noStrike" cap="none" normalizeH="0" baseline="0" dirty="0">
                <a:ln>
                  <a:noFill/>
                </a:ln>
                <a:solidFill>
                  <a:schemeClr val="tx1"/>
                </a:solidFill>
                <a:effectLst/>
                <a:latin typeface="Calibir"/>
              </a:rPr>
              <a:t> library. It initializes the bot with an API token and defines two functionalities: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500" b="1" i="0" u="none" strike="noStrike" cap="none" normalizeH="0" baseline="0" dirty="0">
                <a:ln>
                  <a:noFill/>
                </a:ln>
                <a:solidFill>
                  <a:schemeClr val="tx1"/>
                </a:solidFill>
                <a:effectLst/>
                <a:latin typeface="Calibir"/>
              </a:rPr>
              <a:t>Welcome Message</a:t>
            </a:r>
            <a:r>
              <a:rPr kumimoji="0" lang="en-US" altLang="en-US" sz="2500" b="0" i="0" u="none" strike="noStrike" cap="none" normalizeH="0" baseline="0" dirty="0">
                <a:ln>
                  <a:noFill/>
                </a:ln>
                <a:solidFill>
                  <a:schemeClr val="tx1"/>
                </a:solidFill>
                <a:effectLst/>
                <a:latin typeface="Calibir"/>
              </a:rPr>
              <a:t>: Responds with a greeting when the /start or /hello command is received.</a:t>
            </a:r>
          </a:p>
        </p:txBody>
      </p:sp>
      <p:sp>
        <p:nvSpPr>
          <p:cNvPr id="4" name="TextBox 3">
            <a:extLst>
              <a:ext uri="{FF2B5EF4-FFF2-40B4-BE49-F238E27FC236}">
                <a16:creationId xmlns:a16="http://schemas.microsoft.com/office/drawing/2014/main" id="{42A5920F-6B01-CB18-6402-5C37E61ADEF0}"/>
              </a:ext>
            </a:extLst>
          </p:cNvPr>
          <p:cNvSpPr txBox="1"/>
          <p:nvPr/>
        </p:nvSpPr>
        <p:spPr>
          <a:xfrm>
            <a:off x="7155542" y="0"/>
            <a:ext cx="5036457" cy="1761444"/>
          </a:xfrm>
          <a:prstGeom prst="rect">
            <a:avLst/>
          </a:prstGeom>
          <a:solidFill>
            <a:schemeClr val="bg1"/>
          </a:solidFill>
          <a:ln w="38100">
            <a:solidFill>
              <a:srgbClr val="FF0000"/>
            </a:solidFill>
          </a:ln>
        </p:spPr>
        <p:txBody>
          <a:bodyPr wrap="square">
            <a:spAutoFit/>
          </a:bodyPr>
          <a:lstStyle/>
          <a:p>
            <a:pPr>
              <a:lnSpc>
                <a:spcPct val="150000"/>
              </a:lnSpc>
            </a:pPr>
            <a:r>
              <a:rPr kumimoji="0" lang="en-US" altLang="en-US" sz="2500" b="0" i="0" u="none" strike="noStrike" cap="none" normalizeH="0" baseline="0" dirty="0">
                <a:ln>
                  <a:noFill/>
                </a:ln>
                <a:solidFill>
                  <a:schemeClr val="tx1"/>
                </a:solidFill>
                <a:effectLst/>
                <a:latin typeface="Calibir"/>
              </a:rPr>
              <a:t>Paste your API token (e.g., ….:ABCDEFGHIJKLMNOPQRSTUVWXYZ12345678) in here!</a:t>
            </a:r>
            <a:endParaRPr lang="en-AU" sz="2500" dirty="0"/>
          </a:p>
        </p:txBody>
      </p:sp>
      <p:sp>
        <p:nvSpPr>
          <p:cNvPr id="6" name="Rectangle: Rounded Corners 5">
            <a:extLst>
              <a:ext uri="{FF2B5EF4-FFF2-40B4-BE49-F238E27FC236}">
                <a16:creationId xmlns:a16="http://schemas.microsoft.com/office/drawing/2014/main" id="{4C6D1847-680B-E3E1-A5BD-7104E4A33587}"/>
              </a:ext>
            </a:extLst>
          </p:cNvPr>
          <p:cNvSpPr/>
          <p:nvPr/>
        </p:nvSpPr>
        <p:spPr>
          <a:xfrm>
            <a:off x="0" y="551543"/>
            <a:ext cx="6204857" cy="33382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8" name="Connector: Elbow 7">
            <a:extLst>
              <a:ext uri="{FF2B5EF4-FFF2-40B4-BE49-F238E27FC236}">
                <a16:creationId xmlns:a16="http://schemas.microsoft.com/office/drawing/2014/main" id="{B147D25F-4EB3-A008-7196-738C3A1AED82}"/>
              </a:ext>
            </a:extLst>
          </p:cNvPr>
          <p:cNvCxnSpPr>
            <a:stCxn id="4" idx="1"/>
          </p:cNvCxnSpPr>
          <p:nvPr/>
        </p:nvCxnSpPr>
        <p:spPr>
          <a:xfrm rot="10800000">
            <a:off x="6204858" y="602428"/>
            <a:ext cx="950685" cy="278294"/>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5975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8F089-1A67-D3EA-2A6D-2FEF9BFC7A06}"/>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CF461AE8-71EA-4A42-8F1A-97B6DDED663F}"/>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3" name="TextBox 2">
            <a:extLst>
              <a:ext uri="{FF2B5EF4-FFF2-40B4-BE49-F238E27FC236}">
                <a16:creationId xmlns:a16="http://schemas.microsoft.com/office/drawing/2014/main" id="{ADD7A116-BBFA-472D-296C-DBAC3F14AA1A}"/>
              </a:ext>
            </a:extLst>
          </p:cNvPr>
          <p:cNvSpPr txBox="1"/>
          <p:nvPr/>
        </p:nvSpPr>
        <p:spPr>
          <a:xfrm>
            <a:off x="0" y="0"/>
            <a:ext cx="12192000" cy="4524315"/>
          </a:xfrm>
          <a:prstGeom prst="rect">
            <a:avLst/>
          </a:prstGeom>
          <a:solidFill>
            <a:schemeClr val="tx1"/>
          </a:solidFill>
        </p:spPr>
        <p:txBody>
          <a:bodyPr wrap="square">
            <a:spAutoFit/>
          </a:bodyPr>
          <a:lstStyle/>
          <a:p>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telebot</a:t>
            </a:r>
            <a:endParaRPr lang="en-US" b="0" dirty="0">
              <a:solidFill>
                <a:srgbClr val="CCCCCC"/>
              </a:solidFill>
              <a:effectLst/>
              <a:latin typeface="Consolas" panose="020B0609020204030204" pitchFamily="49" charset="0"/>
            </a:endParaRPr>
          </a:p>
          <a:p>
            <a:r>
              <a:rPr lang="en-US" b="0" dirty="0">
                <a:solidFill>
                  <a:srgbClr val="6A9955"/>
                </a:solidFill>
                <a:effectLst/>
                <a:latin typeface="Consolas" panose="020B0609020204030204" pitchFamily="49" charset="0"/>
              </a:rPr>
              <a:t># Replace with your bot's API token</a:t>
            </a:r>
            <a:endParaRPr lang="en-US" b="0" dirty="0">
              <a:solidFill>
                <a:srgbClr val="CCCCCC"/>
              </a:solidFill>
              <a:effectLst/>
              <a:latin typeface="Consolas" panose="020B0609020204030204" pitchFamily="49" charset="0"/>
            </a:endParaRPr>
          </a:p>
          <a:p>
            <a:r>
              <a:rPr lang="en-US" b="0" dirty="0">
                <a:solidFill>
                  <a:srgbClr val="4FC1FF"/>
                </a:solidFill>
                <a:effectLst/>
                <a:latin typeface="Consolas" panose="020B0609020204030204" pitchFamily="49" charset="0"/>
              </a:rPr>
              <a:t>API_TOKEN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'Replace with your bot’s API token'</a:t>
            </a:r>
            <a:endParaRPr lang="en-US" b="0" dirty="0">
              <a:solidFill>
                <a:srgbClr val="CCCCCC"/>
              </a:solidFill>
              <a:effectLst/>
              <a:latin typeface="Consolas" panose="020B0609020204030204" pitchFamily="49" charset="0"/>
            </a:endParaRPr>
          </a:p>
          <a:p>
            <a:r>
              <a:rPr lang="en-US" b="0" dirty="0">
                <a:solidFill>
                  <a:srgbClr val="6A9955"/>
                </a:solidFill>
                <a:effectLst/>
                <a:latin typeface="Consolas" panose="020B0609020204030204" pitchFamily="49" charset="0"/>
              </a:rPr>
              <a:t># Initialize the bot</a:t>
            </a:r>
            <a:endParaRPr lang="en-US" b="0" dirty="0">
              <a:solidFill>
                <a:srgbClr val="CCCCCC"/>
              </a:solidFill>
              <a:effectLst/>
              <a:latin typeface="Consolas" panose="020B0609020204030204" pitchFamily="49" charset="0"/>
            </a:endParaRPr>
          </a:p>
          <a:p>
            <a:r>
              <a:rPr lang="en-US" b="0" dirty="0">
                <a:solidFill>
                  <a:srgbClr val="9CDCFE"/>
                </a:solidFill>
                <a:effectLst/>
                <a:latin typeface="Consolas" panose="020B0609020204030204" pitchFamily="49" charset="0"/>
              </a:rPr>
              <a:t>bot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telebot</a:t>
            </a:r>
            <a:r>
              <a:rPr lang="en-US" b="0" dirty="0" err="1">
                <a:solidFill>
                  <a:srgbClr val="CCCCCC"/>
                </a:solidFill>
                <a:effectLst/>
                <a:latin typeface="Consolas" panose="020B0609020204030204" pitchFamily="49" charset="0"/>
              </a:rPr>
              <a:t>.TeleBot</a:t>
            </a:r>
            <a:r>
              <a:rPr lang="en-US" b="0" dirty="0">
                <a:solidFill>
                  <a:srgbClr val="CCCCCC"/>
                </a:solidFill>
                <a:effectLst/>
                <a:latin typeface="Consolas" panose="020B0609020204030204" pitchFamily="49" charset="0"/>
              </a:rPr>
              <a:t>(</a:t>
            </a:r>
            <a:r>
              <a:rPr lang="en-US" b="0" dirty="0">
                <a:solidFill>
                  <a:srgbClr val="4FC1FF"/>
                </a:solidFill>
                <a:effectLst/>
                <a:latin typeface="Consolas" panose="020B0609020204030204" pitchFamily="49" charset="0"/>
              </a:rPr>
              <a:t>API_TOKEN</a:t>
            </a:r>
            <a:r>
              <a:rPr lang="en-US" b="0" dirty="0">
                <a:solidFill>
                  <a:srgbClr val="CCCCCC"/>
                </a:solidFill>
                <a:effectLst/>
                <a:latin typeface="Consolas" panose="020B0609020204030204" pitchFamily="49" charset="0"/>
              </a:rPr>
              <a:t>)</a:t>
            </a:r>
          </a:p>
          <a:p>
            <a:r>
              <a:rPr lang="en-US" b="0" dirty="0">
                <a:solidFill>
                  <a:srgbClr val="6A9955"/>
                </a:solidFill>
                <a:effectLst/>
                <a:latin typeface="Consolas" panose="020B0609020204030204" pitchFamily="49" charset="0"/>
              </a:rPr>
              <a:t># Command to handle the '/start' or '/hello' message</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a:t>
            </a:r>
            <a:r>
              <a:rPr lang="en-US" b="0" dirty="0">
                <a:solidFill>
                  <a:srgbClr val="9CDCFE"/>
                </a:solidFill>
                <a:effectLst/>
                <a:latin typeface="Consolas" panose="020B0609020204030204" pitchFamily="49" charset="0"/>
              </a:rPr>
              <a:t>bot</a:t>
            </a:r>
            <a:r>
              <a:rPr lang="en-US" b="0" dirty="0">
                <a:solidFill>
                  <a:srgbClr val="DCDCAA"/>
                </a:solidFill>
                <a:effectLst/>
                <a:latin typeface="Consolas" panose="020B0609020204030204" pitchFamily="49" charset="0"/>
              </a:rPr>
              <a:t>.message_handler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commands</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'start'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'hello'</a:t>
            </a:r>
            <a:r>
              <a:rPr lang="en-US" b="0" dirty="0">
                <a:solidFill>
                  <a:srgbClr val="CCCCCC"/>
                </a:solidFill>
                <a:effectLst/>
                <a:latin typeface="Consolas" panose="020B0609020204030204" pitchFamily="49" charset="0"/>
              </a:rPr>
              <a:t>])</a:t>
            </a:r>
          </a:p>
          <a:p>
            <a:r>
              <a:rPr lang="en-US" b="0" dirty="0">
                <a:solidFill>
                  <a:srgbClr val="569CD6"/>
                </a:solidFill>
                <a:effectLst/>
                <a:latin typeface="Consolas" panose="020B0609020204030204" pitchFamily="49" charset="0"/>
              </a:rPr>
              <a:t>def</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send_welcome</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.reply_to</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"Welcome to my bot, </a:t>
            </a:r>
            <a:r>
              <a:rPr lang="en-US" b="0" dirty="0" err="1">
                <a:solidFill>
                  <a:srgbClr val="CE9178"/>
                </a:solidFill>
                <a:effectLst/>
                <a:latin typeface="Consolas" panose="020B0609020204030204" pitchFamily="49" charset="0"/>
              </a:rPr>
              <a:t>Farshidkeivanian</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r>
              <a:rPr lang="en-US" b="0" dirty="0">
                <a:solidFill>
                  <a:srgbClr val="6A9955"/>
                </a:solidFill>
                <a:effectLst/>
                <a:latin typeface="Consolas" panose="020B0609020204030204" pitchFamily="49" charset="0"/>
              </a:rPr>
              <a:t># Command to handle text messages</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a:t>
            </a:r>
            <a:r>
              <a:rPr lang="en-US" b="0" dirty="0">
                <a:solidFill>
                  <a:srgbClr val="9CDCFE"/>
                </a:solidFill>
                <a:effectLst/>
                <a:latin typeface="Consolas" panose="020B0609020204030204" pitchFamily="49" charset="0"/>
              </a:rPr>
              <a:t>bot</a:t>
            </a:r>
            <a:r>
              <a:rPr lang="en-US" b="0" dirty="0">
                <a:solidFill>
                  <a:srgbClr val="DCDCAA"/>
                </a:solidFill>
                <a:effectLst/>
                <a:latin typeface="Consolas" panose="020B0609020204030204" pitchFamily="49" charset="0"/>
              </a:rPr>
              <a:t>.message_handler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func</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lambda</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True</a:t>
            </a:r>
            <a:r>
              <a:rPr lang="en-US" b="0" dirty="0">
                <a:solidFill>
                  <a:srgbClr val="CCCCCC"/>
                </a:solidFill>
                <a:effectLst/>
                <a:latin typeface="Consolas" panose="020B0609020204030204" pitchFamily="49" charset="0"/>
              </a:rPr>
              <a:t>)</a:t>
            </a:r>
          </a:p>
          <a:p>
            <a:r>
              <a:rPr lang="en-US" b="0" dirty="0">
                <a:solidFill>
                  <a:srgbClr val="569CD6"/>
                </a:solidFill>
                <a:effectLst/>
                <a:latin typeface="Consolas" panose="020B0609020204030204" pitchFamily="49" charset="0"/>
              </a:rPr>
              <a:t>def</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echo_all</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.reply_to</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"You</a:t>
            </a:r>
            <a:r>
              <a:rPr lang="en-US" b="0" dirty="0">
                <a:solidFill>
                  <a:srgbClr val="CE9178"/>
                </a:solidFill>
                <a:effectLst/>
                <a:latin typeface="Consolas" panose="020B0609020204030204" pitchFamily="49" charset="0"/>
              </a:rPr>
              <a:t> said: </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message</a:t>
            </a:r>
            <a:r>
              <a:rPr lang="en-US" b="0" dirty="0" err="1">
                <a:solidFill>
                  <a:srgbClr val="CCCCCC"/>
                </a:solidFill>
                <a:effectLst/>
                <a:latin typeface="Consolas" panose="020B0609020204030204" pitchFamily="49" charset="0"/>
              </a:rPr>
              <a:t>.text</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r>
              <a:rPr lang="en-US" b="0" dirty="0">
                <a:solidFill>
                  <a:srgbClr val="6A9955"/>
                </a:solidFill>
                <a:effectLst/>
                <a:latin typeface="Consolas" panose="020B0609020204030204" pitchFamily="49" charset="0"/>
              </a:rPr>
              <a:t># Poll the server for new messages</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"Bot is running... Press </a:t>
            </a:r>
            <a:r>
              <a:rPr lang="en-US" b="0" dirty="0" err="1">
                <a:solidFill>
                  <a:srgbClr val="CE9178"/>
                </a:solidFill>
                <a:effectLst/>
                <a:latin typeface="Consolas" panose="020B0609020204030204" pitchFamily="49" charset="0"/>
              </a:rPr>
              <a:t>Ctrl+C</a:t>
            </a:r>
            <a:r>
              <a:rPr lang="en-US" b="0" dirty="0">
                <a:solidFill>
                  <a:srgbClr val="CE9178"/>
                </a:solidFill>
                <a:effectLst/>
                <a:latin typeface="Consolas" panose="020B0609020204030204" pitchFamily="49" charset="0"/>
              </a:rPr>
              <a:t> to stop."</a:t>
            </a:r>
            <a:r>
              <a:rPr lang="en-US" b="0" dirty="0">
                <a:solidFill>
                  <a:srgbClr val="CCCCCC"/>
                </a:solidFill>
                <a:effectLst/>
                <a:latin typeface="Consolas" panose="020B0609020204030204" pitchFamily="49" charset="0"/>
              </a:rPr>
              <a:t>)</a:t>
            </a:r>
          </a:p>
          <a:p>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.polling</a:t>
            </a:r>
            <a:r>
              <a:rPr lang="en-US" b="0" dirty="0">
                <a:solidFill>
                  <a:srgbClr val="CCCCCC"/>
                </a:solidFill>
                <a:effectLst/>
                <a:latin typeface="Consolas" panose="020B0609020204030204" pitchFamily="49" charset="0"/>
              </a:rPr>
              <a:t>()</a:t>
            </a:r>
          </a:p>
        </p:txBody>
      </p:sp>
      <p:sp>
        <p:nvSpPr>
          <p:cNvPr id="5" name="Rectangle 1">
            <a:extLst>
              <a:ext uri="{FF2B5EF4-FFF2-40B4-BE49-F238E27FC236}">
                <a16:creationId xmlns:a16="http://schemas.microsoft.com/office/drawing/2014/main" id="{77472C9B-BDB5-989D-18A0-40F3D984EAAC}"/>
              </a:ext>
            </a:extLst>
          </p:cNvPr>
          <p:cNvSpPr>
            <a:spLocks noChangeArrowheads="1"/>
          </p:cNvSpPr>
          <p:nvPr/>
        </p:nvSpPr>
        <p:spPr bwMode="auto">
          <a:xfrm>
            <a:off x="1" y="4524315"/>
            <a:ext cx="12191999" cy="1815882"/>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514350" marR="0" lvl="0" indent="-514350" algn="l" defTabSz="914400" rtl="0" eaLnBrk="0" fontAlgn="base" latinLnBrk="0" hangingPunct="0">
              <a:spcBef>
                <a:spcPct val="0"/>
              </a:spcBef>
              <a:spcAft>
                <a:spcPct val="0"/>
              </a:spcAft>
              <a:buClrTx/>
              <a:buSzTx/>
              <a:buFont typeface="+mj-lt"/>
              <a:buAutoNum type="arabicPeriod" startAt="2"/>
              <a:tabLst/>
            </a:pPr>
            <a:r>
              <a:rPr kumimoji="0" lang="en-US" altLang="en-US" sz="2800" b="1" i="0" u="none" strike="noStrike" cap="none" normalizeH="0" baseline="0" dirty="0">
                <a:ln>
                  <a:noFill/>
                </a:ln>
                <a:solidFill>
                  <a:schemeClr val="tx1"/>
                </a:solidFill>
                <a:effectLst/>
                <a:latin typeface="Calibir"/>
              </a:rPr>
              <a:t>Echo Functionality</a:t>
            </a:r>
            <a:r>
              <a:rPr kumimoji="0" lang="en-US" altLang="en-US" sz="2800" b="0" i="0" u="none" strike="noStrike" cap="none" normalizeH="0" baseline="0" dirty="0">
                <a:ln>
                  <a:noFill/>
                </a:ln>
                <a:solidFill>
                  <a:schemeClr val="tx1"/>
                </a:solidFill>
                <a:effectLst/>
                <a:latin typeface="Calibir"/>
              </a:rPr>
              <a:t>: Replies to any text message by echoing it back to the sender.</a:t>
            </a:r>
          </a:p>
          <a:p>
            <a:pPr marL="0" marR="0" lvl="0" indent="0" algn="l" defTabSz="914400" rtl="0" eaLnBrk="0" fontAlgn="base" latinLnBrk="0" hangingPunct="0">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The bot continuously polls Telegram servers to handle incoming messages and run its defined actions.</a:t>
            </a:r>
          </a:p>
        </p:txBody>
      </p:sp>
    </p:spTree>
    <p:extLst>
      <p:ext uri="{BB962C8B-B14F-4D97-AF65-F5344CB8AC3E}">
        <p14:creationId xmlns:p14="http://schemas.microsoft.com/office/powerpoint/2010/main" val="24619053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2D7DD-7FDA-4952-356F-86D09C1D4435}"/>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DE0CEA1D-BA4B-9DFC-3700-79FC7018A6F1}"/>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pic>
        <p:nvPicPr>
          <p:cNvPr id="4" name="Picture 3">
            <a:extLst>
              <a:ext uri="{FF2B5EF4-FFF2-40B4-BE49-F238E27FC236}">
                <a16:creationId xmlns:a16="http://schemas.microsoft.com/office/drawing/2014/main" id="{7962101D-A98E-E762-50F6-E569CCE497F5}"/>
              </a:ext>
            </a:extLst>
          </p:cNvPr>
          <p:cNvPicPr>
            <a:picLocks noChangeAspect="1"/>
          </p:cNvPicPr>
          <p:nvPr/>
        </p:nvPicPr>
        <p:blipFill>
          <a:blip r:embed="rId2"/>
          <a:srcRect r="48589" b="11398"/>
          <a:stretch/>
        </p:blipFill>
        <p:spPr>
          <a:xfrm>
            <a:off x="2860920" y="602428"/>
            <a:ext cx="6470160" cy="6272249"/>
          </a:xfrm>
          <a:prstGeom prst="rect">
            <a:avLst/>
          </a:prstGeom>
        </p:spPr>
      </p:pic>
      <p:sp>
        <p:nvSpPr>
          <p:cNvPr id="2" name="Rectangle 1">
            <a:extLst>
              <a:ext uri="{FF2B5EF4-FFF2-40B4-BE49-F238E27FC236}">
                <a16:creationId xmlns:a16="http://schemas.microsoft.com/office/drawing/2014/main" id="{016495F8-36BE-4A6B-6E36-837C306AEE6A}"/>
              </a:ext>
            </a:extLst>
          </p:cNvPr>
          <p:cNvSpPr>
            <a:spLocks noChangeArrowheads="1"/>
          </p:cNvSpPr>
          <p:nvPr/>
        </p:nvSpPr>
        <p:spPr bwMode="auto">
          <a:xfrm>
            <a:off x="1" y="4423265"/>
            <a:ext cx="5196113" cy="1318181"/>
          </a:xfrm>
          <a:prstGeom prst="rect">
            <a:avLst/>
          </a:prstGeom>
          <a:solidFill>
            <a:schemeClr val="bg1"/>
          </a:solidFill>
          <a:ln w="38100">
            <a:solidFill>
              <a:schemeClr val="bg2"/>
            </a:solidFill>
          </a:ln>
          <a:effec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Calibir"/>
              </a:rPr>
              <a:t>It replies to any text message by echoing it back to the sender.</a:t>
            </a:r>
          </a:p>
        </p:txBody>
      </p:sp>
      <p:sp>
        <p:nvSpPr>
          <p:cNvPr id="6" name="TextBox 5">
            <a:extLst>
              <a:ext uri="{FF2B5EF4-FFF2-40B4-BE49-F238E27FC236}">
                <a16:creationId xmlns:a16="http://schemas.microsoft.com/office/drawing/2014/main" id="{6036E297-36AA-4CA7-D8BC-AB56A81E9D89}"/>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6975403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0DA4E-9C08-341F-22D9-3BF719040F95}"/>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23B1B223-1531-81D5-1105-34746EB1540A}"/>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7" name="Rectangle 1">
            <a:extLst>
              <a:ext uri="{FF2B5EF4-FFF2-40B4-BE49-F238E27FC236}">
                <a16:creationId xmlns:a16="http://schemas.microsoft.com/office/drawing/2014/main" id="{529979DD-9C33-DE09-E410-7BE336722D15}"/>
              </a:ext>
            </a:extLst>
          </p:cNvPr>
          <p:cNvSpPr>
            <a:spLocks noChangeArrowheads="1"/>
          </p:cNvSpPr>
          <p:nvPr/>
        </p:nvSpPr>
        <p:spPr bwMode="auto">
          <a:xfrm>
            <a:off x="0" y="992265"/>
            <a:ext cx="12192000" cy="5842497"/>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How It Works:</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Calibir"/>
              </a:rPr>
              <a:t>Start the Bot</a:t>
            </a:r>
            <a:r>
              <a:rPr kumimoji="0" lang="en-US" altLang="en-US" sz="2800" b="0" i="0" u="none" strike="noStrike" cap="none" normalizeH="0" baseline="0" dirty="0">
                <a:ln>
                  <a:noFill/>
                </a:ln>
                <a:solidFill>
                  <a:schemeClr val="tx1"/>
                </a:solidFill>
                <a:effectLst/>
                <a:latin typeface="Calibir"/>
              </a:rPr>
              <a:t>:</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Run the Python script.</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Your bot will start polling Telegram for new messages.</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Calibir"/>
              </a:rPr>
              <a:t>Interact with the Bot</a:t>
            </a:r>
            <a:r>
              <a:rPr kumimoji="0" lang="en-US" altLang="en-US" sz="2800" b="0" i="0" u="none" strike="noStrike" cap="none" normalizeH="0" baseline="0" dirty="0">
                <a:ln>
                  <a:noFill/>
                </a:ln>
                <a:solidFill>
                  <a:schemeClr val="tx1"/>
                </a:solidFill>
                <a:effectLst/>
                <a:latin typeface="Calibir"/>
              </a:rPr>
              <a:t>:</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Open Telegram and search for your bot using the username you set in </a:t>
            </a:r>
            <a:r>
              <a:rPr kumimoji="0" lang="en-US" altLang="en-US" sz="2800" b="0" i="0" u="none" strike="noStrike" cap="none" normalizeH="0" baseline="0" dirty="0" err="1">
                <a:ln>
                  <a:noFill/>
                </a:ln>
                <a:solidFill>
                  <a:schemeClr val="tx1"/>
                </a:solidFill>
                <a:effectLst/>
                <a:latin typeface="Calibir"/>
              </a:rPr>
              <a:t>BotFather</a:t>
            </a:r>
            <a:r>
              <a:rPr kumimoji="0" lang="en-US" altLang="en-US" sz="2800" b="0" i="0" u="none" strike="noStrike" cap="none" normalizeH="0" baseline="0" dirty="0">
                <a:ln>
                  <a:noFill/>
                </a:ln>
                <a:solidFill>
                  <a:schemeClr val="tx1"/>
                </a:solidFill>
                <a:effectLst/>
                <a:latin typeface="Calibir"/>
              </a:rPr>
              <a:t>.</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Send /start or /hello to see the bot respond.</a:t>
            </a:r>
          </a:p>
          <a:p>
            <a:pPr marL="914400" marR="0" lvl="1"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Any other text you send will be echoed back.</a:t>
            </a:r>
          </a:p>
        </p:txBody>
      </p:sp>
      <p:sp>
        <p:nvSpPr>
          <p:cNvPr id="4" name="TextBox 3">
            <a:extLst>
              <a:ext uri="{FF2B5EF4-FFF2-40B4-BE49-F238E27FC236}">
                <a16:creationId xmlns:a16="http://schemas.microsoft.com/office/drawing/2014/main" id="{1E9B2C48-83C7-34B8-3574-26D2067C4667}"/>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25033081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BB08D-BC90-FD48-6964-689A5E9C009A}"/>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92BBDBFA-A5C3-4A83-C0B8-495028B35AED}"/>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4" name="TextBox 3">
            <a:extLst>
              <a:ext uri="{FF2B5EF4-FFF2-40B4-BE49-F238E27FC236}">
                <a16:creationId xmlns:a16="http://schemas.microsoft.com/office/drawing/2014/main" id="{BE5CDDCE-7D47-0D0C-4D77-1DAE431D64F6}"/>
              </a:ext>
            </a:extLst>
          </p:cNvPr>
          <p:cNvSpPr txBox="1"/>
          <p:nvPr/>
        </p:nvSpPr>
        <p:spPr>
          <a:xfrm>
            <a:off x="0" y="1154082"/>
            <a:ext cx="12192000" cy="4549835"/>
          </a:xfrm>
          <a:prstGeom prst="rect">
            <a:avLst/>
          </a:prstGeom>
          <a:noFill/>
        </p:spPr>
        <p:txBody>
          <a:bodyPr wrap="square">
            <a:spAutoFit/>
          </a:bodyPr>
          <a:lstStyle/>
          <a:p>
            <a:pPr>
              <a:lnSpc>
                <a:spcPct val="150000"/>
              </a:lnSpc>
            </a:pPr>
            <a:r>
              <a:rPr lang="en-US" sz="2800" dirty="0">
                <a:latin typeface="Calibir"/>
              </a:rPr>
              <a:t>If someone knows your Telegram username, they can:</a:t>
            </a:r>
          </a:p>
          <a:p>
            <a:pPr marL="514350" indent="-514350">
              <a:lnSpc>
                <a:spcPct val="150000"/>
              </a:lnSpc>
              <a:buFont typeface="+mj-lt"/>
              <a:buAutoNum type="arabicPeriod"/>
            </a:pPr>
            <a:r>
              <a:rPr lang="en-US" sz="2800" dirty="0">
                <a:latin typeface="Calibir"/>
              </a:rPr>
              <a:t>Search for You on Telegram: Your username makes you searchable on Telegram. Anyone who enters your username in the search bar can find your profile and initiate a chat.</a:t>
            </a:r>
          </a:p>
          <a:p>
            <a:pPr marL="514350" indent="-514350">
              <a:lnSpc>
                <a:spcPct val="150000"/>
              </a:lnSpc>
              <a:buFont typeface="+mj-lt"/>
              <a:buAutoNum type="arabicPeriod"/>
            </a:pPr>
            <a:r>
              <a:rPr lang="en-US" sz="2800" dirty="0">
                <a:latin typeface="Calibir"/>
              </a:rPr>
              <a:t>Send Messages: People can send you messages directly, even if they don't have your phone number. However, they won’t see your phone number unless you explicitly share it with them.</a:t>
            </a:r>
          </a:p>
        </p:txBody>
      </p:sp>
      <p:sp>
        <p:nvSpPr>
          <p:cNvPr id="5" name="TextBox 4">
            <a:extLst>
              <a:ext uri="{FF2B5EF4-FFF2-40B4-BE49-F238E27FC236}">
                <a16:creationId xmlns:a16="http://schemas.microsoft.com/office/drawing/2014/main" id="{BCF45E04-B49F-38AE-BC7D-D0FA9892EA5B}"/>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34731918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F0663-1DCA-4BD6-F94A-D86A3D8DA307}"/>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B046E5F9-288E-A755-CBC2-DDD03A52E211}"/>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4" name="TextBox 3">
            <a:extLst>
              <a:ext uri="{FF2B5EF4-FFF2-40B4-BE49-F238E27FC236}">
                <a16:creationId xmlns:a16="http://schemas.microsoft.com/office/drawing/2014/main" id="{C657BD41-2D3D-4543-7E6A-ABD997ABC684}"/>
              </a:ext>
            </a:extLst>
          </p:cNvPr>
          <p:cNvSpPr txBox="1"/>
          <p:nvPr/>
        </p:nvSpPr>
        <p:spPr>
          <a:xfrm>
            <a:off x="0" y="1059406"/>
            <a:ext cx="12192000" cy="5196166"/>
          </a:xfrm>
          <a:prstGeom prst="rect">
            <a:avLst/>
          </a:prstGeom>
          <a:noFill/>
        </p:spPr>
        <p:txBody>
          <a:bodyPr wrap="square">
            <a:spAutoFit/>
          </a:bodyPr>
          <a:lstStyle/>
          <a:p>
            <a:pPr>
              <a:lnSpc>
                <a:spcPct val="150000"/>
              </a:lnSpc>
            </a:pPr>
            <a:r>
              <a:rPr lang="en-US" sz="2800" b="1" dirty="0">
                <a:latin typeface="Calibir"/>
              </a:rPr>
              <a:t>How to Control Who Can Message You</a:t>
            </a:r>
          </a:p>
          <a:p>
            <a:pPr>
              <a:lnSpc>
                <a:spcPct val="150000"/>
              </a:lnSpc>
            </a:pPr>
            <a:r>
              <a:rPr lang="en-US" sz="2800" dirty="0">
                <a:latin typeface="Calibir"/>
              </a:rPr>
              <a:t>Telegram provides privacy settings to manage this:</a:t>
            </a:r>
          </a:p>
          <a:p>
            <a:pPr marL="514350" indent="-514350">
              <a:lnSpc>
                <a:spcPct val="150000"/>
              </a:lnSpc>
              <a:buFont typeface="+mj-lt"/>
              <a:buAutoNum type="arabicPeriod"/>
            </a:pPr>
            <a:r>
              <a:rPr lang="en-US" sz="2800" b="1" dirty="0">
                <a:latin typeface="Calibir"/>
              </a:rPr>
              <a:t>Restrict Who Can Message You</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Go to </a:t>
            </a:r>
            <a:r>
              <a:rPr lang="en-US" sz="2800" b="1" dirty="0">
                <a:latin typeface="Calibir"/>
              </a:rPr>
              <a:t>Settings</a:t>
            </a:r>
            <a:r>
              <a:rPr lang="en-US" sz="2800" dirty="0">
                <a:latin typeface="Calibir"/>
              </a:rPr>
              <a:t> → </a:t>
            </a:r>
            <a:r>
              <a:rPr lang="en-US" sz="2800" b="1" dirty="0">
                <a:latin typeface="Calibir"/>
              </a:rPr>
              <a:t>Privacy and Security</a:t>
            </a:r>
            <a:r>
              <a:rPr lang="en-US" sz="2800" dirty="0">
                <a:latin typeface="Calibir"/>
              </a:rPr>
              <a:t> → </a:t>
            </a:r>
            <a:r>
              <a:rPr lang="en-US" sz="2800" b="1" dirty="0">
                <a:latin typeface="Calibir"/>
              </a:rPr>
              <a:t>Who Can Find Me By My Number?</a:t>
            </a:r>
            <a:r>
              <a:rPr lang="en-US" sz="2800" dirty="0">
                <a:latin typeface="Calibir"/>
              </a:rPr>
              <a:t> or similar settings.</a:t>
            </a:r>
          </a:p>
          <a:p>
            <a:pPr marL="914400" lvl="1" indent="-457200">
              <a:lnSpc>
                <a:spcPct val="150000"/>
              </a:lnSpc>
              <a:buFont typeface="Arial" panose="020B0604020202020204" pitchFamily="34" charset="0"/>
              <a:buChar char="•"/>
            </a:pPr>
            <a:r>
              <a:rPr lang="en-US" sz="2800" dirty="0">
                <a:latin typeface="Calibir"/>
              </a:rPr>
              <a:t>Adjust settings for messages, calls, and group invitations. For example, you can limit who can contact you by choosing options like "My Contacts" or "Nobody."</a:t>
            </a:r>
          </a:p>
        </p:txBody>
      </p:sp>
      <p:sp>
        <p:nvSpPr>
          <p:cNvPr id="5" name="TextBox 4">
            <a:extLst>
              <a:ext uri="{FF2B5EF4-FFF2-40B4-BE49-F238E27FC236}">
                <a16:creationId xmlns:a16="http://schemas.microsoft.com/office/drawing/2014/main" id="{9B6E52C4-FF2D-4B9B-F90C-0EB8673C780F}"/>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4133327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F7591-FD55-035F-0B79-CE9C61F97C68}"/>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F531C1FA-CE80-D76D-C8C6-FFFC981F2B32}"/>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4" name="TextBox 3">
            <a:extLst>
              <a:ext uri="{FF2B5EF4-FFF2-40B4-BE49-F238E27FC236}">
                <a16:creationId xmlns:a16="http://schemas.microsoft.com/office/drawing/2014/main" id="{07A96CF1-39C7-2C7A-DF67-4AF08F80E2D9}"/>
              </a:ext>
            </a:extLst>
          </p:cNvPr>
          <p:cNvSpPr txBox="1"/>
          <p:nvPr/>
        </p:nvSpPr>
        <p:spPr>
          <a:xfrm>
            <a:off x="0" y="992265"/>
            <a:ext cx="12192000" cy="3903504"/>
          </a:xfrm>
          <a:prstGeom prst="rect">
            <a:avLst/>
          </a:prstGeom>
          <a:noFill/>
        </p:spPr>
        <p:txBody>
          <a:bodyPr wrap="square">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2"/>
              <a:tabLst/>
            </a:pPr>
            <a:r>
              <a:rPr kumimoji="0" lang="en-US" altLang="en-US" sz="2800" b="1" i="0" u="none" strike="noStrike" cap="none" normalizeH="0" baseline="0" dirty="0">
                <a:ln>
                  <a:noFill/>
                </a:ln>
                <a:solidFill>
                  <a:schemeClr val="tx1"/>
                </a:solidFill>
                <a:effectLst/>
                <a:latin typeface="Calibir"/>
              </a:rPr>
              <a:t>Block Specific Users</a:t>
            </a:r>
            <a:r>
              <a:rPr kumimoji="0" lang="en-US" altLang="en-US" sz="2800" b="0" i="0" u="none" strike="noStrike" cap="none" normalizeH="0" baseline="0" dirty="0">
                <a:ln>
                  <a:noFill/>
                </a:ln>
                <a:solidFill>
                  <a:schemeClr val="tx1"/>
                </a:solidFill>
                <a:effectLst/>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Calibir"/>
              </a:rPr>
              <a:t>If someone contacts you and you don’t want to communicate with them, open their chat, tap their name or profile, and select </a:t>
            </a:r>
            <a:r>
              <a:rPr kumimoji="0" lang="en-US" altLang="en-US" sz="2800" b="1" i="0" u="none" strike="noStrike" cap="none" normalizeH="0" baseline="0" dirty="0">
                <a:ln>
                  <a:noFill/>
                </a:ln>
                <a:solidFill>
                  <a:schemeClr val="tx1"/>
                </a:solidFill>
                <a:effectLst/>
                <a:latin typeface="Calibir"/>
              </a:rPr>
              <a:t>Block User</a:t>
            </a:r>
            <a:r>
              <a:rPr kumimoji="0" lang="en-US" altLang="en-US" sz="2800" b="0" i="0" u="none" strike="noStrike" cap="none" normalizeH="0" baseline="0" dirty="0">
                <a:ln>
                  <a:noFill/>
                </a:ln>
                <a:solidFill>
                  <a:schemeClr val="tx1"/>
                </a:solidFill>
                <a:effectLst/>
                <a:latin typeface="Calibir"/>
              </a:rPr>
              <a:t>.</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3"/>
              <a:tabLst/>
            </a:pPr>
            <a:r>
              <a:rPr kumimoji="0" lang="en-US" altLang="en-US" sz="2800" b="1" i="0" u="none" strike="noStrike" cap="none" normalizeH="0" baseline="0" dirty="0">
                <a:ln>
                  <a:noFill/>
                </a:ln>
                <a:solidFill>
                  <a:schemeClr val="tx1"/>
                </a:solidFill>
                <a:effectLst/>
                <a:latin typeface="Calibir"/>
              </a:rPr>
              <a:t>Enable Two-Step Verification</a:t>
            </a:r>
            <a:r>
              <a:rPr kumimoji="0" lang="en-US" altLang="en-US" sz="2800" b="0" i="0" u="none" strike="noStrike" cap="none" normalizeH="0" baseline="0" dirty="0">
                <a:ln>
                  <a:noFill/>
                </a:ln>
                <a:solidFill>
                  <a:schemeClr val="tx1"/>
                </a:solidFill>
                <a:effectLst/>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Calibir"/>
              </a:rPr>
              <a:t>Add an additional password to your Telegram account for enhanced security: </a:t>
            </a:r>
            <a:r>
              <a:rPr kumimoji="0" lang="en-US" altLang="en-US" sz="2800" b="1" i="0" u="none" strike="noStrike" cap="none" normalizeH="0" baseline="0" dirty="0">
                <a:ln>
                  <a:noFill/>
                </a:ln>
                <a:solidFill>
                  <a:schemeClr val="tx1"/>
                </a:solidFill>
                <a:effectLst/>
                <a:latin typeface="Calibir"/>
              </a:rPr>
              <a:t>Settings</a:t>
            </a:r>
            <a:r>
              <a:rPr kumimoji="0" lang="en-US" altLang="en-US" sz="2800" b="0" i="0" u="none" strike="noStrike" cap="none" normalizeH="0" baseline="0" dirty="0">
                <a:ln>
                  <a:noFill/>
                </a:ln>
                <a:solidFill>
                  <a:schemeClr val="tx1"/>
                </a:solidFill>
                <a:effectLst/>
                <a:latin typeface="Calibir"/>
              </a:rPr>
              <a:t> → </a:t>
            </a:r>
            <a:r>
              <a:rPr kumimoji="0" lang="en-US" altLang="en-US" sz="2800" b="1" i="0" u="none" strike="noStrike" cap="none" normalizeH="0" baseline="0" dirty="0">
                <a:ln>
                  <a:noFill/>
                </a:ln>
                <a:solidFill>
                  <a:schemeClr val="tx1"/>
                </a:solidFill>
                <a:effectLst/>
                <a:latin typeface="Calibir"/>
              </a:rPr>
              <a:t>Privacy and Security</a:t>
            </a:r>
            <a:r>
              <a:rPr kumimoji="0" lang="en-US" altLang="en-US" sz="2800" b="0" i="0" u="none" strike="noStrike" cap="none" normalizeH="0" baseline="0" dirty="0">
                <a:ln>
                  <a:noFill/>
                </a:ln>
                <a:solidFill>
                  <a:schemeClr val="tx1"/>
                </a:solidFill>
                <a:effectLst/>
                <a:latin typeface="Calibir"/>
              </a:rPr>
              <a:t> → </a:t>
            </a:r>
            <a:r>
              <a:rPr kumimoji="0" lang="en-US" altLang="en-US" sz="2800" b="1" i="0" u="none" strike="noStrike" cap="none" normalizeH="0" baseline="0" dirty="0">
                <a:ln>
                  <a:noFill/>
                </a:ln>
                <a:solidFill>
                  <a:schemeClr val="tx1"/>
                </a:solidFill>
                <a:effectLst/>
                <a:latin typeface="Calibir"/>
              </a:rPr>
              <a:t>Two-Step Verification</a:t>
            </a:r>
            <a:r>
              <a:rPr kumimoji="0" lang="en-US" altLang="en-US" sz="2800" b="0" i="0" u="none" strike="noStrike" cap="none" normalizeH="0" baseline="0" dirty="0">
                <a:ln>
                  <a:noFill/>
                </a:ln>
                <a:solidFill>
                  <a:schemeClr val="tx1"/>
                </a:solidFill>
                <a:effectLst/>
                <a:latin typeface="Calibir"/>
              </a:rPr>
              <a:t>.</a:t>
            </a:r>
          </a:p>
        </p:txBody>
      </p:sp>
      <p:sp>
        <p:nvSpPr>
          <p:cNvPr id="5" name="TextBox 4">
            <a:extLst>
              <a:ext uri="{FF2B5EF4-FFF2-40B4-BE49-F238E27FC236}">
                <a16:creationId xmlns:a16="http://schemas.microsoft.com/office/drawing/2014/main" id="{A91F2BEB-2163-F3BC-55EA-49EC41928CBB}"/>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40985742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01689-84B6-9F4B-D12C-DB0AD4053D4B}"/>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0296EC3-34CE-021E-57CE-425B46876D17}"/>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4" name="TextBox 3">
            <a:extLst>
              <a:ext uri="{FF2B5EF4-FFF2-40B4-BE49-F238E27FC236}">
                <a16:creationId xmlns:a16="http://schemas.microsoft.com/office/drawing/2014/main" id="{1F385B46-0C58-B966-FB1D-DF6A9D0FA1CB}"/>
              </a:ext>
            </a:extLst>
          </p:cNvPr>
          <p:cNvSpPr txBox="1"/>
          <p:nvPr/>
        </p:nvSpPr>
        <p:spPr>
          <a:xfrm>
            <a:off x="0" y="1013075"/>
            <a:ext cx="12192000" cy="2610843"/>
          </a:xfrm>
          <a:prstGeom prst="rect">
            <a:avLst/>
          </a:prstGeom>
          <a:noFill/>
        </p:spPr>
        <p:txBody>
          <a:bodyPr wrap="square">
            <a:spAutoFit/>
          </a:bodyPr>
          <a:lstStyle/>
          <a:p>
            <a:pPr>
              <a:lnSpc>
                <a:spcPct val="150000"/>
              </a:lnSpc>
            </a:pPr>
            <a:r>
              <a:rPr lang="en-US" sz="2800" b="1" dirty="0">
                <a:latin typeface="Calibir"/>
              </a:rPr>
              <a:t>If You Don't Want to Be Contacted by Everyone:</a:t>
            </a:r>
          </a:p>
          <a:p>
            <a:pPr marL="914400" lvl="1" indent="-457200">
              <a:lnSpc>
                <a:spcPct val="150000"/>
              </a:lnSpc>
              <a:buFont typeface="Arial" panose="020B0604020202020204" pitchFamily="34" charset="0"/>
              <a:buChar char="•"/>
            </a:pPr>
            <a:r>
              <a:rPr lang="en-US" sz="2800" dirty="0">
                <a:latin typeface="Calibir"/>
              </a:rPr>
              <a:t>Avoid sharing your </a:t>
            </a:r>
            <a:r>
              <a:rPr lang="en-US" sz="2800" b="1" dirty="0">
                <a:latin typeface="Calibir"/>
              </a:rPr>
              <a:t>username</a:t>
            </a:r>
            <a:r>
              <a:rPr lang="en-US" sz="2800" dirty="0">
                <a:latin typeface="Calibir"/>
              </a:rPr>
              <a:t> publicly or with untrusted individuals.</a:t>
            </a:r>
          </a:p>
          <a:p>
            <a:pPr marL="914400" lvl="1" indent="-457200">
              <a:lnSpc>
                <a:spcPct val="150000"/>
              </a:lnSpc>
              <a:buFont typeface="Arial" panose="020B0604020202020204" pitchFamily="34" charset="0"/>
              <a:buChar char="•"/>
            </a:pPr>
            <a:r>
              <a:rPr lang="en-US" sz="2800" dirty="0">
                <a:latin typeface="Calibir"/>
              </a:rPr>
              <a:t>You can remove your username altogether in </a:t>
            </a:r>
            <a:r>
              <a:rPr lang="en-US" sz="2800" b="1" dirty="0">
                <a:latin typeface="Calibir"/>
              </a:rPr>
              <a:t>Settings</a:t>
            </a:r>
            <a:r>
              <a:rPr lang="en-US" sz="2800" dirty="0">
                <a:latin typeface="Calibir"/>
              </a:rPr>
              <a:t> → </a:t>
            </a:r>
            <a:r>
              <a:rPr lang="en-US" sz="2800" b="1" dirty="0">
                <a:latin typeface="Calibir"/>
              </a:rPr>
              <a:t>Edit Profile</a:t>
            </a:r>
            <a:r>
              <a:rPr lang="en-US" sz="2800" dirty="0">
                <a:latin typeface="Calibir"/>
              </a:rPr>
              <a:t>, which will make it impossible for others to find you by username.</a:t>
            </a:r>
          </a:p>
        </p:txBody>
      </p:sp>
      <p:sp>
        <p:nvSpPr>
          <p:cNvPr id="5" name="TextBox 4">
            <a:extLst>
              <a:ext uri="{FF2B5EF4-FFF2-40B4-BE49-F238E27FC236}">
                <a16:creationId xmlns:a16="http://schemas.microsoft.com/office/drawing/2014/main" id="{4FBB0387-743E-7D2E-DD10-590E00F7B5F8}"/>
              </a:ext>
            </a:extLst>
          </p:cNvPr>
          <p:cNvSpPr txBox="1"/>
          <p:nvPr/>
        </p:nvSpPr>
        <p:spPr>
          <a:xfrm>
            <a:off x="-4916" y="49658"/>
            <a:ext cx="12196916" cy="523220"/>
          </a:xfrm>
          <a:prstGeom prst="rect">
            <a:avLst/>
          </a:prstGeom>
          <a:noFill/>
        </p:spPr>
        <p:txBody>
          <a:bodyPr wrap="square">
            <a:spAutoFit/>
          </a:bodyPr>
          <a:lstStyle/>
          <a:p>
            <a:r>
              <a:rPr lang="en-US" sz="2800" b="1" dirty="0"/>
              <a:t>Week 1 Hands-On: Build Your First Simple Language Bot</a:t>
            </a:r>
            <a:endParaRPr lang="en-US" sz="2800" dirty="0"/>
          </a:p>
        </p:txBody>
      </p:sp>
    </p:spTree>
    <p:extLst>
      <p:ext uri="{BB962C8B-B14F-4D97-AF65-F5344CB8AC3E}">
        <p14:creationId xmlns:p14="http://schemas.microsoft.com/office/powerpoint/2010/main" val="1671172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C6379-7AFE-EE50-4733-555CD29CB4B0}"/>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C74EAF98-28F1-440C-4C3F-338EC689B01E}"/>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4" name="TextBox 3">
            <a:extLst>
              <a:ext uri="{FF2B5EF4-FFF2-40B4-BE49-F238E27FC236}">
                <a16:creationId xmlns:a16="http://schemas.microsoft.com/office/drawing/2014/main" id="{66CA26D6-5327-9601-1DE5-51405D073557}"/>
              </a:ext>
            </a:extLst>
          </p:cNvPr>
          <p:cNvSpPr txBox="1"/>
          <p:nvPr/>
        </p:nvSpPr>
        <p:spPr>
          <a:xfrm>
            <a:off x="0" y="915585"/>
            <a:ext cx="12192000" cy="1964512"/>
          </a:xfrm>
          <a:prstGeom prst="rect">
            <a:avLst/>
          </a:prstGeom>
          <a:noFill/>
        </p:spPr>
        <p:txBody>
          <a:bodyPr wrap="square">
            <a:spAutoFit/>
          </a:bodyPr>
          <a:lstStyle/>
          <a:p>
            <a:pPr>
              <a:lnSpc>
                <a:spcPct val="150000"/>
              </a:lnSpc>
            </a:pPr>
            <a:r>
              <a:rPr lang="en-US" sz="2800" b="1" dirty="0">
                <a:latin typeface="Calibir"/>
              </a:rPr>
              <a:t>Class Activity: Handle Additional Commands</a:t>
            </a:r>
          </a:p>
          <a:p>
            <a:pPr>
              <a:lnSpc>
                <a:spcPct val="150000"/>
              </a:lnSpc>
            </a:pPr>
            <a:r>
              <a:rPr lang="en-US" sz="2800" dirty="0">
                <a:latin typeface="Calibir"/>
              </a:rPr>
              <a:t>Students can modify the code to handle more commands, such as providing bot information or fun responses. Here's an example:</a:t>
            </a:r>
          </a:p>
        </p:txBody>
      </p:sp>
      <p:sp>
        <p:nvSpPr>
          <p:cNvPr id="3" name="Rectangle 1">
            <a:extLst>
              <a:ext uri="{FF2B5EF4-FFF2-40B4-BE49-F238E27FC236}">
                <a16:creationId xmlns:a16="http://schemas.microsoft.com/office/drawing/2014/main" id="{30067CCB-F26C-348E-1108-6F0545EC3474}"/>
              </a:ext>
            </a:extLst>
          </p:cNvPr>
          <p:cNvSpPr>
            <a:spLocks noChangeArrowheads="1"/>
          </p:cNvSpPr>
          <p:nvPr/>
        </p:nvSpPr>
        <p:spPr bwMode="auto">
          <a:xfrm>
            <a:off x="0" y="3079446"/>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Activity Goal: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Review commands (/info, /help) added to the bot for additional functionalities.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800" dirty="0">
                <a:latin typeface="Calibir"/>
              </a:rPr>
              <a:t>Run and explain its functionalities</a:t>
            </a:r>
            <a:endParaRPr kumimoji="0" lang="en-US" altLang="en-US" sz="2800" b="0" i="0" u="none" strike="noStrike" cap="none" normalizeH="0" baseline="0" dirty="0">
              <a:ln>
                <a:noFill/>
              </a:ln>
              <a:solidFill>
                <a:schemeClr val="tx1"/>
              </a:solidFill>
              <a:effectLst/>
              <a:latin typeface="Calibir"/>
            </a:endParaRPr>
          </a:p>
        </p:txBody>
      </p:sp>
      <p:sp>
        <p:nvSpPr>
          <p:cNvPr id="11" name="TextBox 10">
            <a:extLst>
              <a:ext uri="{FF2B5EF4-FFF2-40B4-BE49-F238E27FC236}">
                <a16:creationId xmlns:a16="http://schemas.microsoft.com/office/drawing/2014/main" id="{86483639-7898-A2E4-6292-65367E756EE1}"/>
              </a:ext>
            </a:extLst>
          </p:cNvPr>
          <p:cNvSpPr txBox="1"/>
          <p:nvPr/>
        </p:nvSpPr>
        <p:spPr>
          <a:xfrm>
            <a:off x="-4916" y="49658"/>
            <a:ext cx="12196916" cy="523220"/>
          </a:xfrm>
          <a:prstGeom prst="rect">
            <a:avLst/>
          </a:prstGeom>
          <a:noFill/>
        </p:spPr>
        <p:txBody>
          <a:bodyPr wrap="square">
            <a:spAutoFit/>
          </a:bodyPr>
          <a:lstStyle/>
          <a:p>
            <a:r>
              <a:rPr lang="en-US" sz="2800" b="1" dirty="0"/>
              <a:t>Week 1 Hands-On Activity: Extend Your Telegram Bot</a:t>
            </a:r>
            <a:endParaRPr lang="en-US" sz="2800" dirty="0"/>
          </a:p>
        </p:txBody>
      </p:sp>
    </p:spTree>
    <p:extLst>
      <p:ext uri="{BB962C8B-B14F-4D97-AF65-F5344CB8AC3E}">
        <p14:creationId xmlns:p14="http://schemas.microsoft.com/office/powerpoint/2010/main" val="2072839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ABFEB-2006-A5DD-A54C-3814D9F7894C}"/>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CABCF00-6113-F717-6865-BC874B3302CB}"/>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6" name="TextBox 5">
            <a:extLst>
              <a:ext uri="{FF2B5EF4-FFF2-40B4-BE49-F238E27FC236}">
                <a16:creationId xmlns:a16="http://schemas.microsoft.com/office/drawing/2014/main" id="{04118F1C-AF30-9661-5AC0-2438D19F40EC}"/>
              </a:ext>
            </a:extLst>
          </p:cNvPr>
          <p:cNvSpPr txBox="1"/>
          <p:nvPr/>
        </p:nvSpPr>
        <p:spPr>
          <a:xfrm>
            <a:off x="0" y="0"/>
            <a:ext cx="12192000" cy="6740307"/>
          </a:xfrm>
          <a:prstGeom prst="rect">
            <a:avLst/>
          </a:prstGeom>
          <a:solidFill>
            <a:schemeClr val="tx1"/>
          </a:solidFill>
        </p:spPr>
        <p:txBody>
          <a:bodyPr wrap="square">
            <a:spAutoFit/>
          </a:bodyPr>
          <a:lstStyle/>
          <a:p>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telebot</a:t>
            </a:r>
            <a:endParaRPr lang="en-US" b="0" dirty="0">
              <a:solidFill>
                <a:srgbClr val="CCCCCC"/>
              </a:solidFill>
              <a:effectLst/>
              <a:latin typeface="Consolas" panose="020B0609020204030204" pitchFamily="49" charset="0"/>
            </a:endParaRPr>
          </a:p>
          <a:p>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Replace with your bot's API token</a:t>
            </a:r>
            <a:endParaRPr lang="en-US" b="0" dirty="0">
              <a:solidFill>
                <a:srgbClr val="CCCCCC"/>
              </a:solidFill>
              <a:effectLst/>
              <a:latin typeface="Consolas" panose="020B0609020204030204" pitchFamily="49" charset="0"/>
            </a:endParaRPr>
          </a:p>
          <a:p>
            <a:r>
              <a:rPr lang="en-US" b="0" dirty="0">
                <a:solidFill>
                  <a:srgbClr val="4FC1FF"/>
                </a:solidFill>
                <a:effectLst/>
                <a:latin typeface="Consolas" panose="020B0609020204030204" pitchFamily="49" charset="0"/>
              </a:rPr>
              <a:t>API_TOKEN</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a:solidFill>
                  <a:srgbClr val="6A9955"/>
                </a:solidFill>
                <a:effectLst/>
                <a:latin typeface="Consolas" panose="020B0609020204030204" pitchFamily="49" charset="0"/>
              </a:rPr>
              <a:t>Replace with your bot's API token</a:t>
            </a:r>
            <a:r>
              <a:rPr lang="en-US" b="0" dirty="0">
                <a:solidFill>
                  <a:srgbClr val="CE9178"/>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Initialize the bot</a:t>
            </a:r>
            <a:endParaRPr lang="en-US" b="0" dirty="0">
              <a:solidFill>
                <a:srgbClr val="CCCCCC"/>
              </a:solidFill>
              <a:effectLst/>
              <a:latin typeface="Consolas" panose="020B0609020204030204" pitchFamily="49" charset="0"/>
            </a:endParaRPr>
          </a:p>
          <a:p>
            <a:r>
              <a:rPr lang="en-US" b="0" dirty="0">
                <a:solidFill>
                  <a:srgbClr val="9CDCFE"/>
                </a:solidFill>
                <a:effectLst/>
                <a:latin typeface="Consolas" panose="020B0609020204030204" pitchFamily="49" charset="0"/>
              </a:rPr>
              <a:t>bot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telebot</a:t>
            </a:r>
            <a:r>
              <a:rPr lang="en-US" b="0" dirty="0" err="1">
                <a:solidFill>
                  <a:srgbClr val="CCCCCC"/>
                </a:solidFill>
                <a:effectLst/>
                <a:latin typeface="Consolas" panose="020B0609020204030204" pitchFamily="49" charset="0"/>
              </a:rPr>
              <a:t>.TeleBot</a:t>
            </a:r>
            <a:r>
              <a:rPr lang="en-US" b="0" dirty="0">
                <a:solidFill>
                  <a:srgbClr val="CCCCCC"/>
                </a:solidFill>
                <a:effectLst/>
                <a:latin typeface="Consolas" panose="020B0609020204030204" pitchFamily="49" charset="0"/>
              </a:rPr>
              <a:t>(</a:t>
            </a:r>
            <a:r>
              <a:rPr lang="en-US" b="0" dirty="0">
                <a:solidFill>
                  <a:srgbClr val="4FC1FF"/>
                </a:solidFill>
                <a:effectLst/>
                <a:latin typeface="Consolas" panose="020B0609020204030204" pitchFamily="49" charset="0"/>
              </a:rPr>
              <a:t>API_TOKEN</a:t>
            </a:r>
            <a:r>
              <a:rPr lang="en-US" b="0" dirty="0">
                <a:solidFill>
                  <a:srgbClr val="CCCCCC"/>
                </a:solidFill>
                <a:effectLst/>
                <a:latin typeface="Consolas" panose="020B0609020204030204" pitchFamily="49" charset="0"/>
              </a:rPr>
              <a:t>)</a:t>
            </a:r>
          </a:p>
          <a:p>
            <a:br>
              <a:rPr lang="en-US" b="0" dirty="0">
                <a:solidFill>
                  <a:srgbClr val="CCCCCC"/>
                </a:solidFill>
                <a:effectLst/>
                <a:latin typeface="Consolas" panose="020B0609020204030204" pitchFamily="49" charset="0"/>
              </a:rPr>
            </a:br>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Command to handle the '/start' or '/hello' message</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a:t>
            </a:r>
            <a:r>
              <a:rPr lang="en-US" b="0" dirty="0">
                <a:solidFill>
                  <a:srgbClr val="9CDCFE"/>
                </a:solidFill>
                <a:effectLst/>
                <a:latin typeface="Consolas" panose="020B0609020204030204" pitchFamily="49" charset="0"/>
              </a:rPr>
              <a:t>bot</a:t>
            </a:r>
            <a:r>
              <a:rPr lang="en-US" b="0" dirty="0">
                <a:solidFill>
                  <a:srgbClr val="DCDCAA"/>
                </a:solidFill>
                <a:effectLst/>
                <a:latin typeface="Consolas" panose="020B0609020204030204" pitchFamily="49" charset="0"/>
              </a:rPr>
              <a:t>.message_handler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commands</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'start'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'hello'</a:t>
            </a:r>
            <a:r>
              <a:rPr lang="en-US" b="0" dirty="0">
                <a:solidFill>
                  <a:srgbClr val="CCCCCC"/>
                </a:solidFill>
                <a:effectLst/>
                <a:latin typeface="Consolas" panose="020B0609020204030204" pitchFamily="49" charset="0"/>
              </a:rPr>
              <a:t>])</a:t>
            </a:r>
          </a:p>
          <a:p>
            <a:r>
              <a:rPr lang="en-US" b="0" dirty="0">
                <a:solidFill>
                  <a:srgbClr val="569CD6"/>
                </a:solidFill>
                <a:effectLst/>
                <a:latin typeface="Consolas" panose="020B0609020204030204" pitchFamily="49" charset="0"/>
              </a:rPr>
              <a:t>def</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send_welcome</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.reply_to</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"Welcome to my bot, </a:t>
            </a:r>
            <a:r>
              <a:rPr lang="en-US" b="0" dirty="0" err="1">
                <a:solidFill>
                  <a:srgbClr val="CE9178"/>
                </a:solidFill>
                <a:effectLst/>
                <a:latin typeface="Consolas" panose="020B0609020204030204" pitchFamily="49" charset="0"/>
              </a:rPr>
              <a:t>Farshidkeivanian</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Command to handle the '/info' message</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a:t>
            </a:r>
            <a:r>
              <a:rPr lang="en-US" b="0" dirty="0">
                <a:solidFill>
                  <a:srgbClr val="9CDCFE"/>
                </a:solidFill>
                <a:effectLst/>
                <a:latin typeface="Consolas" panose="020B0609020204030204" pitchFamily="49" charset="0"/>
              </a:rPr>
              <a:t>bot</a:t>
            </a:r>
            <a:r>
              <a:rPr lang="en-US" b="0" dirty="0">
                <a:solidFill>
                  <a:srgbClr val="DCDCAA"/>
                </a:solidFill>
                <a:effectLst/>
                <a:latin typeface="Consolas" panose="020B0609020204030204" pitchFamily="49" charset="0"/>
              </a:rPr>
              <a:t>.message_handler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commands</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'info'</a:t>
            </a:r>
            <a:r>
              <a:rPr lang="en-US" b="0" dirty="0">
                <a:solidFill>
                  <a:srgbClr val="CCCCCC"/>
                </a:solidFill>
                <a:effectLst/>
                <a:latin typeface="Consolas" panose="020B0609020204030204" pitchFamily="49" charset="0"/>
              </a:rPr>
              <a:t>])</a:t>
            </a:r>
          </a:p>
          <a:p>
            <a:r>
              <a:rPr lang="en-US" b="0" dirty="0">
                <a:solidFill>
                  <a:srgbClr val="569CD6"/>
                </a:solidFill>
                <a:effectLst/>
                <a:latin typeface="Consolas" panose="020B0609020204030204" pitchFamily="49" charset="0"/>
              </a:rPr>
              <a:t>def</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send_info</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.reply_to</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"This is a simple echo bot created using Python's </a:t>
            </a:r>
            <a:r>
              <a:rPr lang="en-US" b="0" dirty="0" err="1">
                <a:solidFill>
                  <a:srgbClr val="CE9178"/>
                </a:solidFill>
                <a:effectLst/>
                <a:latin typeface="Consolas" panose="020B0609020204030204" pitchFamily="49" charset="0"/>
              </a:rPr>
              <a:t>telebot</a:t>
            </a:r>
            <a:r>
              <a:rPr lang="en-US" b="0" dirty="0">
                <a:solidFill>
                  <a:srgbClr val="CE9178"/>
                </a:solidFill>
                <a:effectLst/>
                <a:latin typeface="Consolas" panose="020B0609020204030204" pitchFamily="49" charset="0"/>
              </a:rPr>
              <a:t> library."</a:t>
            </a:r>
            <a:r>
              <a:rPr lang="en-US" b="0" dirty="0">
                <a:solidFill>
                  <a:srgbClr val="CCCCCC"/>
                </a:solidFill>
                <a:effectLst/>
                <a:latin typeface="Consolas" panose="020B0609020204030204" pitchFamily="49" charset="0"/>
              </a:rPr>
              <a:t>)</a:t>
            </a:r>
          </a:p>
          <a:p>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Command to handle the '/help' message</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a:t>
            </a:r>
            <a:r>
              <a:rPr lang="en-US" b="0" dirty="0">
                <a:solidFill>
                  <a:srgbClr val="9CDCFE"/>
                </a:solidFill>
                <a:effectLst/>
                <a:latin typeface="Consolas" panose="020B0609020204030204" pitchFamily="49" charset="0"/>
              </a:rPr>
              <a:t>bot</a:t>
            </a:r>
            <a:r>
              <a:rPr lang="en-US" b="0" dirty="0">
                <a:solidFill>
                  <a:srgbClr val="DCDCAA"/>
                </a:solidFill>
                <a:effectLst/>
                <a:latin typeface="Consolas" panose="020B0609020204030204" pitchFamily="49" charset="0"/>
              </a:rPr>
              <a:t>.message_handler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commands</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'help'</a:t>
            </a:r>
            <a:r>
              <a:rPr lang="en-US" b="0" dirty="0">
                <a:solidFill>
                  <a:srgbClr val="CCCCCC"/>
                </a:solidFill>
                <a:effectLst/>
                <a:latin typeface="Consolas" panose="020B0609020204030204" pitchFamily="49" charset="0"/>
              </a:rPr>
              <a:t>])</a:t>
            </a:r>
          </a:p>
          <a:p>
            <a:r>
              <a:rPr lang="en-US" b="0" dirty="0">
                <a:solidFill>
                  <a:srgbClr val="569CD6"/>
                </a:solidFill>
                <a:effectLst/>
                <a:latin typeface="Consolas" panose="020B0609020204030204" pitchFamily="49" charset="0"/>
              </a:rPr>
              <a:t>def</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send_help</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.reply_to</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"Here are some commands you can try:</a:t>
            </a:r>
            <a:r>
              <a:rPr lang="en-US" b="0" dirty="0">
                <a:solidFill>
                  <a:srgbClr val="D7BA7D"/>
                </a:solidFill>
                <a:effectLst/>
                <a:latin typeface="Consolas" panose="020B0609020204030204" pitchFamily="49" charset="0"/>
              </a:rPr>
              <a:t>\n</a:t>
            </a:r>
            <a:r>
              <a:rPr lang="en-US" b="0" dirty="0">
                <a:solidFill>
                  <a:srgbClr val="CE9178"/>
                </a:solidFill>
                <a:effectLst/>
                <a:latin typeface="Consolas" panose="020B0609020204030204" pitchFamily="49" charset="0"/>
              </a:rPr>
              <a:t>/start or /hello - Welcome message</a:t>
            </a:r>
            <a:r>
              <a:rPr lang="en-US" b="0" dirty="0">
                <a:solidFill>
                  <a:srgbClr val="D7BA7D"/>
                </a:solidFill>
                <a:effectLst/>
                <a:latin typeface="Consolas" panose="020B0609020204030204" pitchFamily="49" charset="0"/>
              </a:rPr>
              <a:t>\n</a:t>
            </a:r>
            <a:r>
              <a:rPr lang="en-US" b="0" dirty="0">
                <a:solidFill>
                  <a:srgbClr val="CE9178"/>
                </a:solidFill>
                <a:effectLst/>
                <a:latin typeface="Consolas" panose="020B0609020204030204" pitchFamily="49" charset="0"/>
              </a:rPr>
              <a:t>/info - Information about the bot</a:t>
            </a:r>
            <a:r>
              <a:rPr lang="en-US" b="0" dirty="0">
                <a:solidFill>
                  <a:srgbClr val="D7BA7D"/>
                </a:solidFill>
                <a:effectLst/>
                <a:latin typeface="Consolas" panose="020B0609020204030204" pitchFamily="49" charset="0"/>
              </a:rPr>
              <a:t>\n</a:t>
            </a:r>
            <a:r>
              <a:rPr lang="en-US" b="0" dirty="0">
                <a:solidFill>
                  <a:srgbClr val="CE9178"/>
                </a:solidFill>
                <a:effectLst/>
                <a:latin typeface="Consolas" panose="020B0609020204030204" pitchFamily="49" charset="0"/>
              </a:rPr>
              <a:t>/help - List of commands"</a:t>
            </a:r>
            <a:r>
              <a:rPr lang="en-US" b="0" dirty="0">
                <a:solidFill>
                  <a:srgbClr val="CCCCCC"/>
                </a:solidFill>
                <a:effectLst/>
                <a:latin typeface="Consolas" panose="020B0609020204030204" pitchFamily="49" charset="0"/>
              </a:rPr>
              <a:t>)</a:t>
            </a:r>
          </a:p>
        </p:txBody>
      </p:sp>
      <p:sp>
        <p:nvSpPr>
          <p:cNvPr id="7" name="Rectangle 1">
            <a:extLst>
              <a:ext uri="{FF2B5EF4-FFF2-40B4-BE49-F238E27FC236}">
                <a16:creationId xmlns:a16="http://schemas.microsoft.com/office/drawing/2014/main" id="{D9F0A8C5-6981-6588-C28A-DE325303149C}"/>
              </a:ext>
            </a:extLst>
          </p:cNvPr>
          <p:cNvSpPr>
            <a:spLocks noChangeArrowheads="1"/>
          </p:cNvSpPr>
          <p:nvPr/>
        </p:nvSpPr>
        <p:spPr bwMode="auto">
          <a:xfrm>
            <a:off x="7610168" y="0"/>
            <a:ext cx="4581832" cy="325717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Task for Students:</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800" b="1" i="0" u="none" strike="noStrike" cap="none" normalizeH="0" baseline="0" dirty="0">
                <a:ln>
                  <a:noFill/>
                </a:ln>
                <a:solidFill>
                  <a:schemeClr val="tx1"/>
                </a:solidFill>
                <a:effectLst/>
                <a:latin typeface="Calibir"/>
              </a:rPr>
              <a:t>Understand the Changes</a:t>
            </a:r>
            <a:r>
              <a:rPr kumimoji="0" lang="en-US" altLang="en-US" sz="2800" b="0" i="0" u="none" strike="noStrike" cap="none" normalizeH="0" baseline="0" dirty="0">
                <a:ln>
                  <a:noFill/>
                </a:ln>
                <a:solidFill>
                  <a:schemeClr val="tx1"/>
                </a:solidFill>
                <a:effectLst/>
                <a:latin typeface="Calibir"/>
              </a:rPr>
              <a:t>: Review and explain how new commands like /info and /help are added.</a:t>
            </a:r>
          </a:p>
        </p:txBody>
      </p:sp>
    </p:spTree>
    <p:extLst>
      <p:ext uri="{BB962C8B-B14F-4D97-AF65-F5344CB8AC3E}">
        <p14:creationId xmlns:p14="http://schemas.microsoft.com/office/powerpoint/2010/main" val="177677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0A33B-573C-CA72-8F39-57756252A36E}"/>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53B9D6D8-2A04-8C3E-45B0-16BA035B83CB}"/>
              </a:ext>
            </a:extLst>
          </p:cNvPr>
          <p:cNvSpPr txBox="1">
            <a:spLocks/>
          </p:cNvSpPr>
          <p:nvPr/>
        </p:nvSpPr>
        <p:spPr>
          <a:xfrm>
            <a:off x="245966" y="992265"/>
            <a:ext cx="11158462" cy="5263307"/>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Clr>
                <a:schemeClr val="bg2"/>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200" dirty="0">
              <a:solidFill>
                <a:srgbClr val="0F0F0F"/>
              </a:solidFill>
            </a:endParaRPr>
          </a:p>
        </p:txBody>
      </p:sp>
      <p:sp>
        <p:nvSpPr>
          <p:cNvPr id="6" name="TextBox 5">
            <a:extLst>
              <a:ext uri="{FF2B5EF4-FFF2-40B4-BE49-F238E27FC236}">
                <a16:creationId xmlns:a16="http://schemas.microsoft.com/office/drawing/2014/main" id="{D8F694CE-DAC4-62B0-19AD-ABBBECB44A7B}"/>
              </a:ext>
            </a:extLst>
          </p:cNvPr>
          <p:cNvSpPr txBox="1"/>
          <p:nvPr/>
        </p:nvSpPr>
        <p:spPr>
          <a:xfrm>
            <a:off x="0" y="0"/>
            <a:ext cx="12192000" cy="4524315"/>
          </a:xfrm>
          <a:prstGeom prst="rect">
            <a:avLst/>
          </a:prstGeom>
          <a:solidFill>
            <a:schemeClr val="tx1"/>
          </a:solidFill>
        </p:spPr>
        <p:txBody>
          <a:bodyPr wrap="square">
            <a:spAutoFit/>
          </a:bodyPr>
          <a:lstStyle/>
          <a:p>
            <a:endParaRPr lang="en-US" b="0" dirty="0">
              <a:solidFill>
                <a:srgbClr val="6A9955"/>
              </a:solidFill>
              <a:effectLst/>
              <a:latin typeface="Consolas" panose="020B0609020204030204" pitchFamily="49" charset="0"/>
            </a:endParaRPr>
          </a:p>
          <a:p>
            <a:endParaRPr lang="en-US" dirty="0">
              <a:solidFill>
                <a:srgbClr val="6A9955"/>
              </a:solidFill>
              <a:latin typeface="Consolas" panose="020B0609020204030204" pitchFamily="49" charset="0"/>
            </a:endParaRPr>
          </a:p>
          <a:p>
            <a:endParaRPr lang="en-US" b="0" dirty="0">
              <a:solidFill>
                <a:srgbClr val="6A9955"/>
              </a:solidFill>
              <a:effectLst/>
              <a:latin typeface="Consolas" panose="020B0609020204030204" pitchFamily="49" charset="0"/>
            </a:endParaRPr>
          </a:p>
          <a:p>
            <a:endParaRPr lang="en-US" dirty="0">
              <a:solidFill>
                <a:srgbClr val="6A9955"/>
              </a:solidFill>
              <a:latin typeface="Consolas" panose="020B0609020204030204" pitchFamily="49" charset="0"/>
            </a:endParaRPr>
          </a:p>
          <a:p>
            <a:r>
              <a:rPr lang="en-US" b="0" dirty="0">
                <a:solidFill>
                  <a:srgbClr val="6A9955"/>
                </a:solidFill>
                <a:effectLst/>
                <a:latin typeface="Consolas" panose="020B0609020204030204" pitchFamily="49" charset="0"/>
              </a:rPr>
              <a:t># Command to handle text messages</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a:t>
            </a:r>
            <a:r>
              <a:rPr lang="en-US" b="0" dirty="0">
                <a:solidFill>
                  <a:srgbClr val="9CDCFE"/>
                </a:solidFill>
                <a:effectLst/>
                <a:latin typeface="Consolas" panose="020B0609020204030204" pitchFamily="49" charset="0"/>
              </a:rPr>
              <a:t>bot</a:t>
            </a:r>
            <a:r>
              <a:rPr lang="en-US" b="0" dirty="0">
                <a:solidFill>
                  <a:srgbClr val="DCDCAA"/>
                </a:solidFill>
                <a:effectLst/>
                <a:latin typeface="Consolas" panose="020B0609020204030204" pitchFamily="49" charset="0"/>
              </a:rPr>
              <a:t>.message_handler</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func</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lambda</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a:solidFill>
                  <a:srgbClr val="4FC1FF"/>
                </a:solidFill>
                <a:effectLst/>
                <a:latin typeface="Consolas" panose="020B0609020204030204" pitchFamily="49" charset="0"/>
              </a:rPr>
              <a:t>True</a:t>
            </a:r>
            <a:r>
              <a:rPr lang="en-US" b="0" dirty="0">
                <a:solidFill>
                  <a:srgbClr val="CCCCCC"/>
                </a:solidFill>
                <a:effectLst/>
                <a:latin typeface="Consolas" panose="020B0609020204030204" pitchFamily="49" charset="0"/>
              </a:rPr>
              <a:t>)</a:t>
            </a:r>
          </a:p>
          <a:p>
            <a:r>
              <a:rPr lang="en-US" b="0" dirty="0">
                <a:solidFill>
                  <a:srgbClr val="569CD6"/>
                </a:solidFill>
                <a:effectLst/>
                <a:latin typeface="Consolas" panose="020B0609020204030204" pitchFamily="49" charset="0"/>
              </a:rPr>
              <a:t>def</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echo_all</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.reply_to</a:t>
            </a:r>
            <a:r>
              <a:rPr lang="en-US" b="0" dirty="0">
                <a:solidFill>
                  <a:srgbClr val="CCCCCC"/>
                </a:solidFill>
                <a:effectLst/>
                <a:latin typeface="Consolas" panose="020B0609020204030204" pitchFamily="49" charset="0"/>
              </a:rPr>
              <a:t>(</a:t>
            </a:r>
            <a:r>
              <a:rPr lang="en-US" b="0" dirty="0">
                <a:solidFill>
                  <a:srgbClr val="9CDCFE"/>
                </a:solidFill>
                <a:effectLst/>
                <a:latin typeface="Consolas" panose="020B0609020204030204" pitchFamily="49" charset="0"/>
              </a:rPr>
              <a:t>message</a:t>
            </a:r>
            <a:r>
              <a:rPr lang="en-US" b="0" dirty="0">
                <a:solidFill>
                  <a:srgbClr val="CCCCCC"/>
                </a:solidFill>
                <a:effectLst/>
                <a:latin typeface="Consolas" panose="020B0609020204030204" pitchFamily="49" charset="0"/>
              </a:rPr>
              <a:t>, </a:t>
            </a:r>
            <a:r>
              <a:rPr lang="en-US" b="0" dirty="0" err="1">
                <a:solidFill>
                  <a:srgbClr val="569CD6"/>
                </a:solidFill>
                <a:effectLst/>
                <a:latin typeface="Consolas" panose="020B0609020204030204" pitchFamily="49" charset="0"/>
              </a:rPr>
              <a:t>f</a:t>
            </a:r>
            <a:r>
              <a:rPr lang="en-US" b="0" dirty="0" err="1">
                <a:solidFill>
                  <a:srgbClr val="CE9178"/>
                </a:solidFill>
                <a:effectLst/>
                <a:latin typeface="Consolas" panose="020B0609020204030204" pitchFamily="49" charset="0"/>
              </a:rPr>
              <a:t>"You</a:t>
            </a:r>
            <a:r>
              <a:rPr lang="en-US" b="0" dirty="0">
                <a:solidFill>
                  <a:srgbClr val="CE9178"/>
                </a:solidFill>
                <a:effectLst/>
                <a:latin typeface="Consolas" panose="020B0609020204030204" pitchFamily="49" charset="0"/>
              </a:rPr>
              <a:t> said: </a:t>
            </a:r>
            <a:r>
              <a:rPr lang="en-US" b="0" dirty="0">
                <a:solidFill>
                  <a:srgbClr val="569CD6"/>
                </a:solidFill>
                <a:effectLst/>
                <a:latin typeface="Consolas" panose="020B0609020204030204" pitchFamily="49" charset="0"/>
              </a:rPr>
              <a:t>{</a:t>
            </a:r>
            <a:r>
              <a:rPr lang="en-US" b="0" dirty="0" err="1">
                <a:solidFill>
                  <a:srgbClr val="9CDCFE"/>
                </a:solidFill>
                <a:effectLst/>
                <a:latin typeface="Consolas" panose="020B0609020204030204" pitchFamily="49" charset="0"/>
              </a:rPr>
              <a:t>message</a:t>
            </a:r>
            <a:r>
              <a:rPr lang="en-US" b="0" dirty="0" err="1">
                <a:solidFill>
                  <a:srgbClr val="CCCCCC"/>
                </a:solidFill>
                <a:effectLst/>
                <a:latin typeface="Consolas" panose="020B0609020204030204" pitchFamily="49" charset="0"/>
              </a:rPr>
              <a:t>.text</a:t>
            </a:r>
            <a:r>
              <a:rPr lang="en-US" b="0" dirty="0">
                <a:solidFill>
                  <a:srgbClr val="569CD6"/>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br>
              <a:rPr lang="en-US" b="0" dirty="0">
                <a:solidFill>
                  <a:srgbClr val="CCCCCC"/>
                </a:solidFill>
                <a:effectLst/>
                <a:latin typeface="Consolas" panose="020B0609020204030204" pitchFamily="49" charset="0"/>
              </a:rPr>
            </a:br>
            <a:r>
              <a:rPr lang="en-US" b="0" dirty="0">
                <a:solidFill>
                  <a:srgbClr val="6A9955"/>
                </a:solidFill>
                <a:effectLst/>
                <a:latin typeface="Consolas" panose="020B0609020204030204" pitchFamily="49" charset="0"/>
              </a:rPr>
              <a:t># Poll the server for new messages</a:t>
            </a:r>
            <a:endParaRPr lang="en-US" b="0" dirty="0">
              <a:solidFill>
                <a:srgbClr val="CCCCCC"/>
              </a:solidFill>
              <a:effectLst/>
              <a:latin typeface="Consolas" panose="020B0609020204030204" pitchFamily="49" charset="0"/>
            </a:endParaRPr>
          </a:p>
          <a:p>
            <a:r>
              <a:rPr lang="en-US" b="0" dirty="0">
                <a:solidFill>
                  <a:srgbClr val="DCDCAA"/>
                </a:solidFill>
                <a:effectLst/>
                <a:latin typeface="Consolas" panose="020B0609020204030204" pitchFamily="49" charset="0"/>
              </a:rPr>
              <a:t>print</a:t>
            </a:r>
            <a:r>
              <a:rPr lang="en-US" b="0" dirty="0">
                <a:solidFill>
                  <a:srgbClr val="CCCCCC"/>
                </a:solidFill>
                <a:effectLst/>
                <a:latin typeface="Consolas" panose="020B0609020204030204" pitchFamily="49" charset="0"/>
              </a:rPr>
              <a:t>(</a:t>
            </a:r>
            <a:r>
              <a:rPr lang="en-US" b="0" dirty="0">
                <a:solidFill>
                  <a:srgbClr val="CE9178"/>
                </a:solidFill>
                <a:effectLst/>
                <a:latin typeface="Consolas" panose="020B0609020204030204" pitchFamily="49" charset="0"/>
              </a:rPr>
              <a:t>"Bot is running... Press </a:t>
            </a:r>
            <a:r>
              <a:rPr lang="en-US" b="0" dirty="0" err="1">
                <a:solidFill>
                  <a:srgbClr val="CE9178"/>
                </a:solidFill>
                <a:effectLst/>
                <a:latin typeface="Consolas" panose="020B0609020204030204" pitchFamily="49" charset="0"/>
              </a:rPr>
              <a:t>Ctrl+C</a:t>
            </a:r>
            <a:r>
              <a:rPr lang="en-US" b="0" dirty="0">
                <a:solidFill>
                  <a:srgbClr val="CE9178"/>
                </a:solidFill>
                <a:effectLst/>
                <a:latin typeface="Consolas" panose="020B0609020204030204" pitchFamily="49" charset="0"/>
              </a:rPr>
              <a:t> to stop."</a:t>
            </a:r>
            <a:r>
              <a:rPr lang="en-US" b="0" dirty="0">
                <a:solidFill>
                  <a:srgbClr val="CCCCCC"/>
                </a:solidFill>
                <a:effectLst/>
                <a:latin typeface="Consolas" panose="020B0609020204030204" pitchFamily="49" charset="0"/>
              </a:rPr>
              <a:t>)</a:t>
            </a:r>
          </a:p>
          <a:p>
            <a:r>
              <a:rPr lang="en-US" b="0" dirty="0" err="1">
                <a:solidFill>
                  <a:srgbClr val="9CDCFE"/>
                </a:solidFill>
                <a:effectLst/>
                <a:latin typeface="Consolas" panose="020B0609020204030204" pitchFamily="49" charset="0"/>
              </a:rPr>
              <a:t>bot</a:t>
            </a:r>
            <a:r>
              <a:rPr lang="en-US" b="0" dirty="0" err="1">
                <a:solidFill>
                  <a:srgbClr val="CCCCCC"/>
                </a:solidFill>
                <a:effectLst/>
                <a:latin typeface="Consolas" panose="020B0609020204030204" pitchFamily="49" charset="0"/>
              </a:rPr>
              <a:t>.polling</a:t>
            </a:r>
            <a:r>
              <a:rPr lang="en-US" b="0" dirty="0">
                <a:solidFill>
                  <a:srgbClr val="CCCCCC"/>
                </a:solidFill>
                <a:effectLst/>
                <a:latin typeface="Consolas" panose="020B0609020204030204" pitchFamily="49" charset="0"/>
              </a:rPr>
              <a:t>()</a:t>
            </a:r>
            <a:endParaRPr lang="en-US" dirty="0">
              <a:solidFill>
                <a:srgbClr val="CCCCCC"/>
              </a:solidFill>
              <a:latin typeface="Consolas" panose="020B0609020204030204" pitchFamily="49" charset="0"/>
            </a:endParaRPr>
          </a:p>
          <a:p>
            <a:endParaRPr lang="en-US" b="0" dirty="0">
              <a:solidFill>
                <a:srgbClr val="CCCCCC"/>
              </a:solidFill>
              <a:effectLst/>
              <a:latin typeface="Consolas" panose="020B0609020204030204" pitchFamily="49" charset="0"/>
            </a:endParaRPr>
          </a:p>
          <a:p>
            <a:endParaRPr lang="en-US" b="0" dirty="0">
              <a:solidFill>
                <a:srgbClr val="CCCCCC"/>
              </a:solidFill>
              <a:effectLst/>
              <a:latin typeface="Consolas" panose="020B0609020204030204" pitchFamily="49" charset="0"/>
            </a:endParaRPr>
          </a:p>
          <a:p>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
        <p:nvSpPr>
          <p:cNvPr id="3" name="TextBox 2">
            <a:extLst>
              <a:ext uri="{FF2B5EF4-FFF2-40B4-BE49-F238E27FC236}">
                <a16:creationId xmlns:a16="http://schemas.microsoft.com/office/drawing/2014/main" id="{E64A879F-5E55-667A-7B7C-793E51DB034B}"/>
              </a:ext>
            </a:extLst>
          </p:cNvPr>
          <p:cNvSpPr txBox="1"/>
          <p:nvPr/>
        </p:nvSpPr>
        <p:spPr>
          <a:xfrm>
            <a:off x="6914536" y="528634"/>
            <a:ext cx="5277464" cy="4549835"/>
          </a:xfrm>
          <a:prstGeom prst="rect">
            <a:avLst/>
          </a:prstGeom>
          <a:solidFill>
            <a:schemeClr val="bg1"/>
          </a:solidFill>
        </p:spPr>
        <p:txBody>
          <a:bodyPr wrap="square">
            <a:spAutoFit/>
          </a:bodyPr>
          <a:lstStyle/>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2"/>
              <a:tabLst/>
            </a:pPr>
            <a:r>
              <a:rPr kumimoji="0" lang="en-US" altLang="en-US" sz="2800" b="1" i="0" u="none" strike="noStrike" cap="none" normalizeH="0" baseline="0" dirty="0">
                <a:ln>
                  <a:noFill/>
                </a:ln>
                <a:solidFill>
                  <a:schemeClr val="tx1"/>
                </a:solidFill>
                <a:effectLst/>
                <a:latin typeface="Calibir"/>
              </a:rPr>
              <a:t>Implement a New Command</a:t>
            </a:r>
            <a:r>
              <a:rPr kumimoji="0" lang="en-US" altLang="en-US" sz="2800" b="0" i="0" u="none" strike="noStrike" cap="none" normalizeH="0" baseline="0" dirty="0">
                <a:ln>
                  <a:noFill/>
                </a:ln>
                <a:solidFill>
                  <a:schemeClr val="tx1"/>
                </a:solidFill>
                <a:effectLst/>
                <a:latin typeface="Calibir"/>
              </a:rPr>
              <a:t>: Add a /joke command that sends a random joke or any fun response.</a:t>
            </a:r>
          </a:p>
          <a:p>
            <a:pPr marL="514350" marR="0" lvl="0" indent="-514350" algn="l" defTabSz="914400" rtl="0" eaLnBrk="0" fontAlgn="base" latinLnBrk="0" hangingPunct="0">
              <a:lnSpc>
                <a:spcPct val="150000"/>
              </a:lnSpc>
              <a:spcBef>
                <a:spcPct val="0"/>
              </a:spcBef>
              <a:spcAft>
                <a:spcPct val="0"/>
              </a:spcAft>
              <a:buClrTx/>
              <a:buSzTx/>
              <a:buFont typeface="+mj-lt"/>
              <a:buAutoNum type="arabicPeriod" startAt="2"/>
              <a:tabLst/>
            </a:pPr>
            <a:r>
              <a:rPr kumimoji="0" lang="en-US" altLang="en-US" sz="2800" b="1" i="0" u="none" strike="noStrike" cap="none" normalizeH="0" baseline="0" dirty="0">
                <a:ln>
                  <a:noFill/>
                </a:ln>
                <a:solidFill>
                  <a:schemeClr val="tx1"/>
                </a:solidFill>
                <a:effectLst/>
                <a:latin typeface="Calibir"/>
              </a:rPr>
              <a:t>Test the Bot</a:t>
            </a:r>
            <a:r>
              <a:rPr kumimoji="0" lang="en-US" altLang="en-US" sz="2800" b="0" i="0" u="none" strike="noStrike" cap="none" normalizeH="0" baseline="0" dirty="0">
                <a:ln>
                  <a:noFill/>
                </a:ln>
                <a:solidFill>
                  <a:schemeClr val="tx1"/>
                </a:solidFill>
                <a:effectLst/>
                <a:latin typeface="Calibir"/>
              </a:rPr>
              <a:t>: Run the bot and test the new commands in Telegram.</a:t>
            </a:r>
          </a:p>
        </p:txBody>
      </p:sp>
      <p:sp>
        <p:nvSpPr>
          <p:cNvPr id="5" name="TextBox 4">
            <a:extLst>
              <a:ext uri="{FF2B5EF4-FFF2-40B4-BE49-F238E27FC236}">
                <a16:creationId xmlns:a16="http://schemas.microsoft.com/office/drawing/2014/main" id="{121C98A4-89A6-8ECF-E913-5E8C1BB8CA0A}"/>
              </a:ext>
            </a:extLst>
          </p:cNvPr>
          <p:cNvSpPr txBox="1"/>
          <p:nvPr/>
        </p:nvSpPr>
        <p:spPr>
          <a:xfrm>
            <a:off x="38913" y="5203974"/>
            <a:ext cx="12192000" cy="1318181"/>
          </a:xfrm>
          <a:prstGeom prst="rect">
            <a:avLst/>
          </a:prstGeom>
          <a:noFill/>
        </p:spPr>
        <p:txBody>
          <a:bodyPr wrap="square">
            <a:spAutoFit/>
          </a:bodyPr>
          <a:lstStyle/>
          <a:p>
            <a:pPr>
              <a:lnSpc>
                <a:spcPct val="150000"/>
              </a:lnSpc>
            </a:pPr>
            <a:r>
              <a:rPr lang="en-US" sz="2800" dirty="0">
                <a:latin typeface="Calibir"/>
              </a:rPr>
              <a:t>This activity encourages you to explore the library and understand how to expand the bot's functionality.</a:t>
            </a:r>
            <a:endParaRPr lang="en-AU" sz="2800" dirty="0">
              <a:latin typeface="Calibir"/>
            </a:endParaRPr>
          </a:p>
        </p:txBody>
      </p:sp>
      <p:sp>
        <p:nvSpPr>
          <p:cNvPr id="4" name="TextBox 3">
            <a:extLst>
              <a:ext uri="{FF2B5EF4-FFF2-40B4-BE49-F238E27FC236}">
                <a16:creationId xmlns:a16="http://schemas.microsoft.com/office/drawing/2014/main" id="{6B51BF48-900B-E2EE-933E-5DED47F22975}"/>
              </a:ext>
            </a:extLst>
          </p:cNvPr>
          <p:cNvSpPr txBox="1"/>
          <p:nvPr/>
        </p:nvSpPr>
        <p:spPr>
          <a:xfrm>
            <a:off x="-4916" y="5414"/>
            <a:ext cx="12196916" cy="523220"/>
          </a:xfrm>
          <a:prstGeom prst="rect">
            <a:avLst/>
          </a:prstGeom>
          <a:solidFill>
            <a:schemeClr val="bg1"/>
          </a:solidFill>
        </p:spPr>
        <p:txBody>
          <a:bodyPr wrap="square">
            <a:spAutoFit/>
          </a:bodyPr>
          <a:lstStyle/>
          <a:p>
            <a:r>
              <a:rPr lang="en-US" sz="2800" b="1" dirty="0"/>
              <a:t>Week 1 Hands-On Activity: Extend Your Telegram Bot</a:t>
            </a:r>
            <a:endParaRPr lang="en-US" sz="2800" dirty="0"/>
          </a:p>
        </p:txBody>
      </p:sp>
    </p:spTree>
    <p:extLst>
      <p:ext uri="{BB962C8B-B14F-4D97-AF65-F5344CB8AC3E}">
        <p14:creationId xmlns:p14="http://schemas.microsoft.com/office/powerpoint/2010/main" val="25544124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73B7-2B85-AF84-BBE9-3F15EE2D35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B3CC50-4A5B-E997-2152-91E90018E2D5}"/>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17AB0E4E-16A0-C483-7022-A375FBA5A165}"/>
              </a:ext>
            </a:extLst>
          </p:cNvPr>
          <p:cNvSpPr txBox="1"/>
          <p:nvPr/>
        </p:nvSpPr>
        <p:spPr>
          <a:xfrm>
            <a:off x="0" y="1"/>
            <a:ext cx="12196916" cy="5934830"/>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Assessment 1 Clarification</a:t>
            </a:r>
          </a:p>
          <a:p>
            <a:pPr>
              <a:lnSpc>
                <a:spcPct val="150000"/>
              </a:lnSpc>
            </a:pPr>
            <a:r>
              <a:rPr lang="en-US" sz="2800" dirty="0">
                <a:latin typeface="Calibri" panose="020F0502020204030204" pitchFamily="34" charset="0"/>
                <a:cs typeface="Calibri" panose="020F0502020204030204" pitchFamily="34" charset="0"/>
              </a:rPr>
              <a:t>Assessment 1: Text Pre-processing Pipeline + Viva</a:t>
            </a:r>
          </a:p>
          <a:p>
            <a:pPr>
              <a:lnSpc>
                <a:spcPct val="150000"/>
              </a:lnSpc>
            </a:pPr>
            <a:r>
              <a:rPr lang="en-US" sz="2800" dirty="0">
                <a:latin typeface="Calibri" panose="020F0502020204030204" pitchFamily="34" charset="0"/>
                <a:cs typeface="Calibri" panose="020F0502020204030204" pitchFamily="34" charset="0"/>
              </a:rPr>
              <a:t>Assessment 1 is worth 30%.</a:t>
            </a:r>
          </a:p>
          <a:p>
            <a:pPr>
              <a:lnSpc>
                <a:spcPct val="150000"/>
              </a:lnSpc>
            </a:pPr>
            <a:r>
              <a:rPr lang="en-US" sz="2800" dirty="0">
                <a:latin typeface="Calibri" panose="020F0502020204030204" pitchFamily="34" charset="0"/>
                <a:cs typeface="Calibri" panose="020F0502020204030204" pitchFamily="34" charset="0"/>
              </a:rPr>
              <a:t>You must submit:</a:t>
            </a:r>
          </a:p>
          <a:p>
            <a:pPr marL="811213" lvl="0" indent="-514350">
              <a:lnSpc>
                <a:spcPct val="150000"/>
              </a:lnSpc>
              <a:buFont typeface="+mj-lt"/>
              <a:buAutoNum type="arabicPeriod"/>
            </a:pPr>
            <a:r>
              <a:rPr lang="en-US" sz="2800" dirty="0">
                <a:latin typeface="Calibri" panose="020F0502020204030204" pitchFamily="34" charset="0"/>
                <a:cs typeface="Calibri" panose="020F0502020204030204" pitchFamily="34" charset="0"/>
              </a:rPr>
              <a:t>A notebook: .</a:t>
            </a:r>
            <a:r>
              <a:rPr lang="en-US" sz="2800" dirty="0" err="1">
                <a:latin typeface="Calibri" panose="020F0502020204030204" pitchFamily="34" charset="0"/>
                <a:cs typeface="Calibri" panose="020F0502020204030204" pitchFamily="34" charset="0"/>
              </a:rPr>
              <a:t>ipynb</a:t>
            </a:r>
            <a:r>
              <a:rPr lang="en-US" sz="2800" dirty="0">
                <a:latin typeface="Calibri" panose="020F0502020204030204" pitchFamily="34" charset="0"/>
                <a:cs typeface="Calibri" panose="020F0502020204030204" pitchFamily="34" charset="0"/>
              </a:rPr>
              <a:t> or .</a:t>
            </a:r>
            <a:r>
              <a:rPr lang="en-US" sz="2800" dirty="0" err="1">
                <a:latin typeface="Calibri" panose="020F0502020204030204" pitchFamily="34" charset="0"/>
                <a:cs typeface="Calibri" panose="020F0502020204030204" pitchFamily="34" charset="0"/>
              </a:rPr>
              <a:t>py</a:t>
            </a:r>
            <a:r>
              <a:rPr lang="en-US" sz="2800" dirty="0">
                <a:latin typeface="Calibri" panose="020F0502020204030204" pitchFamily="34" charset="0"/>
                <a:cs typeface="Calibri" panose="020F0502020204030204" pitchFamily="34" charset="0"/>
              </a:rPr>
              <a:t> + HTML export </a:t>
            </a:r>
          </a:p>
          <a:p>
            <a:pPr marL="811213" lvl="0" indent="-514350">
              <a:lnSpc>
                <a:spcPct val="150000"/>
              </a:lnSpc>
              <a:buFont typeface="+mj-lt"/>
              <a:buAutoNum type="arabicPeriod"/>
            </a:pPr>
            <a:r>
              <a:rPr lang="en-US" sz="2800" dirty="0">
                <a:latin typeface="Calibri" panose="020F0502020204030204" pitchFamily="34" charset="0"/>
                <a:cs typeface="Calibri" panose="020F0502020204030204" pitchFamily="34" charset="0"/>
              </a:rPr>
              <a:t>A rationale: 500–600 words, PDF </a:t>
            </a:r>
          </a:p>
          <a:p>
            <a:pPr marL="811213" lvl="0" indent="-514350">
              <a:lnSpc>
                <a:spcPct val="150000"/>
              </a:lnSpc>
              <a:buFont typeface="+mj-lt"/>
              <a:buAutoNum type="arabicPeriod"/>
            </a:pPr>
            <a:r>
              <a:rPr lang="en-US" sz="2800" dirty="0">
                <a:latin typeface="Calibri" panose="020F0502020204030204" pitchFamily="34" charset="0"/>
                <a:cs typeface="Calibri" panose="020F0502020204030204" pitchFamily="34" charset="0"/>
              </a:rPr>
              <a:t>A viva: 2–3 questions </a:t>
            </a:r>
          </a:p>
          <a:p>
            <a:pPr>
              <a:lnSpc>
                <a:spcPct val="150000"/>
              </a:lnSpc>
            </a:pPr>
            <a:r>
              <a:rPr lang="en-US" sz="2800" dirty="0">
                <a:latin typeface="Calibri" panose="020F0502020204030204" pitchFamily="34" charset="0"/>
                <a:cs typeface="Calibri" panose="020F0502020204030204" pitchFamily="34" charset="0"/>
              </a:rPr>
              <a:t>The viva is important. It is worth 40% of Assessment 1, meaning 12 marks out of the 30 assessment marks.</a:t>
            </a:r>
          </a:p>
        </p:txBody>
      </p:sp>
    </p:spTree>
    <p:extLst>
      <p:ext uri="{BB962C8B-B14F-4D97-AF65-F5344CB8AC3E}">
        <p14:creationId xmlns:p14="http://schemas.microsoft.com/office/powerpoint/2010/main" val="35784042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D21EE-F55B-F4FA-7DE6-63B04A5AFB4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54D40B-B482-04D2-45B4-AFCA5B076861}"/>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C21918E0-431D-0B39-4EC2-7FA54029163F}"/>
              </a:ext>
            </a:extLst>
          </p:cNvPr>
          <p:cNvSpPr txBox="1"/>
          <p:nvPr/>
        </p:nvSpPr>
        <p:spPr>
          <a:xfrm>
            <a:off x="0" y="0"/>
            <a:ext cx="12196916" cy="6867714"/>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What Assessment 1 Is Really Asking You To Do</a:t>
            </a:r>
          </a:p>
          <a:p>
            <a:pPr>
              <a:lnSpc>
                <a:spcPct val="150000"/>
              </a:lnSpc>
              <a:buNone/>
            </a:pPr>
            <a:r>
              <a:rPr lang="en-US" sz="2400" dirty="0">
                <a:latin typeface="Calibri" panose="020F0502020204030204" pitchFamily="34" charset="0"/>
                <a:cs typeface="Calibri" panose="020F0502020204030204" pitchFamily="34" charset="0"/>
              </a:rPr>
              <a:t>You need to show that you can:</a:t>
            </a:r>
          </a:p>
          <a:p>
            <a:pPr marL="342900"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choose a small text corpus, </a:t>
            </a:r>
          </a:p>
          <a:p>
            <a:pPr marL="342900"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clean the text, </a:t>
            </a:r>
          </a:p>
          <a:p>
            <a:pPr marL="342900" lvl="0" indent="-342900">
              <a:lnSpc>
                <a:spcPct val="150000"/>
              </a:lnSpc>
              <a:buFont typeface="Arial" panose="020B0604020202020204" pitchFamily="34" charset="0"/>
              <a:buChar char="•"/>
            </a:pPr>
            <a:r>
              <a:rPr lang="en-US" sz="2400" dirty="0" err="1">
                <a:latin typeface="Calibri" panose="020F0502020204030204" pitchFamily="34" charset="0"/>
                <a:cs typeface="Calibri" panose="020F0502020204030204" pitchFamily="34" charset="0"/>
              </a:rPr>
              <a:t>tokenise</a:t>
            </a:r>
            <a:r>
              <a:rPr lang="en-US" sz="2400" dirty="0">
                <a:latin typeface="Calibri" panose="020F0502020204030204" pitchFamily="34" charset="0"/>
                <a:cs typeface="Calibri" panose="020F0502020204030204" pitchFamily="34" charset="0"/>
              </a:rPr>
              <a:t> the text, </a:t>
            </a:r>
          </a:p>
          <a:p>
            <a:pPr marL="342900" lvl="0" indent="-342900">
              <a:lnSpc>
                <a:spcPct val="150000"/>
              </a:lnSpc>
              <a:buFont typeface="Arial" panose="020B0604020202020204" pitchFamily="34" charset="0"/>
              <a:buChar char="•"/>
            </a:pPr>
            <a:r>
              <a:rPr lang="en-US" sz="2400" dirty="0" err="1">
                <a:latin typeface="Calibri" panose="020F0502020204030204" pitchFamily="34" charset="0"/>
                <a:cs typeface="Calibri" panose="020F0502020204030204" pitchFamily="34" charset="0"/>
              </a:rPr>
              <a:t>normalise</a:t>
            </a:r>
            <a:r>
              <a:rPr lang="en-US" sz="2400" dirty="0">
                <a:latin typeface="Calibri" panose="020F0502020204030204" pitchFamily="34" charset="0"/>
                <a:cs typeface="Calibri" panose="020F0502020204030204" pitchFamily="34" charset="0"/>
              </a:rPr>
              <a:t> the text, </a:t>
            </a:r>
          </a:p>
          <a:p>
            <a:pPr marL="342900"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inspect the vocabulary, </a:t>
            </a:r>
          </a:p>
          <a:p>
            <a:pPr marL="342900"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show before/after examples, </a:t>
            </a:r>
          </a:p>
          <a:p>
            <a:pPr marL="342900"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document your steps, </a:t>
            </a:r>
          </a:p>
          <a:p>
            <a:pPr marL="342900" lvl="0" indent="-3429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explain your choices clearly. </a:t>
            </a:r>
          </a:p>
          <a:p>
            <a:pPr>
              <a:lnSpc>
                <a:spcPct val="150000"/>
              </a:lnSpc>
              <a:buNone/>
            </a:pPr>
            <a:r>
              <a:rPr lang="en-US" sz="2400" dirty="0">
                <a:latin typeface="Calibri" panose="020F0502020204030204" pitchFamily="34" charset="0"/>
                <a:cs typeface="Calibri" panose="020F0502020204030204" pitchFamily="34" charset="0"/>
              </a:rPr>
              <a:t>The goal is not to build a big model.</a:t>
            </a:r>
          </a:p>
          <a:p>
            <a:pPr>
              <a:lnSpc>
                <a:spcPct val="150000"/>
              </a:lnSpc>
              <a:buNone/>
            </a:pPr>
            <a:r>
              <a:rPr lang="en-US" sz="2400" dirty="0">
                <a:latin typeface="Calibri" panose="020F0502020204030204" pitchFamily="34" charset="0"/>
                <a:cs typeface="Calibri" panose="020F0502020204030204" pitchFamily="34" charset="0"/>
              </a:rPr>
              <a:t>The goal is: Can you turn messy text into model-ready text and explain your choices?</a:t>
            </a:r>
          </a:p>
        </p:txBody>
      </p:sp>
    </p:spTree>
    <p:extLst>
      <p:ext uri="{BB962C8B-B14F-4D97-AF65-F5344CB8AC3E}">
        <p14:creationId xmlns:p14="http://schemas.microsoft.com/office/powerpoint/2010/main" val="885444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10CBD-6AE8-3A31-DE1B-6A324542DC4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E17DB0D-DEA5-1271-9560-133C07CEB352}"/>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7EFC2A85-DB1C-CDA7-BF79-6B04AA698141}"/>
              </a:ext>
            </a:extLst>
          </p:cNvPr>
          <p:cNvSpPr txBox="1"/>
          <p:nvPr/>
        </p:nvSpPr>
        <p:spPr>
          <a:xfrm>
            <a:off x="0" y="0"/>
            <a:ext cx="12192000" cy="6581161"/>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Step-by-Step Guideline for Assessment 1</a:t>
            </a:r>
          </a:p>
          <a:p>
            <a:pPr>
              <a:lnSpc>
                <a:spcPct val="150000"/>
              </a:lnSpc>
              <a:buNone/>
            </a:pPr>
            <a:r>
              <a:rPr lang="en-US" sz="2800" b="1" dirty="0">
                <a:latin typeface="Calibri" panose="020F0502020204030204" pitchFamily="34" charset="0"/>
                <a:cs typeface="Calibri" panose="020F0502020204030204" pitchFamily="34" charset="0"/>
              </a:rPr>
              <a:t>Step 1: Choose a Small Corpus</a:t>
            </a:r>
          </a:p>
          <a:p>
            <a:pPr>
              <a:lnSpc>
                <a:spcPct val="150000"/>
              </a:lnSpc>
              <a:buNone/>
            </a:pPr>
            <a:r>
              <a:rPr lang="en-US" sz="2800" dirty="0">
                <a:latin typeface="Calibri" panose="020F0502020204030204" pitchFamily="34" charset="0"/>
                <a:cs typeface="Calibri" panose="020F0502020204030204" pitchFamily="34" charset="0"/>
              </a:rPr>
              <a:t>Choose a small set of text documents.</a:t>
            </a:r>
          </a:p>
          <a:p>
            <a:pPr>
              <a:lnSpc>
                <a:spcPct val="150000"/>
              </a:lnSpc>
              <a:buNone/>
            </a:pPr>
            <a:r>
              <a:rPr lang="en-US" sz="2800" dirty="0">
                <a:latin typeface="Calibri" panose="020F0502020204030204" pitchFamily="34" charset="0"/>
                <a:cs typeface="Calibri" panose="020F0502020204030204" pitchFamily="34" charset="0"/>
              </a:rPr>
              <a:t>Examples:</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20 product reviews,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20 movie reviews,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20 news headlines,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20 support messages,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20 public social media-style comments,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a small LMS-provided dataset. </a:t>
            </a:r>
          </a:p>
        </p:txBody>
      </p:sp>
    </p:spTree>
    <p:extLst>
      <p:ext uri="{BB962C8B-B14F-4D97-AF65-F5344CB8AC3E}">
        <p14:creationId xmlns:p14="http://schemas.microsoft.com/office/powerpoint/2010/main" val="3668651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23F8A-5BDB-1D5C-CEB9-79DC84744D4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EB768D8-298F-8697-1D04-5B59AC029A24}"/>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7632C281-619F-EF02-F6F4-305E02ACE8FD}"/>
              </a:ext>
            </a:extLst>
          </p:cNvPr>
          <p:cNvSpPr txBox="1"/>
          <p:nvPr/>
        </p:nvSpPr>
        <p:spPr>
          <a:xfrm>
            <a:off x="0" y="0"/>
            <a:ext cx="12192000" cy="2703176"/>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Similar Example</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Can I use 10,000 documents?</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You can, but it may be too much for A1. A small corpus is better because you need to explain the pipeline clearly.</a:t>
            </a:r>
          </a:p>
        </p:txBody>
      </p:sp>
    </p:spTree>
    <p:extLst>
      <p:ext uri="{BB962C8B-B14F-4D97-AF65-F5344CB8AC3E}">
        <p14:creationId xmlns:p14="http://schemas.microsoft.com/office/powerpoint/2010/main" val="115281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5111B-549C-D838-1F8B-CB5BD45F92A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BAB5FD-D3F3-520D-4C67-DA7902C0DD75}"/>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9D15D5AA-ED57-C85D-1327-04528C6E6677}"/>
              </a:ext>
            </a:extLst>
          </p:cNvPr>
          <p:cNvSpPr txBox="1"/>
          <p:nvPr/>
        </p:nvSpPr>
        <p:spPr>
          <a:xfrm>
            <a:off x="-4916" y="1145757"/>
            <a:ext cx="12196916" cy="4642168"/>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Step 2: Add Reproducibility Notes</a:t>
            </a:r>
          </a:p>
          <a:p>
            <a:pPr>
              <a:lnSpc>
                <a:spcPct val="150000"/>
              </a:lnSpc>
              <a:buNone/>
            </a:pPr>
            <a:r>
              <a:rPr lang="en-US" sz="2800" dirty="0">
                <a:latin typeface="Calibri" panose="020F0502020204030204" pitchFamily="34" charset="0"/>
                <a:cs typeface="Calibri" panose="020F0502020204030204" pitchFamily="34" charset="0"/>
              </a:rPr>
              <a:t>At the top of your notebook, write:</a:t>
            </a:r>
          </a:p>
          <a:p>
            <a:pPr marL="8112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Python version, </a:t>
            </a:r>
          </a:p>
          <a:p>
            <a:pPr marL="8112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library versions, </a:t>
            </a:r>
          </a:p>
          <a:p>
            <a:pPr marL="8112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random seed, </a:t>
            </a:r>
          </a:p>
          <a:p>
            <a:pPr marL="8112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how to run the notebook, </a:t>
            </a:r>
          </a:p>
          <a:p>
            <a:pPr marL="8112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file path instructions. </a:t>
            </a:r>
          </a:p>
        </p:txBody>
      </p:sp>
    </p:spTree>
    <p:extLst>
      <p:ext uri="{BB962C8B-B14F-4D97-AF65-F5344CB8AC3E}">
        <p14:creationId xmlns:p14="http://schemas.microsoft.com/office/powerpoint/2010/main" val="38896166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5D5C2-D725-DB0C-F37F-CBE185125F2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D7DBD14-0777-7FAB-6AC0-7A4879E4FF34}"/>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49A41EB8-B57C-ED66-C2F8-6EF76EEAA6FC}"/>
              </a:ext>
            </a:extLst>
          </p:cNvPr>
          <p:cNvSpPr txBox="1"/>
          <p:nvPr/>
        </p:nvSpPr>
        <p:spPr>
          <a:xfrm>
            <a:off x="0" y="1013022"/>
            <a:ext cx="12196916" cy="5196166"/>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Example:</a:t>
            </a:r>
          </a:p>
          <a:p>
            <a:pPr>
              <a:lnSpc>
                <a:spcPct val="150000"/>
              </a:lnSpc>
            </a:pPr>
            <a:r>
              <a:rPr lang="en-US" sz="2800" dirty="0">
                <a:highlight>
                  <a:srgbClr val="FFFF00"/>
                </a:highlight>
                <a:latin typeface="Calibri" panose="020F0502020204030204" pitchFamily="34" charset="0"/>
                <a:cs typeface="Calibri" panose="020F0502020204030204" pitchFamily="34" charset="0"/>
              </a:rPr>
              <a:t># Python 3.11</a:t>
            </a:r>
          </a:p>
          <a:p>
            <a:pPr>
              <a:lnSpc>
                <a:spcPct val="150000"/>
              </a:lnSpc>
            </a:pPr>
            <a:r>
              <a:rPr lang="en-US" sz="2800" dirty="0">
                <a:highlight>
                  <a:srgbClr val="FFFF00"/>
                </a:highlight>
                <a:latin typeface="Calibri" panose="020F0502020204030204" pitchFamily="34" charset="0"/>
                <a:cs typeface="Calibri" panose="020F0502020204030204" pitchFamily="34" charset="0"/>
              </a:rPr>
              <a:t># Libraries: </a:t>
            </a:r>
            <a:r>
              <a:rPr lang="en-US" sz="2800" dirty="0" err="1">
                <a:highlight>
                  <a:srgbClr val="FFFF00"/>
                </a:highlight>
                <a:latin typeface="Calibri" panose="020F0502020204030204" pitchFamily="34" charset="0"/>
                <a:cs typeface="Calibri" panose="020F0502020204030204" pitchFamily="34" charset="0"/>
              </a:rPr>
              <a:t>nltk</a:t>
            </a:r>
            <a:r>
              <a:rPr lang="en-US" sz="2800" dirty="0">
                <a:highlight>
                  <a:srgbClr val="FFFF00"/>
                </a:highlight>
                <a:latin typeface="Calibri" panose="020F0502020204030204" pitchFamily="34" charset="0"/>
                <a:cs typeface="Calibri" panose="020F0502020204030204" pitchFamily="34" charset="0"/>
              </a:rPr>
              <a:t>, pandas, </a:t>
            </a:r>
            <a:r>
              <a:rPr lang="en-US" sz="2800" dirty="0" err="1">
                <a:highlight>
                  <a:srgbClr val="FFFF00"/>
                </a:highlight>
                <a:latin typeface="Calibri" panose="020F0502020204030204" pitchFamily="34" charset="0"/>
                <a:cs typeface="Calibri" panose="020F0502020204030204" pitchFamily="34" charset="0"/>
              </a:rPr>
              <a:t>sklearn</a:t>
            </a:r>
            <a:endParaRPr lang="en-US" sz="2800" dirty="0">
              <a:highlight>
                <a:srgbClr val="FFFF00"/>
              </a:highlight>
              <a:latin typeface="Calibri" panose="020F0502020204030204" pitchFamily="34" charset="0"/>
              <a:cs typeface="Calibri" panose="020F0502020204030204" pitchFamily="34" charset="0"/>
            </a:endParaRPr>
          </a:p>
          <a:p>
            <a:pPr>
              <a:lnSpc>
                <a:spcPct val="150000"/>
              </a:lnSpc>
            </a:pPr>
            <a:r>
              <a:rPr lang="en-US" sz="2800" dirty="0">
                <a:highlight>
                  <a:srgbClr val="FFFF00"/>
                </a:highlight>
                <a:latin typeface="Calibri" panose="020F0502020204030204" pitchFamily="34" charset="0"/>
                <a:cs typeface="Calibri" panose="020F0502020204030204" pitchFamily="34" charset="0"/>
              </a:rPr>
              <a:t># Random seed: 42</a:t>
            </a:r>
          </a:p>
          <a:p>
            <a:pPr>
              <a:lnSpc>
                <a:spcPct val="150000"/>
              </a:lnSpc>
            </a:pPr>
            <a:r>
              <a:rPr lang="en-US" sz="2800" dirty="0">
                <a:highlight>
                  <a:srgbClr val="FFFF00"/>
                </a:highlight>
                <a:latin typeface="Calibri" panose="020F0502020204030204" pitchFamily="34" charset="0"/>
                <a:cs typeface="Calibri" panose="020F0502020204030204" pitchFamily="34" charset="0"/>
              </a:rPr>
              <a:t># Run all cells from top to bottom</a:t>
            </a:r>
          </a:p>
          <a:p>
            <a:pPr>
              <a:lnSpc>
                <a:spcPct val="150000"/>
              </a:lnSpc>
              <a:buNone/>
            </a:pPr>
            <a:r>
              <a:rPr lang="en-US" sz="28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do we need reproducibility notes?</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So another person can run your notebook and get the same result.</a:t>
            </a:r>
          </a:p>
        </p:txBody>
      </p:sp>
    </p:spTree>
    <p:extLst>
      <p:ext uri="{BB962C8B-B14F-4D97-AF65-F5344CB8AC3E}">
        <p14:creationId xmlns:p14="http://schemas.microsoft.com/office/powerpoint/2010/main" val="362363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84EE4-9EFD-9AEE-492E-E37C0F6B8B4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A47F13-8FCD-4933-1914-A9055971D00E}"/>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AF9755F1-25AF-D0BA-843D-CA347BF6309C}"/>
              </a:ext>
            </a:extLst>
          </p:cNvPr>
          <p:cNvSpPr txBox="1"/>
          <p:nvPr/>
        </p:nvSpPr>
        <p:spPr>
          <a:xfrm>
            <a:off x="0" y="0"/>
            <a:ext cx="12196916" cy="5934830"/>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Step 3: Write Pipeline Functions</a:t>
            </a:r>
          </a:p>
          <a:p>
            <a:pPr>
              <a:lnSpc>
                <a:spcPct val="150000"/>
              </a:lnSpc>
              <a:buNone/>
            </a:pPr>
            <a:r>
              <a:rPr lang="en-US" sz="2800" dirty="0">
                <a:latin typeface="Calibri" panose="020F0502020204030204" pitchFamily="34" charset="0"/>
                <a:cs typeface="Calibri" panose="020F0502020204030204" pitchFamily="34" charset="0"/>
              </a:rPr>
              <a:t>Use simple functions such as:</a:t>
            </a:r>
          </a:p>
          <a:p>
            <a:pPr rtl="0">
              <a:lnSpc>
                <a:spcPct val="150000"/>
              </a:lnSpc>
              <a:buNone/>
            </a:pPr>
            <a:r>
              <a:rPr lang="en-US" sz="2800" dirty="0">
                <a:latin typeface="Calibri" panose="020F0502020204030204" pitchFamily="34" charset="0"/>
                <a:cs typeface="Calibri" panose="020F0502020204030204" pitchFamily="34" charset="0"/>
              </a:rPr>
              <a:t>def clean(text):</a:t>
            </a:r>
          </a:p>
          <a:p>
            <a:pPr rtl="0">
              <a:lnSpc>
                <a:spcPct val="150000"/>
              </a:lnSpc>
              <a:buNone/>
            </a:pPr>
            <a:r>
              <a:rPr lang="en-US" sz="2800" dirty="0">
                <a:latin typeface="Calibri" panose="020F0502020204030204" pitchFamily="34" charset="0"/>
                <a:cs typeface="Calibri" panose="020F0502020204030204" pitchFamily="34" charset="0"/>
              </a:rPr>
              <a:t>    return text</a:t>
            </a:r>
          </a:p>
          <a:p>
            <a:pPr rtl="0">
              <a:lnSpc>
                <a:spcPct val="150000"/>
              </a:lnSpc>
              <a:buNone/>
            </a:pPr>
            <a:r>
              <a:rPr lang="en-US" sz="2800" dirty="0">
                <a:latin typeface="Calibri" panose="020F0502020204030204" pitchFamily="34" charset="0"/>
                <a:cs typeface="Calibri" panose="020F0502020204030204" pitchFamily="34" charset="0"/>
              </a:rPr>
              <a:t>def </a:t>
            </a:r>
            <a:r>
              <a:rPr lang="en-US" sz="2800" dirty="0" err="1">
                <a:latin typeface="Calibri" panose="020F0502020204030204" pitchFamily="34" charset="0"/>
                <a:cs typeface="Calibri" panose="020F0502020204030204" pitchFamily="34" charset="0"/>
              </a:rPr>
              <a:t>tokenise</a:t>
            </a:r>
            <a:r>
              <a:rPr lang="en-US" sz="2800" dirty="0">
                <a:latin typeface="Calibri" panose="020F0502020204030204" pitchFamily="34" charset="0"/>
                <a:cs typeface="Calibri" panose="020F0502020204030204" pitchFamily="34" charset="0"/>
              </a:rPr>
              <a:t>(text):</a:t>
            </a:r>
          </a:p>
          <a:p>
            <a:pPr rtl="0">
              <a:lnSpc>
                <a:spcPct val="150000"/>
              </a:lnSpc>
              <a:buNone/>
            </a:pPr>
            <a:r>
              <a:rPr lang="en-US" sz="2800" dirty="0">
                <a:latin typeface="Calibri" panose="020F0502020204030204" pitchFamily="34" charset="0"/>
                <a:cs typeface="Calibri" panose="020F0502020204030204" pitchFamily="34" charset="0"/>
              </a:rPr>
              <a:t>    return tokens</a:t>
            </a:r>
          </a:p>
          <a:p>
            <a:pPr rtl="0">
              <a:lnSpc>
                <a:spcPct val="150000"/>
              </a:lnSpc>
              <a:buNone/>
            </a:pPr>
            <a:r>
              <a:rPr lang="en-US" sz="2800" dirty="0">
                <a:latin typeface="Calibri" panose="020F0502020204030204" pitchFamily="34" charset="0"/>
                <a:cs typeface="Calibri" panose="020F0502020204030204" pitchFamily="34" charset="0"/>
              </a:rPr>
              <a:t>def </a:t>
            </a:r>
            <a:r>
              <a:rPr lang="en-US" sz="2800" dirty="0" err="1">
                <a:latin typeface="Calibri" panose="020F0502020204030204" pitchFamily="34" charset="0"/>
                <a:cs typeface="Calibri" panose="020F0502020204030204" pitchFamily="34" charset="0"/>
              </a:rPr>
              <a:t>normalise</a:t>
            </a:r>
            <a:r>
              <a:rPr lang="en-US" sz="2800" dirty="0">
                <a:latin typeface="Calibri" panose="020F0502020204030204" pitchFamily="34" charset="0"/>
                <a:cs typeface="Calibri" panose="020F0502020204030204" pitchFamily="34" charset="0"/>
              </a:rPr>
              <a:t>(tokens):</a:t>
            </a:r>
          </a:p>
          <a:p>
            <a:pPr rtl="0">
              <a:lnSpc>
                <a:spcPct val="150000"/>
              </a:lnSpc>
              <a:buNone/>
            </a:pPr>
            <a:r>
              <a:rPr lang="en-US" sz="2800" dirty="0">
                <a:latin typeface="Calibri" panose="020F0502020204030204" pitchFamily="34" charset="0"/>
                <a:cs typeface="Calibri" panose="020F0502020204030204" pitchFamily="34" charset="0"/>
              </a:rPr>
              <a:t>    return </a:t>
            </a:r>
            <a:r>
              <a:rPr lang="en-US" sz="2800" dirty="0" err="1">
                <a:latin typeface="Calibri" panose="020F0502020204030204" pitchFamily="34" charset="0"/>
                <a:cs typeface="Calibri" panose="020F0502020204030204" pitchFamily="34" charset="0"/>
              </a:rPr>
              <a:t>normalised_tokens</a:t>
            </a:r>
            <a:endParaRPr lang="en-US" sz="2800" dirty="0">
              <a:latin typeface="Calibri" panose="020F0502020204030204" pitchFamily="34" charset="0"/>
              <a:cs typeface="Calibri" panose="020F0502020204030204" pitchFamily="34" charset="0"/>
            </a:endParaRPr>
          </a:p>
          <a:p>
            <a:pPr>
              <a:lnSpc>
                <a:spcPct val="150000"/>
              </a:lnSpc>
              <a:buNone/>
            </a:pPr>
            <a:r>
              <a:rPr lang="en-US" sz="2800" dirty="0">
                <a:latin typeface="Calibri" panose="020F0502020204030204" pitchFamily="34" charset="0"/>
                <a:cs typeface="Calibri" panose="020F0502020204030204" pitchFamily="34" charset="0"/>
              </a:rPr>
              <a:t>Your pipeline should run end-to-end.</a:t>
            </a:r>
          </a:p>
        </p:txBody>
      </p:sp>
    </p:spTree>
    <p:extLst>
      <p:ext uri="{BB962C8B-B14F-4D97-AF65-F5344CB8AC3E}">
        <p14:creationId xmlns:p14="http://schemas.microsoft.com/office/powerpoint/2010/main" val="7004963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A949E-1FD3-DEAB-5001-257AFC3BAB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241F264-3302-8A81-E4F5-ED4C686A1F71}"/>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1796B4F9-2148-0FC1-EFE6-D0C9A8FB77A1}"/>
              </a:ext>
            </a:extLst>
          </p:cNvPr>
          <p:cNvSpPr txBox="1"/>
          <p:nvPr/>
        </p:nvSpPr>
        <p:spPr>
          <a:xfrm>
            <a:off x="0" y="0"/>
            <a:ext cx="12196916" cy="2056845"/>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are functions better than random code cells?</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Functions make your work easier to test, repeat, and explain.</a:t>
            </a:r>
          </a:p>
        </p:txBody>
      </p:sp>
    </p:spTree>
    <p:extLst>
      <p:ext uri="{BB962C8B-B14F-4D97-AF65-F5344CB8AC3E}">
        <p14:creationId xmlns:p14="http://schemas.microsoft.com/office/powerpoint/2010/main" val="342695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E8B7D-4030-8CB8-387C-2B722BC4A1A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78AB0B-1F8E-2219-5D9E-A89C363D405C}"/>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7BB4432D-5051-9917-D7C6-A0847E623E9D}"/>
              </a:ext>
            </a:extLst>
          </p:cNvPr>
          <p:cNvSpPr txBox="1"/>
          <p:nvPr/>
        </p:nvSpPr>
        <p:spPr>
          <a:xfrm>
            <a:off x="0" y="1"/>
            <a:ext cx="12196916" cy="4549835"/>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Step 4: Clean the Text</a:t>
            </a:r>
          </a:p>
          <a:p>
            <a:pPr>
              <a:lnSpc>
                <a:spcPct val="150000"/>
              </a:lnSpc>
              <a:buNone/>
            </a:pPr>
            <a:r>
              <a:rPr lang="en-US" sz="2800" dirty="0">
                <a:latin typeface="Calibri" panose="020F0502020204030204" pitchFamily="34" charset="0"/>
                <a:cs typeface="Calibri" panose="020F0502020204030204" pitchFamily="34" charset="0"/>
              </a:rPr>
              <a:t>Cleaning may include:</a:t>
            </a:r>
          </a:p>
          <a:p>
            <a:pPr marL="6334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removing extra spaces, </a:t>
            </a:r>
          </a:p>
          <a:p>
            <a:pPr marL="6334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handling URLs, </a:t>
            </a:r>
          </a:p>
          <a:p>
            <a:pPr marL="6334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handling punctuation, </a:t>
            </a:r>
          </a:p>
          <a:p>
            <a:pPr marL="6334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fixing inconsistent case, </a:t>
            </a:r>
          </a:p>
          <a:p>
            <a:pPr marL="633413"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removing unwanted symbols. </a:t>
            </a:r>
          </a:p>
        </p:txBody>
      </p:sp>
    </p:spTree>
    <p:extLst>
      <p:ext uri="{BB962C8B-B14F-4D97-AF65-F5344CB8AC3E}">
        <p14:creationId xmlns:p14="http://schemas.microsoft.com/office/powerpoint/2010/main" val="41711767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82B8-F02F-A7A1-2439-3F9A2F1C46A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93778A6-6AED-0AA4-132E-9FFC53381679}"/>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BEC98C14-F126-230E-99C8-D2F874314CE7}"/>
              </a:ext>
            </a:extLst>
          </p:cNvPr>
          <p:cNvSpPr txBox="1"/>
          <p:nvPr/>
        </p:nvSpPr>
        <p:spPr>
          <a:xfrm>
            <a:off x="0" y="1"/>
            <a:ext cx="12196916" cy="6488828"/>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Similar Example</a:t>
            </a:r>
          </a:p>
          <a:p>
            <a:pPr>
              <a:lnSpc>
                <a:spcPct val="150000"/>
              </a:lnSpc>
              <a:buNone/>
            </a:pPr>
            <a:r>
              <a:rPr lang="en-US" sz="2800" dirty="0">
                <a:latin typeface="Calibri" panose="020F0502020204030204" pitchFamily="34" charset="0"/>
                <a:cs typeface="Calibri" panose="020F0502020204030204" pitchFamily="34" charset="0"/>
              </a:rPr>
              <a:t>Raw text:</a:t>
            </a:r>
          </a:p>
          <a:p>
            <a:pPr>
              <a:lnSpc>
                <a:spcPct val="150000"/>
              </a:lnSpc>
              <a:buNone/>
            </a:pPr>
            <a:r>
              <a:rPr lang="en-US" sz="2800" dirty="0">
                <a:latin typeface="Calibri" panose="020F0502020204030204" pitchFamily="34" charset="0"/>
                <a:cs typeface="Calibri" panose="020F0502020204030204" pitchFamily="34" charset="0"/>
              </a:rPr>
              <a:t>“WOW!!! This product is GREAT!!! Visit https://shop.com”</a:t>
            </a:r>
          </a:p>
          <a:p>
            <a:pPr>
              <a:lnSpc>
                <a:spcPct val="150000"/>
              </a:lnSpc>
              <a:buNone/>
            </a:pPr>
            <a:r>
              <a:rPr lang="en-US" sz="2800" dirty="0">
                <a:latin typeface="Calibri" panose="020F0502020204030204" pitchFamily="34" charset="0"/>
                <a:cs typeface="Calibri" panose="020F0502020204030204" pitchFamily="34" charset="0"/>
              </a:rPr>
              <a:t>Cleaned text may become:</a:t>
            </a:r>
          </a:p>
          <a:p>
            <a:pPr>
              <a:lnSpc>
                <a:spcPct val="150000"/>
              </a:lnSpc>
              <a:buNone/>
            </a:pPr>
            <a:r>
              <a:rPr lang="en-US" sz="2800" dirty="0">
                <a:latin typeface="Calibri" panose="020F0502020204030204" pitchFamily="34" charset="0"/>
                <a:cs typeface="Calibri" panose="020F0502020204030204" pitchFamily="34" charset="0"/>
              </a:rPr>
              <a:t>“wow this product is great visit https://shop.com”</a:t>
            </a:r>
          </a:p>
          <a:p>
            <a:pPr>
              <a:lnSpc>
                <a:spcPct val="150000"/>
              </a:lnSpc>
              <a:buNone/>
            </a:pPr>
            <a:r>
              <a:rPr lang="en-US" sz="2800" dirty="0">
                <a:latin typeface="Calibri" panose="020F0502020204030204" pitchFamily="34" charset="0"/>
                <a:cs typeface="Calibri" panose="020F0502020204030204" pitchFamily="34" charset="0"/>
              </a:rPr>
              <a:t>But be careful: removing too much can remove useful meaning.</a:t>
            </a:r>
          </a:p>
          <a:p>
            <a:pPr>
              <a:lnSpc>
                <a:spcPct val="150000"/>
              </a:lnSpc>
              <a:buNone/>
            </a:pPr>
            <a:r>
              <a:rPr lang="en-US" sz="28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Should I remove URLs?</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It depends. If URLs are not useful, remove them. If links show source or </a:t>
            </a:r>
            <a:r>
              <a:rPr lang="en-US" sz="2800" dirty="0" err="1">
                <a:latin typeface="Calibri" panose="020F0502020204030204" pitchFamily="34" charset="0"/>
                <a:cs typeface="Calibri" panose="020F0502020204030204" pitchFamily="34" charset="0"/>
              </a:rPr>
              <a:t>behaviour</a:t>
            </a:r>
            <a:r>
              <a:rPr lang="en-US" sz="2800" dirty="0">
                <a:latin typeface="Calibri" panose="020F0502020204030204" pitchFamily="34" charset="0"/>
                <a:cs typeface="Calibri" panose="020F0502020204030204" pitchFamily="34" charset="0"/>
              </a:rPr>
              <a:t>, keep or replace them with a token like &lt;URL&gt;.</a:t>
            </a:r>
          </a:p>
        </p:txBody>
      </p:sp>
    </p:spTree>
    <p:extLst>
      <p:ext uri="{BB962C8B-B14F-4D97-AF65-F5344CB8AC3E}">
        <p14:creationId xmlns:p14="http://schemas.microsoft.com/office/powerpoint/2010/main" val="386263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fade">
                                      <p:cBhvr>
                                        <p:cTn id="7" dur="1000"/>
                                        <p:tgtEl>
                                          <p:spTgt spid="4">
                                            <p:txEl>
                                              <p:pRg st="8" end="8"/>
                                            </p:txEl>
                                          </p:spTgt>
                                        </p:tgtEl>
                                      </p:cBhvr>
                                    </p:animEffect>
                                    <p:anim calcmode="lin" valueType="num">
                                      <p:cBhvr>
                                        <p:cTn id="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ECB89-0ECC-AC1B-A434-31D247F496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A14738-0C4A-54FB-0711-948B8E95F025}"/>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D527F28D-D13A-28B6-6646-6F134BFAD88C}"/>
              </a:ext>
            </a:extLst>
          </p:cNvPr>
          <p:cNvSpPr txBox="1"/>
          <p:nvPr/>
        </p:nvSpPr>
        <p:spPr>
          <a:xfrm>
            <a:off x="0" y="1"/>
            <a:ext cx="12196916" cy="4642168"/>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Step 5: </a:t>
            </a:r>
            <a:r>
              <a:rPr lang="en-US" sz="3200" b="1" dirty="0" err="1">
                <a:latin typeface="Calibri" panose="020F0502020204030204" pitchFamily="34" charset="0"/>
                <a:cs typeface="Calibri" panose="020F0502020204030204" pitchFamily="34" charset="0"/>
              </a:rPr>
              <a:t>Tokenise</a:t>
            </a:r>
            <a:r>
              <a:rPr lang="en-US" sz="3200" b="1" dirty="0">
                <a:latin typeface="Calibri" panose="020F0502020204030204" pitchFamily="34" charset="0"/>
                <a:cs typeface="Calibri" panose="020F0502020204030204" pitchFamily="34" charset="0"/>
              </a:rPr>
              <a:t> the Text</a:t>
            </a:r>
          </a:p>
          <a:p>
            <a:pPr>
              <a:lnSpc>
                <a:spcPct val="150000"/>
              </a:lnSpc>
              <a:buNone/>
            </a:pPr>
            <a:r>
              <a:rPr lang="en-US" sz="2800" dirty="0">
                <a:latin typeface="Calibri" panose="020F0502020204030204" pitchFamily="34" charset="0"/>
                <a:cs typeface="Calibri" panose="020F0502020204030204" pitchFamily="34" charset="0"/>
              </a:rPr>
              <a:t>Choose a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tool.</a:t>
            </a:r>
          </a:p>
          <a:p>
            <a:pPr>
              <a:lnSpc>
                <a:spcPct val="150000"/>
              </a:lnSpc>
              <a:buNone/>
            </a:pPr>
            <a:r>
              <a:rPr lang="en-US" sz="2800" dirty="0">
                <a:latin typeface="Calibri" panose="020F0502020204030204" pitchFamily="34" charset="0"/>
                <a:cs typeface="Calibri" panose="020F0502020204030204" pitchFamily="34" charset="0"/>
              </a:rPr>
              <a:t>Examples:</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NLTK tokenizer, </a:t>
            </a:r>
          </a:p>
          <a:p>
            <a:pPr marL="342900" lvl="0" indent="-342900">
              <a:lnSpc>
                <a:spcPct val="150000"/>
              </a:lnSpc>
              <a:buFont typeface="Arial" panose="020B0604020202020204" pitchFamily="34" charset="0"/>
              <a:buChar char="•"/>
            </a:pPr>
            <a:r>
              <a:rPr lang="en-US" sz="2800" dirty="0" err="1">
                <a:latin typeface="Calibri" panose="020F0502020204030204" pitchFamily="34" charset="0"/>
                <a:cs typeface="Calibri" panose="020F0502020204030204" pitchFamily="34" charset="0"/>
              </a:rPr>
              <a:t>spaCy</a:t>
            </a:r>
            <a:r>
              <a:rPr lang="en-US" sz="2800" dirty="0">
                <a:latin typeface="Calibri" panose="020F0502020204030204" pitchFamily="34" charset="0"/>
                <a:cs typeface="Calibri" panose="020F0502020204030204" pitchFamily="34" charset="0"/>
              </a:rPr>
              <a:t> tokenizer,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simple split for very basic text. </a:t>
            </a:r>
          </a:p>
          <a:p>
            <a:pPr>
              <a:lnSpc>
                <a:spcPct val="150000"/>
              </a:lnSpc>
              <a:buNone/>
            </a:pPr>
            <a:r>
              <a:rPr lang="en-US" sz="2800" dirty="0">
                <a:latin typeface="Calibri" panose="020F0502020204030204" pitchFamily="34" charset="0"/>
                <a:cs typeface="Calibri" panose="020F0502020204030204" pitchFamily="34" charset="0"/>
              </a:rPr>
              <a:t>Show at least one edge case.</a:t>
            </a:r>
          </a:p>
        </p:txBody>
      </p:sp>
    </p:spTree>
    <p:extLst>
      <p:ext uri="{BB962C8B-B14F-4D97-AF65-F5344CB8AC3E}">
        <p14:creationId xmlns:p14="http://schemas.microsoft.com/office/powerpoint/2010/main" val="3244496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36D71-CA32-AD80-6186-174A1AA5C0B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DCD384-9048-3228-0095-81A97A83B0C8}"/>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A9A1B110-6162-C45E-2F0A-6E11F63D707F}"/>
              </a:ext>
            </a:extLst>
          </p:cNvPr>
          <p:cNvSpPr txBox="1"/>
          <p:nvPr/>
        </p:nvSpPr>
        <p:spPr>
          <a:xfrm>
            <a:off x="0" y="1"/>
            <a:ext cx="12196916" cy="6488828"/>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Edge cases:</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URL,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emoji,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hyphenated word,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contraction,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punctuation,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email address. </a:t>
            </a:r>
          </a:p>
          <a:p>
            <a:pPr>
              <a:lnSpc>
                <a:spcPct val="150000"/>
              </a:lnSpc>
              <a:buNone/>
            </a:pPr>
            <a:r>
              <a:rPr lang="en-US" sz="2800" b="1" dirty="0">
                <a:latin typeface="Calibri" panose="020F0502020204030204" pitchFamily="34" charset="0"/>
                <a:cs typeface="Calibri" panose="020F0502020204030204" pitchFamily="34" charset="0"/>
              </a:rPr>
              <a:t>Similar Example</a:t>
            </a:r>
          </a:p>
          <a:p>
            <a:pPr>
              <a:lnSpc>
                <a:spcPct val="150000"/>
              </a:lnSpc>
              <a:buNone/>
            </a:pPr>
            <a:r>
              <a:rPr lang="en-US" sz="2800" dirty="0">
                <a:latin typeface="Calibri" panose="020F0502020204030204" pitchFamily="34" charset="0"/>
                <a:cs typeface="Calibri" panose="020F0502020204030204" pitchFamily="34" charset="0"/>
              </a:rPr>
              <a:t>Text: “Email me at </a:t>
            </a:r>
            <a:r>
              <a:rPr lang="en-US" sz="2800" dirty="0">
                <a:latin typeface="Calibri" panose="020F0502020204030204" pitchFamily="34" charset="0"/>
                <a:cs typeface="Calibri" panose="020F0502020204030204" pitchFamily="34" charset="0"/>
                <a:hlinkClick r:id="rId3"/>
              </a:rPr>
              <a:t>test@email.com</a:t>
            </a:r>
            <a:r>
              <a:rPr lang="en-US" sz="2800" dirty="0">
                <a:latin typeface="Calibri" panose="020F0502020204030204" pitchFamily="34" charset="0"/>
                <a:cs typeface="Calibri" panose="020F0502020204030204" pitchFamily="34" charset="0"/>
              </a:rPr>
              <a:t> — it’s urgent!”</a:t>
            </a:r>
          </a:p>
          <a:p>
            <a:pPr>
              <a:lnSpc>
                <a:spcPct val="150000"/>
              </a:lnSpc>
              <a:buNone/>
            </a:pPr>
            <a:r>
              <a:rPr lang="en-US" sz="2800" dirty="0">
                <a:latin typeface="Calibri" panose="020F0502020204030204" pitchFamily="34" charset="0"/>
                <a:cs typeface="Calibri" panose="020F0502020204030204" pitchFamily="34" charset="0"/>
              </a:rPr>
              <a:t>Possible tokens: Email, me, at, </a:t>
            </a:r>
            <a:r>
              <a:rPr lang="en-US" sz="2800" dirty="0">
                <a:latin typeface="Calibri" panose="020F0502020204030204" pitchFamily="34" charset="0"/>
                <a:cs typeface="Calibri" panose="020F0502020204030204" pitchFamily="34" charset="0"/>
                <a:hlinkClick r:id="rId3"/>
              </a:rPr>
              <a:t>test@email.com</a:t>
            </a:r>
            <a:r>
              <a:rPr lang="en-US" sz="2800" dirty="0">
                <a:latin typeface="Calibri" panose="020F0502020204030204" pitchFamily="34" charset="0"/>
                <a:cs typeface="Calibri" panose="020F0502020204030204" pitchFamily="34" charset="0"/>
              </a:rPr>
              <a:t>, —, it, ’s, urgent, !</a:t>
            </a:r>
          </a:p>
        </p:txBody>
      </p:sp>
    </p:spTree>
    <p:extLst>
      <p:ext uri="{BB962C8B-B14F-4D97-AF65-F5344CB8AC3E}">
        <p14:creationId xmlns:p14="http://schemas.microsoft.com/office/powerpoint/2010/main" val="2353484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4288C-1D1A-5AAF-04E1-2D78EDFEB36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4F56738-A5B4-B522-5062-31D534C00AB1}"/>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AEA6CE1C-81D3-00F6-DA34-713F99C2AAC1}"/>
              </a:ext>
            </a:extLst>
          </p:cNvPr>
          <p:cNvSpPr txBox="1"/>
          <p:nvPr/>
        </p:nvSpPr>
        <p:spPr>
          <a:xfrm>
            <a:off x="0" y="1755059"/>
            <a:ext cx="12196916" cy="2056845"/>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should I show an edge case?</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It proves you tested your tokenizer on real messy language.</a:t>
            </a:r>
          </a:p>
        </p:txBody>
      </p:sp>
    </p:spTree>
    <p:extLst>
      <p:ext uri="{BB962C8B-B14F-4D97-AF65-F5344CB8AC3E}">
        <p14:creationId xmlns:p14="http://schemas.microsoft.com/office/powerpoint/2010/main" val="322992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B627-0B95-F1A6-AF09-88FC0719B7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95594C-79F1-8290-EE38-4339CC4852C0}"/>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0ED66890-AF5C-667E-A035-26E43368C102}"/>
              </a:ext>
            </a:extLst>
          </p:cNvPr>
          <p:cNvSpPr txBox="1"/>
          <p:nvPr/>
        </p:nvSpPr>
        <p:spPr>
          <a:xfrm>
            <a:off x="0" y="0"/>
            <a:ext cx="12196916" cy="4642168"/>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Step 6: Choose One </a:t>
            </a:r>
            <a:r>
              <a:rPr lang="en-US" sz="3200" b="1" dirty="0" err="1">
                <a:latin typeface="Calibri" panose="020F0502020204030204" pitchFamily="34" charset="0"/>
                <a:cs typeface="Calibri" panose="020F0502020204030204" pitchFamily="34" charset="0"/>
              </a:rPr>
              <a:t>Normalisation</a:t>
            </a:r>
            <a:r>
              <a:rPr lang="en-US" sz="3200" b="1" dirty="0">
                <a:latin typeface="Calibri" panose="020F0502020204030204" pitchFamily="34" charset="0"/>
                <a:cs typeface="Calibri" panose="020F0502020204030204" pitchFamily="34" charset="0"/>
              </a:rPr>
              <a:t> Policy</a:t>
            </a:r>
          </a:p>
          <a:p>
            <a:pPr>
              <a:lnSpc>
                <a:spcPct val="150000"/>
              </a:lnSpc>
            </a:pPr>
            <a:r>
              <a:rPr lang="en-US" sz="2800" dirty="0">
                <a:latin typeface="Calibri" panose="020F0502020204030204" pitchFamily="34" charset="0"/>
                <a:cs typeface="Calibri" panose="020F0502020204030204" pitchFamily="34" charset="0"/>
              </a:rPr>
              <a:t>Choose </a:t>
            </a:r>
            <a:r>
              <a:rPr lang="en-US" sz="2800" dirty="0" err="1">
                <a:latin typeface="Calibri" panose="020F0502020204030204" pitchFamily="34" charset="0"/>
                <a:cs typeface="Calibri" panose="020F0502020204030204" pitchFamily="34" charset="0"/>
              </a:rPr>
              <a:t>lemmatisation</a:t>
            </a:r>
            <a:r>
              <a:rPr lang="en-US" sz="2800" dirty="0">
                <a:latin typeface="Calibri" panose="020F0502020204030204" pitchFamily="34" charset="0"/>
                <a:cs typeface="Calibri" panose="020F0502020204030204" pitchFamily="34" charset="0"/>
              </a:rPr>
              <a:t> or stemming, not both as your main policy.</a:t>
            </a:r>
          </a:p>
          <a:p>
            <a:pPr>
              <a:lnSpc>
                <a:spcPct val="150000"/>
              </a:lnSpc>
            </a:pPr>
            <a:r>
              <a:rPr lang="en-US" sz="2800" dirty="0">
                <a:latin typeface="Calibri" panose="020F0502020204030204" pitchFamily="34" charset="0"/>
                <a:cs typeface="Calibri" panose="020F0502020204030204" pitchFamily="34" charset="0"/>
              </a:rPr>
              <a:t>Stemming example:</a:t>
            </a:r>
          </a:p>
          <a:p>
            <a:pPr marL="457200"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studies → </a:t>
            </a:r>
            <a:r>
              <a:rPr lang="en-US" sz="2800" dirty="0" err="1">
                <a:latin typeface="Calibri" panose="020F0502020204030204" pitchFamily="34" charset="0"/>
                <a:cs typeface="Calibri" panose="020F0502020204030204" pitchFamily="34" charset="0"/>
              </a:rPr>
              <a:t>studi</a:t>
            </a:r>
            <a:r>
              <a:rPr lang="en-US" sz="2800" dirty="0">
                <a:latin typeface="Calibri" panose="020F0502020204030204" pitchFamily="34" charset="0"/>
                <a:cs typeface="Calibri" panose="020F0502020204030204" pitchFamily="34" charset="0"/>
              </a:rPr>
              <a:t> </a:t>
            </a:r>
          </a:p>
          <a:p>
            <a:pPr>
              <a:lnSpc>
                <a:spcPct val="150000"/>
              </a:lnSpc>
            </a:pPr>
            <a:r>
              <a:rPr lang="en-US" sz="2800" dirty="0" err="1">
                <a:latin typeface="Calibri" panose="020F0502020204030204" pitchFamily="34" charset="0"/>
                <a:cs typeface="Calibri" panose="020F0502020204030204" pitchFamily="34" charset="0"/>
              </a:rPr>
              <a:t>Lemmatisation</a:t>
            </a:r>
            <a:r>
              <a:rPr lang="en-US" sz="2800" dirty="0">
                <a:latin typeface="Calibri" panose="020F0502020204030204" pitchFamily="34" charset="0"/>
                <a:cs typeface="Calibri" panose="020F0502020204030204" pitchFamily="34" charset="0"/>
              </a:rPr>
              <a:t> example:</a:t>
            </a:r>
          </a:p>
          <a:p>
            <a:pPr marL="457200"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studies → study </a:t>
            </a:r>
          </a:p>
          <a:p>
            <a:pPr marL="457200"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better → good </a:t>
            </a:r>
          </a:p>
        </p:txBody>
      </p:sp>
    </p:spTree>
    <p:extLst>
      <p:ext uri="{BB962C8B-B14F-4D97-AF65-F5344CB8AC3E}">
        <p14:creationId xmlns:p14="http://schemas.microsoft.com/office/powerpoint/2010/main" val="9191657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1D142-2154-0215-CDCE-CA62B9E7C2F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F026B71-0B96-54DC-4EA0-A10D7DCD9D61}"/>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FDC3D924-1F90-2E3F-6A5F-55EB997B0D93}"/>
              </a:ext>
            </a:extLst>
          </p:cNvPr>
          <p:cNvSpPr txBox="1"/>
          <p:nvPr/>
        </p:nvSpPr>
        <p:spPr>
          <a:xfrm>
            <a:off x="0" y="0"/>
            <a:ext cx="12196916" cy="3995837"/>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Discussion Question</a:t>
            </a:r>
          </a:p>
          <a:p>
            <a:pPr>
              <a:lnSpc>
                <a:spcPct val="150000"/>
              </a:lnSpc>
            </a:pPr>
            <a:r>
              <a:rPr lang="en-US" sz="2800" dirty="0">
                <a:latin typeface="Calibri" panose="020F0502020204030204" pitchFamily="34" charset="0"/>
                <a:cs typeface="Calibri" panose="020F0502020204030204" pitchFamily="34" charset="0"/>
              </a:rPr>
              <a:t>Q: Which one is easier to explain?</a:t>
            </a:r>
          </a:p>
          <a:p>
            <a:pPr>
              <a:lnSpc>
                <a:spcPct val="150000"/>
              </a:lnSpc>
            </a:pPr>
            <a:r>
              <a:rPr lang="en-US" sz="2800" dirty="0">
                <a:latin typeface="Calibri" panose="020F0502020204030204" pitchFamily="34" charset="0"/>
                <a:cs typeface="Calibri" panose="020F0502020204030204" pitchFamily="34" charset="0"/>
              </a:rPr>
              <a:t>A: </a:t>
            </a:r>
            <a:r>
              <a:rPr lang="en-US" sz="2800" dirty="0" err="1">
                <a:latin typeface="Calibri" panose="020F0502020204030204" pitchFamily="34" charset="0"/>
                <a:cs typeface="Calibri" panose="020F0502020204030204" pitchFamily="34" charset="0"/>
              </a:rPr>
              <a:t>Lemmatisation</a:t>
            </a:r>
            <a:r>
              <a:rPr lang="en-US" sz="2800" dirty="0">
                <a:latin typeface="Calibri" panose="020F0502020204030204" pitchFamily="34" charset="0"/>
                <a:cs typeface="Calibri" panose="020F0502020204030204" pitchFamily="34" charset="0"/>
              </a:rPr>
              <a:t> is often easier to explain because it keeps real dictionary-like words.</a:t>
            </a:r>
          </a:p>
          <a:p>
            <a:pPr>
              <a:lnSpc>
                <a:spcPct val="150000"/>
              </a:lnSpc>
            </a:pPr>
            <a:r>
              <a:rPr lang="en-US" sz="2800" dirty="0">
                <a:latin typeface="Calibri" panose="020F0502020204030204" pitchFamily="34" charset="0"/>
                <a:cs typeface="Calibri" panose="020F0502020204030204" pitchFamily="34" charset="0"/>
              </a:rPr>
              <a:t>Q: Is stemming wrong?</a:t>
            </a:r>
          </a:p>
          <a:p>
            <a:pPr>
              <a:lnSpc>
                <a:spcPct val="150000"/>
              </a:lnSpc>
            </a:pPr>
            <a:r>
              <a:rPr lang="en-US" sz="2800" dirty="0">
                <a:latin typeface="Calibri" panose="020F0502020204030204" pitchFamily="34" charset="0"/>
                <a:cs typeface="Calibri" panose="020F0502020204030204" pitchFamily="34" charset="0"/>
              </a:rPr>
              <a:t>A: No. It can be useful, but it may produce less readable word forms.</a:t>
            </a:r>
          </a:p>
        </p:txBody>
      </p:sp>
    </p:spTree>
    <p:extLst>
      <p:ext uri="{BB962C8B-B14F-4D97-AF65-F5344CB8AC3E}">
        <p14:creationId xmlns:p14="http://schemas.microsoft.com/office/powerpoint/2010/main" val="1807360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1000"/>
                                        <p:tgtEl>
                                          <p:spTgt spid="5">
                                            <p:txEl>
                                              <p:pRg st="4" end="4"/>
                                            </p:txEl>
                                          </p:spTgt>
                                        </p:tgtEl>
                                      </p:cBhvr>
                                    </p:animEffect>
                                    <p:anim calcmode="lin" valueType="num">
                                      <p:cBhvr>
                                        <p:cTn id="1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3ECE7-D806-7DE8-D86F-BC5D74FC24C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1A1B39-4BFC-094A-3E51-5DCF6EABE8AD}"/>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D5059290-BCEE-A3A4-2CDB-C5DA34CC8E37}"/>
              </a:ext>
            </a:extLst>
          </p:cNvPr>
          <p:cNvSpPr txBox="1"/>
          <p:nvPr/>
        </p:nvSpPr>
        <p:spPr>
          <a:xfrm>
            <a:off x="0" y="0"/>
            <a:ext cx="12196916" cy="7001404"/>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Step 7: Build a Vocabulary Summary</a:t>
            </a:r>
          </a:p>
          <a:p>
            <a:pPr>
              <a:lnSpc>
                <a:spcPct val="150000"/>
              </a:lnSpc>
            </a:pPr>
            <a:r>
              <a:rPr lang="en-US" sz="2800" dirty="0">
                <a:latin typeface="Calibri" panose="020F0502020204030204" pitchFamily="34" charset="0"/>
                <a:cs typeface="Calibri" panose="020F0502020204030204" pitchFamily="34" charset="0"/>
              </a:rPr>
              <a:t>Report:</a:t>
            </a:r>
          </a:p>
          <a:p>
            <a:pPr marL="892175" lvl="0" indent="-457200">
              <a:lnSpc>
                <a:spcPct val="150000"/>
              </a:lnSpc>
              <a:buFont typeface="Arial" panose="020B0604020202020204" pitchFamily="34" charset="0"/>
              <a:buChar char="•"/>
              <a:tabLst>
                <a:tab pos="892175" algn="l"/>
              </a:tabLst>
            </a:pPr>
            <a:r>
              <a:rPr lang="en-US" sz="2800" dirty="0">
                <a:latin typeface="Calibri" panose="020F0502020204030204" pitchFamily="34" charset="0"/>
                <a:cs typeface="Calibri" panose="020F0502020204030204" pitchFamily="34" charset="0"/>
              </a:rPr>
              <a:t>vocabulary size, </a:t>
            </a:r>
          </a:p>
          <a:p>
            <a:pPr marL="892175" lvl="0" indent="-457200">
              <a:lnSpc>
                <a:spcPct val="150000"/>
              </a:lnSpc>
              <a:buFont typeface="Arial" panose="020B0604020202020204" pitchFamily="34" charset="0"/>
              <a:buChar char="•"/>
              <a:tabLst>
                <a:tab pos="892175" algn="l"/>
              </a:tabLst>
            </a:pPr>
            <a:r>
              <a:rPr lang="en-US" sz="2800" dirty="0">
                <a:latin typeface="Calibri" panose="020F0502020204030204" pitchFamily="34" charset="0"/>
                <a:cs typeface="Calibri" panose="020F0502020204030204" pitchFamily="34" charset="0"/>
              </a:rPr>
              <a:t>top 5 tokens, </a:t>
            </a:r>
          </a:p>
          <a:p>
            <a:pPr marL="892175" lvl="0" indent="-457200">
              <a:lnSpc>
                <a:spcPct val="150000"/>
              </a:lnSpc>
              <a:buFont typeface="Arial" panose="020B0604020202020204" pitchFamily="34" charset="0"/>
              <a:buChar char="•"/>
              <a:tabLst>
                <a:tab pos="892175" algn="l"/>
              </a:tabLst>
            </a:pPr>
            <a:r>
              <a:rPr lang="en-US" sz="2800" dirty="0" err="1">
                <a:latin typeface="Calibri" panose="020F0502020204030204" pitchFamily="34" charset="0"/>
                <a:cs typeface="Calibri" panose="020F0502020204030204" pitchFamily="34" charset="0"/>
              </a:rPr>
              <a:t>stopword</a:t>
            </a:r>
            <a:r>
              <a:rPr lang="en-US" sz="2800" dirty="0">
                <a:latin typeface="Calibri" panose="020F0502020204030204" pitchFamily="34" charset="0"/>
                <a:cs typeface="Calibri" panose="020F0502020204030204" pitchFamily="34" charset="0"/>
              </a:rPr>
              <a:t> policy, </a:t>
            </a:r>
          </a:p>
          <a:p>
            <a:pPr marL="892175" lvl="0" indent="-457200">
              <a:lnSpc>
                <a:spcPct val="150000"/>
              </a:lnSpc>
              <a:buFont typeface="Arial" panose="020B0604020202020204" pitchFamily="34" charset="0"/>
              <a:buChar char="•"/>
              <a:tabLst>
                <a:tab pos="892175" algn="l"/>
              </a:tabLst>
            </a:pPr>
            <a:r>
              <a:rPr lang="en-US" sz="2800" dirty="0">
                <a:latin typeface="Calibri" panose="020F0502020204030204" pitchFamily="34" charset="0"/>
                <a:cs typeface="Calibri" panose="020F0502020204030204" pitchFamily="34" charset="0"/>
              </a:rPr>
              <a:t>rare-token rule. </a:t>
            </a:r>
          </a:p>
          <a:p>
            <a:pPr>
              <a:lnSpc>
                <a:spcPct val="150000"/>
              </a:lnSpc>
            </a:pPr>
            <a:r>
              <a:rPr lang="en-US" sz="2600" dirty="0">
                <a:latin typeface="Calibri" panose="020F0502020204030204" pitchFamily="34" charset="0"/>
                <a:cs typeface="Calibri" panose="020F0502020204030204" pitchFamily="34" charset="0"/>
              </a:rPr>
              <a:t>Example:</a:t>
            </a:r>
          </a:p>
          <a:p>
            <a:pPr>
              <a:lnSpc>
                <a:spcPct val="150000"/>
              </a:lnSpc>
            </a:pPr>
            <a:r>
              <a:rPr lang="en-US" sz="2600" dirty="0">
                <a:latin typeface="Calibri" panose="020F0502020204030204" pitchFamily="34" charset="0"/>
                <a:cs typeface="Calibri" panose="020F0502020204030204" pitchFamily="34" charset="0"/>
              </a:rPr>
              <a:t>Vocabulary size: 850</a:t>
            </a:r>
          </a:p>
          <a:p>
            <a:pPr>
              <a:lnSpc>
                <a:spcPct val="150000"/>
              </a:lnSpc>
            </a:pPr>
            <a:r>
              <a:rPr lang="en-US" sz="2600" dirty="0">
                <a:latin typeface="Calibri" panose="020F0502020204030204" pitchFamily="34" charset="0"/>
                <a:cs typeface="Calibri" panose="020F0502020204030204" pitchFamily="34" charset="0"/>
              </a:rPr>
              <a:t>Top tokens: data, service, app, customer, error</a:t>
            </a:r>
          </a:p>
          <a:p>
            <a:pPr>
              <a:lnSpc>
                <a:spcPct val="150000"/>
              </a:lnSpc>
            </a:pPr>
            <a:r>
              <a:rPr lang="en-US" sz="2600" dirty="0">
                <a:latin typeface="Calibri" panose="020F0502020204030204" pitchFamily="34" charset="0"/>
                <a:cs typeface="Calibri" panose="020F0502020204030204" pitchFamily="34" charset="0"/>
              </a:rPr>
              <a:t>Rare-token rule: remove tokens that occur only once</a:t>
            </a:r>
          </a:p>
          <a:p>
            <a:pPr>
              <a:lnSpc>
                <a:spcPct val="150000"/>
              </a:lnSpc>
            </a:pPr>
            <a:r>
              <a:rPr lang="en-US" sz="2600" dirty="0" err="1">
                <a:latin typeface="Calibri" panose="020F0502020204030204" pitchFamily="34" charset="0"/>
                <a:cs typeface="Calibri" panose="020F0502020204030204" pitchFamily="34" charset="0"/>
              </a:rPr>
              <a:t>Stopword</a:t>
            </a:r>
            <a:r>
              <a:rPr lang="en-US" sz="2600" dirty="0">
                <a:latin typeface="Calibri" panose="020F0502020204030204" pitchFamily="34" charset="0"/>
                <a:cs typeface="Calibri" panose="020F0502020204030204" pitchFamily="34" charset="0"/>
              </a:rPr>
              <a:t> policy: removed common English </a:t>
            </a:r>
            <a:r>
              <a:rPr lang="en-US" sz="2600" dirty="0" err="1">
                <a:latin typeface="Calibri" panose="020F0502020204030204" pitchFamily="34" charset="0"/>
                <a:cs typeface="Calibri" panose="020F0502020204030204" pitchFamily="34" charset="0"/>
              </a:rPr>
              <a:t>stopwords</a:t>
            </a:r>
            <a:endParaRPr lang="en-US"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369086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8B6D4-089A-8A98-E392-75AC3226337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ADBDCE2-5F32-5746-B2BF-C2394A313985}"/>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FBF945FB-BA13-3B43-EA2C-314D722EC64E}"/>
              </a:ext>
            </a:extLst>
          </p:cNvPr>
          <p:cNvSpPr txBox="1"/>
          <p:nvPr/>
        </p:nvSpPr>
        <p:spPr>
          <a:xfrm>
            <a:off x="0" y="0"/>
            <a:ext cx="12196916" cy="2056845"/>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Discussion Question</a:t>
            </a:r>
          </a:p>
          <a:p>
            <a:pPr>
              <a:lnSpc>
                <a:spcPct val="150000"/>
              </a:lnSpc>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remove rare tokens?</a:t>
            </a:r>
          </a:p>
          <a:p>
            <a:pPr>
              <a:lnSpc>
                <a:spcPct val="150000"/>
              </a:lnSpc>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Rare tokens can make the vocabulary very large and sparse.</a:t>
            </a:r>
          </a:p>
        </p:txBody>
      </p:sp>
    </p:spTree>
    <p:extLst>
      <p:ext uri="{BB962C8B-B14F-4D97-AF65-F5344CB8AC3E}">
        <p14:creationId xmlns:p14="http://schemas.microsoft.com/office/powerpoint/2010/main" val="2410227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B1AC7-296E-7060-2F5C-678E67E833C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AEC9848-A306-792D-E7E7-9DE00909C550}"/>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graphicFrame>
        <p:nvGraphicFramePr>
          <p:cNvPr id="2" name="Table 1">
            <a:extLst>
              <a:ext uri="{FF2B5EF4-FFF2-40B4-BE49-F238E27FC236}">
                <a16:creationId xmlns:a16="http://schemas.microsoft.com/office/drawing/2014/main" id="{136866F2-BDA3-D8E4-DF77-96464A82A2AF}"/>
              </a:ext>
            </a:extLst>
          </p:cNvPr>
          <p:cNvGraphicFramePr>
            <a:graphicFrameLocks noGrp="1"/>
          </p:cNvGraphicFramePr>
          <p:nvPr>
            <p:extLst>
              <p:ext uri="{D42A27DB-BD31-4B8C-83A1-F6EECF244321}">
                <p14:modId xmlns:p14="http://schemas.microsoft.com/office/powerpoint/2010/main" val="2238107210"/>
              </p:ext>
            </p:extLst>
          </p:nvPr>
        </p:nvGraphicFramePr>
        <p:xfrm>
          <a:off x="0" y="2355373"/>
          <a:ext cx="10515600" cy="207264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4253596307"/>
                    </a:ext>
                  </a:extLst>
                </a:gridCol>
                <a:gridCol w="5257800">
                  <a:extLst>
                    <a:ext uri="{9D8B030D-6E8A-4147-A177-3AD203B41FA5}">
                      <a16:colId xmlns:a16="http://schemas.microsoft.com/office/drawing/2014/main" val="3709403287"/>
                    </a:ext>
                  </a:extLst>
                </a:gridCol>
              </a:tblGrid>
              <a:tr h="0">
                <a:tc>
                  <a:txBody>
                    <a:bodyPr/>
                    <a:lstStyle/>
                    <a:p>
                      <a:pPr>
                        <a:buNone/>
                      </a:pPr>
                      <a:r>
                        <a:rPr lang="en-US" sz="2800" dirty="0">
                          <a:latin typeface="Calibri" panose="020F0502020204030204" pitchFamily="34" charset="0"/>
                          <a:cs typeface="Calibri" panose="020F0502020204030204" pitchFamily="34" charset="0"/>
                        </a:rPr>
                        <a:t>Raw text</a:t>
                      </a:r>
                    </a:p>
                  </a:txBody>
                  <a:tcPr anchor="ctr">
                    <a:solidFill>
                      <a:schemeClr val="accent5">
                        <a:lumMod val="20000"/>
                        <a:lumOff val="80000"/>
                      </a:schemeClr>
                    </a:solidFill>
                  </a:tcPr>
                </a:tc>
                <a:tc>
                  <a:txBody>
                    <a:bodyPr/>
                    <a:lstStyle/>
                    <a:p>
                      <a:pPr>
                        <a:buNone/>
                      </a:pPr>
                      <a:r>
                        <a:rPr lang="en-US" sz="2800">
                          <a:latin typeface="Calibri" panose="020F0502020204030204" pitchFamily="34" charset="0"/>
                          <a:cs typeface="Calibri" panose="020F0502020204030204" pitchFamily="34" charset="0"/>
                        </a:rPr>
                        <a:t>After preprocessing</a:t>
                      </a:r>
                    </a:p>
                  </a:txBody>
                  <a:tcPr anchor="ctr">
                    <a:solidFill>
                      <a:schemeClr val="accent5">
                        <a:lumMod val="20000"/>
                        <a:lumOff val="80000"/>
                      </a:schemeClr>
                    </a:solidFill>
                  </a:tcPr>
                </a:tc>
                <a:extLst>
                  <a:ext uri="{0D108BD9-81ED-4DB2-BD59-A6C34878D82A}">
                    <a16:rowId xmlns:a16="http://schemas.microsoft.com/office/drawing/2014/main" val="3302718215"/>
                  </a:ext>
                </a:extLst>
              </a:tr>
              <a:tr h="0">
                <a:tc>
                  <a:txBody>
                    <a:bodyPr/>
                    <a:lstStyle/>
                    <a:p>
                      <a:pPr>
                        <a:buNone/>
                      </a:pPr>
                      <a:r>
                        <a:rPr lang="en-US" sz="2800">
                          <a:latin typeface="Calibri" panose="020F0502020204030204" pitchFamily="34" charset="0"/>
                          <a:cs typeface="Calibri" panose="020F0502020204030204" pitchFamily="34" charset="0"/>
                        </a:rPr>
                        <a:t>“I’m LOVING this app!!! 😊”</a:t>
                      </a:r>
                    </a:p>
                  </a:txBody>
                  <a:tcPr anchor="ctr">
                    <a:solidFill>
                      <a:schemeClr val="accent5">
                        <a:lumMod val="20000"/>
                        <a:lumOff val="80000"/>
                      </a:schemeClr>
                    </a:solidFill>
                  </a:tcPr>
                </a:tc>
                <a:tc>
                  <a:txBody>
                    <a:bodyPr/>
                    <a:lstStyle/>
                    <a:p>
                      <a:pPr>
                        <a:buNone/>
                      </a:pPr>
                      <a:r>
                        <a:rPr lang="en-US" sz="2800">
                          <a:latin typeface="Calibri" panose="020F0502020204030204" pitchFamily="34" charset="0"/>
                          <a:cs typeface="Calibri" panose="020F0502020204030204" pitchFamily="34" charset="0"/>
                        </a:rPr>
                        <a:t>i, am, love, app, 😊</a:t>
                      </a:r>
                    </a:p>
                  </a:txBody>
                  <a:tcPr anchor="ctr">
                    <a:solidFill>
                      <a:schemeClr val="accent5">
                        <a:lumMod val="20000"/>
                        <a:lumOff val="80000"/>
                      </a:schemeClr>
                    </a:solidFill>
                  </a:tcPr>
                </a:tc>
                <a:extLst>
                  <a:ext uri="{0D108BD9-81ED-4DB2-BD59-A6C34878D82A}">
                    <a16:rowId xmlns:a16="http://schemas.microsoft.com/office/drawing/2014/main" val="222531670"/>
                  </a:ext>
                </a:extLst>
              </a:tr>
              <a:tr h="0">
                <a:tc>
                  <a:txBody>
                    <a:bodyPr/>
                    <a:lstStyle/>
                    <a:p>
                      <a:pPr>
                        <a:buNone/>
                      </a:pPr>
                      <a:r>
                        <a:rPr lang="en-US" sz="2800">
                          <a:latin typeface="Calibri" panose="020F0502020204030204" pitchFamily="34" charset="0"/>
                          <a:cs typeface="Calibri" panose="020F0502020204030204" pitchFamily="34" charset="0"/>
                        </a:rPr>
                        <a:t>“Battery-life is poor.”</a:t>
                      </a:r>
                    </a:p>
                  </a:txBody>
                  <a:tcPr anchor="ctr">
                    <a:solidFill>
                      <a:schemeClr val="accent5">
                        <a:lumMod val="20000"/>
                        <a:lumOff val="80000"/>
                      </a:schemeClr>
                    </a:solidFill>
                  </a:tcPr>
                </a:tc>
                <a:tc>
                  <a:txBody>
                    <a:bodyPr/>
                    <a:lstStyle/>
                    <a:p>
                      <a:pPr>
                        <a:buNone/>
                      </a:pPr>
                      <a:r>
                        <a:rPr lang="en-US" sz="2800">
                          <a:latin typeface="Calibri" panose="020F0502020204030204" pitchFamily="34" charset="0"/>
                          <a:cs typeface="Calibri" panose="020F0502020204030204" pitchFamily="34" charset="0"/>
                        </a:rPr>
                        <a:t>battery-life, be, poor</a:t>
                      </a:r>
                    </a:p>
                  </a:txBody>
                  <a:tcPr anchor="ctr">
                    <a:solidFill>
                      <a:schemeClr val="accent5">
                        <a:lumMod val="20000"/>
                        <a:lumOff val="80000"/>
                      </a:schemeClr>
                    </a:solidFill>
                  </a:tcPr>
                </a:tc>
                <a:extLst>
                  <a:ext uri="{0D108BD9-81ED-4DB2-BD59-A6C34878D82A}">
                    <a16:rowId xmlns:a16="http://schemas.microsoft.com/office/drawing/2014/main" val="3795749824"/>
                  </a:ext>
                </a:extLst>
              </a:tr>
              <a:tr h="0">
                <a:tc>
                  <a:txBody>
                    <a:bodyPr/>
                    <a:lstStyle/>
                    <a:p>
                      <a:pPr>
                        <a:buNone/>
                      </a:pPr>
                      <a:r>
                        <a:rPr lang="en-US" sz="2800">
                          <a:latin typeface="Calibri" panose="020F0502020204030204" pitchFamily="34" charset="0"/>
                          <a:cs typeface="Calibri" panose="020F0502020204030204" pitchFamily="34" charset="0"/>
                        </a:rPr>
                        <a:t>“Visit </a:t>
                      </a:r>
                      <a:r>
                        <a:rPr lang="en-US" sz="2800">
                          <a:latin typeface="Calibri" panose="020F0502020204030204" pitchFamily="34" charset="0"/>
                          <a:cs typeface="Calibri" panose="020F0502020204030204" pitchFamily="34" charset="0"/>
                          <a:hlinkClick r:id="rId3"/>
                        </a:rPr>
                        <a:t>https://x.com</a:t>
                      </a:r>
                      <a:r>
                        <a:rPr lang="en-US" sz="2800">
                          <a:latin typeface="Calibri" panose="020F0502020204030204" pitchFamily="34" charset="0"/>
                          <a:cs typeface="Calibri" panose="020F0502020204030204" pitchFamily="34" charset="0"/>
                        </a:rPr>
                        <a:t> now”</a:t>
                      </a:r>
                    </a:p>
                  </a:txBody>
                  <a:tcPr anchor="ctr">
                    <a:solidFill>
                      <a:schemeClr val="accent5">
                        <a:lumMod val="20000"/>
                        <a:lumOff val="80000"/>
                      </a:schemeClr>
                    </a:solidFill>
                  </a:tcPr>
                </a:tc>
                <a:tc>
                  <a:txBody>
                    <a:bodyPr/>
                    <a:lstStyle/>
                    <a:p>
                      <a:pPr>
                        <a:buNone/>
                      </a:pPr>
                      <a:r>
                        <a:rPr lang="en-US" sz="2800" dirty="0">
                          <a:latin typeface="Calibri" panose="020F0502020204030204" pitchFamily="34" charset="0"/>
                          <a:cs typeface="Calibri" panose="020F0502020204030204" pitchFamily="34" charset="0"/>
                        </a:rPr>
                        <a:t>visit, &lt;URL&gt;, now</a:t>
                      </a:r>
                    </a:p>
                  </a:txBody>
                  <a:tcPr anchor="ctr">
                    <a:solidFill>
                      <a:schemeClr val="accent5">
                        <a:lumMod val="20000"/>
                        <a:lumOff val="80000"/>
                      </a:schemeClr>
                    </a:solidFill>
                  </a:tcPr>
                </a:tc>
                <a:extLst>
                  <a:ext uri="{0D108BD9-81ED-4DB2-BD59-A6C34878D82A}">
                    <a16:rowId xmlns:a16="http://schemas.microsoft.com/office/drawing/2014/main" val="3041100782"/>
                  </a:ext>
                </a:extLst>
              </a:tr>
            </a:tbl>
          </a:graphicData>
        </a:graphic>
      </p:graphicFrame>
      <p:sp>
        <p:nvSpPr>
          <p:cNvPr id="6" name="TextBox 5">
            <a:extLst>
              <a:ext uri="{FF2B5EF4-FFF2-40B4-BE49-F238E27FC236}">
                <a16:creationId xmlns:a16="http://schemas.microsoft.com/office/drawing/2014/main" id="{EBD65D46-7A8A-4C10-9221-7FE6DCF0FF33}"/>
              </a:ext>
            </a:extLst>
          </p:cNvPr>
          <p:cNvSpPr txBox="1"/>
          <p:nvPr/>
        </p:nvSpPr>
        <p:spPr>
          <a:xfrm>
            <a:off x="0" y="0"/>
            <a:ext cx="12192000" cy="2056845"/>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Step 8: Show Before/After Examples</a:t>
            </a:r>
          </a:p>
          <a:p>
            <a:pPr>
              <a:lnSpc>
                <a:spcPct val="150000"/>
              </a:lnSpc>
              <a:buNone/>
            </a:pPr>
            <a:r>
              <a:rPr lang="en-US" sz="2800" dirty="0">
                <a:latin typeface="Calibri" panose="020F0502020204030204" pitchFamily="34" charset="0"/>
                <a:cs typeface="Calibri" panose="020F0502020204030204" pitchFamily="34" charset="0"/>
              </a:rPr>
              <a:t>Include 3–5 examples.</a:t>
            </a:r>
          </a:p>
          <a:p>
            <a:pPr>
              <a:lnSpc>
                <a:spcPct val="150000"/>
              </a:lnSpc>
              <a:buNone/>
            </a:pPr>
            <a:r>
              <a:rPr lang="en-US" sz="2800" dirty="0">
                <a:latin typeface="Calibri" panose="020F0502020204030204" pitchFamily="34" charset="0"/>
                <a:cs typeface="Calibri" panose="020F0502020204030204" pitchFamily="34" charset="0"/>
              </a:rPr>
              <a:t>Example:</a:t>
            </a:r>
          </a:p>
        </p:txBody>
      </p:sp>
    </p:spTree>
    <p:extLst>
      <p:ext uri="{BB962C8B-B14F-4D97-AF65-F5344CB8AC3E}">
        <p14:creationId xmlns:p14="http://schemas.microsoft.com/office/powerpoint/2010/main" val="39298539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CA3AD-192B-31D2-02A2-ED52B9415C8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7722BD-91F0-2F6D-7F83-7AE62DB63E72}"/>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6" name="TextBox 5">
            <a:extLst>
              <a:ext uri="{FF2B5EF4-FFF2-40B4-BE49-F238E27FC236}">
                <a16:creationId xmlns:a16="http://schemas.microsoft.com/office/drawing/2014/main" id="{8CE98A8E-7E8D-840B-EFE9-F6A480C1158A}"/>
              </a:ext>
            </a:extLst>
          </p:cNvPr>
          <p:cNvSpPr txBox="1"/>
          <p:nvPr/>
        </p:nvSpPr>
        <p:spPr>
          <a:xfrm>
            <a:off x="0" y="0"/>
            <a:ext cx="12192000" cy="2056845"/>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are before/after examples important?</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They show exactly what your pipeline changes.</a:t>
            </a:r>
          </a:p>
        </p:txBody>
      </p:sp>
    </p:spTree>
    <p:extLst>
      <p:ext uri="{BB962C8B-B14F-4D97-AF65-F5344CB8AC3E}">
        <p14:creationId xmlns:p14="http://schemas.microsoft.com/office/powerpoint/2010/main" val="324675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1A2FC-8CB1-7CE6-30C1-73AEFF45E25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453C35A-376A-089C-F60E-BBF7E601C677}"/>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969EEF25-2A06-659F-7F64-0DE556B39ADE}"/>
              </a:ext>
            </a:extLst>
          </p:cNvPr>
          <p:cNvSpPr txBox="1"/>
          <p:nvPr/>
        </p:nvSpPr>
        <p:spPr>
          <a:xfrm>
            <a:off x="0" y="1"/>
            <a:ext cx="12199434" cy="6581161"/>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Step 9: Write the Rationale</a:t>
            </a:r>
          </a:p>
          <a:p>
            <a:pPr>
              <a:lnSpc>
                <a:spcPct val="150000"/>
              </a:lnSpc>
              <a:buNone/>
            </a:pPr>
            <a:r>
              <a:rPr lang="en-US" sz="2800" dirty="0">
                <a:latin typeface="Calibri" panose="020F0502020204030204" pitchFamily="34" charset="0"/>
                <a:cs typeface="Calibri" panose="020F0502020204030204" pitchFamily="34" charset="0"/>
              </a:rPr>
              <a:t>Your rationale is 500–600 words.</a:t>
            </a:r>
          </a:p>
          <a:p>
            <a:pPr>
              <a:lnSpc>
                <a:spcPct val="150000"/>
              </a:lnSpc>
              <a:buNone/>
            </a:pPr>
            <a:r>
              <a:rPr lang="en-US" sz="2800" dirty="0">
                <a:latin typeface="Calibri" panose="020F0502020204030204" pitchFamily="34" charset="0"/>
                <a:cs typeface="Calibri" panose="020F0502020204030204" pitchFamily="34" charset="0"/>
              </a:rPr>
              <a:t>It should answer:</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corpus did you use?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cleaning choices did you make?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tokenizer did you use?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Did you use </a:t>
            </a:r>
            <a:r>
              <a:rPr lang="en-US" sz="2800" dirty="0" err="1">
                <a:latin typeface="Calibri" panose="020F0502020204030204" pitchFamily="34" charset="0"/>
                <a:cs typeface="Calibri" panose="020F0502020204030204" pitchFamily="34" charset="0"/>
              </a:rPr>
              <a:t>lemmatisation</a:t>
            </a:r>
            <a:r>
              <a:rPr lang="en-US" sz="2800" dirty="0">
                <a:latin typeface="Calibri" panose="020F0502020204030204" pitchFamily="34" charset="0"/>
                <a:cs typeface="Calibri" panose="020F0502020204030204" pitchFamily="34" charset="0"/>
              </a:rPr>
              <a:t> or stemming?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happened to the vocabulary?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How will this help later models such as Naive Bayes or Logistic Regression?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are the limitations? </a:t>
            </a:r>
          </a:p>
        </p:txBody>
      </p:sp>
    </p:spTree>
    <p:extLst>
      <p:ext uri="{BB962C8B-B14F-4D97-AF65-F5344CB8AC3E}">
        <p14:creationId xmlns:p14="http://schemas.microsoft.com/office/powerpoint/2010/main" val="1441064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36DC3-6B33-BEEB-7CCB-0797BEA59D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5F09B5-B5A6-D909-DE16-BC8B50B3C4D6}"/>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5D0731AD-673E-9612-27CB-0263F0EA8436}"/>
              </a:ext>
            </a:extLst>
          </p:cNvPr>
          <p:cNvSpPr txBox="1"/>
          <p:nvPr/>
        </p:nvSpPr>
        <p:spPr>
          <a:xfrm>
            <a:off x="0" y="1"/>
            <a:ext cx="12199434" cy="3995837"/>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Simple Rationale Sentence Starters</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 selected this corpus because…”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 used this tokenizer because…”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“I chose </a:t>
            </a:r>
            <a:r>
              <a:rPr lang="en-US" sz="2800" dirty="0" err="1">
                <a:latin typeface="Calibri" panose="020F0502020204030204" pitchFamily="34" charset="0"/>
                <a:cs typeface="Calibri" panose="020F0502020204030204" pitchFamily="34" charset="0"/>
              </a:rPr>
              <a:t>lemmatisation</a:t>
            </a:r>
            <a:r>
              <a:rPr lang="en-US" sz="2800" dirty="0">
                <a:latin typeface="Calibri" panose="020F0502020204030204" pitchFamily="34" charset="0"/>
                <a:cs typeface="Calibri" panose="020F0502020204030204" pitchFamily="34" charset="0"/>
              </a:rPr>
              <a:t> instead of stemming because…”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“This preprocessing choice may help later models by…” </a:t>
            </a:r>
          </a:p>
          <a:p>
            <a:pPr marL="623888"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“One limitation of my pipeline is…”</a:t>
            </a:r>
          </a:p>
        </p:txBody>
      </p:sp>
    </p:spTree>
    <p:extLst>
      <p:ext uri="{BB962C8B-B14F-4D97-AF65-F5344CB8AC3E}">
        <p14:creationId xmlns:p14="http://schemas.microsoft.com/office/powerpoint/2010/main" val="8890701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55C26-F002-B6DC-124C-CAB6D85C750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F76636-6396-D4D9-093E-60DA69A18D9C}"/>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62989265-07E2-0B09-4B4F-84B9CE5B213F}"/>
              </a:ext>
            </a:extLst>
          </p:cNvPr>
          <p:cNvSpPr txBox="1"/>
          <p:nvPr/>
        </p:nvSpPr>
        <p:spPr>
          <a:xfrm>
            <a:off x="0" y="1"/>
            <a:ext cx="12199434" cy="4642168"/>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Assessment 1 Viva Preparation</a:t>
            </a:r>
          </a:p>
          <a:p>
            <a:pPr>
              <a:lnSpc>
                <a:spcPct val="150000"/>
              </a:lnSpc>
            </a:pPr>
            <a:r>
              <a:rPr lang="en-US" sz="2800" dirty="0">
                <a:latin typeface="Calibri" panose="020F0502020204030204" pitchFamily="34" charset="0"/>
                <a:cs typeface="Calibri" panose="020F0502020204030204" pitchFamily="34" charset="0"/>
              </a:rPr>
              <a:t>Prepare answers for these five areas:</a:t>
            </a:r>
          </a:p>
          <a:p>
            <a:pPr marL="892175" lvl="0" indent="-514350">
              <a:lnSpc>
                <a:spcPct val="150000"/>
              </a:lnSpc>
              <a:buFont typeface="+mj-lt"/>
              <a:buAutoNum type="arabicPeriod"/>
            </a:pP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edge case </a:t>
            </a:r>
          </a:p>
          <a:p>
            <a:pPr marL="892175" lvl="0" indent="-514350">
              <a:lnSpc>
                <a:spcPct val="150000"/>
              </a:lnSpc>
              <a:buFont typeface="+mj-lt"/>
              <a:buAutoNum type="arabicPeriod"/>
            </a:pPr>
            <a:r>
              <a:rPr lang="en-US" sz="2800" dirty="0" err="1">
                <a:latin typeface="Calibri" panose="020F0502020204030204" pitchFamily="34" charset="0"/>
                <a:cs typeface="Calibri" panose="020F0502020204030204" pitchFamily="34" charset="0"/>
              </a:rPr>
              <a:t>Lemmatisation</a:t>
            </a:r>
            <a:r>
              <a:rPr lang="en-US" sz="2800" dirty="0">
                <a:latin typeface="Calibri" panose="020F0502020204030204" pitchFamily="34" charset="0"/>
                <a:cs typeface="Calibri" panose="020F0502020204030204" pitchFamily="34" charset="0"/>
              </a:rPr>
              <a:t> vs stemming </a:t>
            </a:r>
          </a:p>
          <a:p>
            <a:pPr marL="892175" lvl="0" indent="-514350">
              <a:lnSpc>
                <a:spcPct val="150000"/>
              </a:lnSpc>
              <a:buFont typeface="+mj-lt"/>
              <a:buAutoNum type="arabicPeriod"/>
            </a:pPr>
            <a:r>
              <a:rPr lang="en-US" sz="2800" dirty="0">
                <a:latin typeface="Calibri" panose="020F0502020204030204" pitchFamily="34" charset="0"/>
                <a:cs typeface="Calibri" panose="020F0502020204030204" pitchFamily="34" charset="0"/>
              </a:rPr>
              <a:t>Vocabulary statistics </a:t>
            </a:r>
          </a:p>
          <a:p>
            <a:pPr marL="892175" lvl="0" indent="-514350">
              <a:lnSpc>
                <a:spcPct val="150000"/>
              </a:lnSpc>
              <a:buFont typeface="+mj-lt"/>
              <a:buAutoNum type="arabicPeriod"/>
            </a:pPr>
            <a:r>
              <a:rPr lang="en-US" sz="2800" dirty="0">
                <a:latin typeface="Calibri" panose="020F0502020204030204" pitchFamily="34" charset="0"/>
                <a:cs typeface="Calibri" panose="020F0502020204030204" pitchFamily="34" charset="0"/>
              </a:rPr>
              <a:t>Ambiguity </a:t>
            </a:r>
          </a:p>
          <a:p>
            <a:pPr marL="892175" lvl="0" indent="-514350">
              <a:lnSpc>
                <a:spcPct val="150000"/>
              </a:lnSpc>
              <a:buFont typeface="+mj-lt"/>
              <a:buAutoNum type="arabicPeriod"/>
            </a:pPr>
            <a:r>
              <a:rPr lang="en-US" sz="2800" dirty="0">
                <a:latin typeface="Calibri" panose="020F0502020204030204" pitchFamily="34" charset="0"/>
                <a:cs typeface="Calibri" panose="020F0502020204030204" pitchFamily="34" charset="0"/>
              </a:rPr>
              <a:t>Reproducibility</a:t>
            </a:r>
          </a:p>
        </p:txBody>
      </p:sp>
    </p:spTree>
    <p:extLst>
      <p:ext uri="{BB962C8B-B14F-4D97-AF65-F5344CB8AC3E}">
        <p14:creationId xmlns:p14="http://schemas.microsoft.com/office/powerpoint/2010/main" val="26819273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351A-9C1A-892C-A257-50947F08261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ED6D34A-0988-A169-ADAE-3CE51C31EB41}"/>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0F0FFB0C-7FD3-0A7F-123C-51471014CC56}"/>
              </a:ext>
            </a:extLst>
          </p:cNvPr>
          <p:cNvSpPr txBox="1"/>
          <p:nvPr/>
        </p:nvSpPr>
        <p:spPr>
          <a:xfrm>
            <a:off x="0" y="684390"/>
            <a:ext cx="12199434" cy="5288499"/>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Viva Practice Question: </a:t>
            </a:r>
            <a:r>
              <a:rPr lang="en-US" sz="3200" b="1" dirty="0" err="1">
                <a:latin typeface="Calibri" panose="020F0502020204030204" pitchFamily="34" charset="0"/>
                <a:cs typeface="Calibri" panose="020F0502020204030204" pitchFamily="34" charset="0"/>
              </a:rPr>
              <a:t>Tokenisation</a:t>
            </a:r>
            <a:endParaRPr lang="en-US" sz="3200" b="1" dirty="0">
              <a:latin typeface="Calibri" panose="020F0502020204030204" pitchFamily="34" charset="0"/>
              <a:cs typeface="Calibri" panose="020F0502020204030204" pitchFamily="34" charset="0"/>
            </a:endParaRPr>
          </a:p>
          <a:p>
            <a:pPr>
              <a:lnSpc>
                <a:spcPct val="150000"/>
              </a:lnSpc>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Show one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edge case from your corpus. Why is your tokenizer suitable?</a:t>
            </a:r>
          </a:p>
          <a:p>
            <a:pPr>
              <a:lnSpc>
                <a:spcPct val="150000"/>
              </a:lnSpc>
            </a:pPr>
            <a:r>
              <a:rPr lang="en-US" sz="2800" b="1" dirty="0">
                <a:latin typeface="Calibri" panose="020F0502020204030204" pitchFamily="34" charset="0"/>
                <a:cs typeface="Calibri" panose="020F0502020204030204" pitchFamily="34" charset="0"/>
              </a:rPr>
              <a:t>Sample Answer:</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In my corpus, I had the sentence “Great service 😊 at https://shop.com”. My tokenizer kept the emoji and URL as separate tokens. This is useful because the emoji may show sentiment, and the URL may show source information. A simple space-split tokenizer may not handle these correctly.</a:t>
            </a:r>
          </a:p>
        </p:txBody>
      </p:sp>
    </p:spTree>
    <p:extLst>
      <p:ext uri="{BB962C8B-B14F-4D97-AF65-F5344CB8AC3E}">
        <p14:creationId xmlns:p14="http://schemas.microsoft.com/office/powerpoint/2010/main" val="2384792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53545-BD2C-DBC1-4B28-89BAEA5A0BA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095A289-8169-BFF6-7FBA-96B11A23B3E0}"/>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6696724A-6D04-B44C-0513-10DC559FFAC3}"/>
              </a:ext>
            </a:extLst>
          </p:cNvPr>
          <p:cNvSpPr txBox="1"/>
          <p:nvPr/>
        </p:nvSpPr>
        <p:spPr>
          <a:xfrm>
            <a:off x="0" y="1"/>
            <a:ext cx="12199434" cy="4642168"/>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Viva Practice Question 2: </a:t>
            </a:r>
            <a:r>
              <a:rPr lang="en-US" sz="3200" b="1" dirty="0" err="1">
                <a:latin typeface="Calibri" panose="020F0502020204030204" pitchFamily="34" charset="0"/>
                <a:cs typeface="Calibri" panose="020F0502020204030204" pitchFamily="34" charset="0"/>
              </a:rPr>
              <a:t>Normalisation</a:t>
            </a:r>
            <a:endParaRPr lang="en-US" sz="3200" b="1" dirty="0">
              <a:latin typeface="Calibri" panose="020F0502020204030204" pitchFamily="34" charset="0"/>
              <a:cs typeface="Calibri" panose="020F0502020204030204" pitchFamily="34" charset="0"/>
            </a:endParaRP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Did you use </a:t>
            </a:r>
            <a:r>
              <a:rPr lang="en-US" sz="2800" dirty="0" err="1">
                <a:latin typeface="Calibri" panose="020F0502020204030204" pitchFamily="34" charset="0"/>
                <a:cs typeface="Calibri" panose="020F0502020204030204" pitchFamily="34" charset="0"/>
              </a:rPr>
              <a:t>lemmatisation</a:t>
            </a:r>
            <a:r>
              <a:rPr lang="en-US" sz="2800" dirty="0">
                <a:latin typeface="Calibri" panose="020F0502020204030204" pitchFamily="34" charset="0"/>
                <a:cs typeface="Calibri" panose="020F0502020204030204" pitchFamily="34" charset="0"/>
              </a:rPr>
              <a:t> or stemming? Why?</a:t>
            </a:r>
          </a:p>
          <a:p>
            <a:pPr>
              <a:lnSpc>
                <a:spcPct val="150000"/>
              </a:lnSpc>
              <a:buNone/>
            </a:pPr>
            <a:r>
              <a:rPr lang="en-US" sz="2800" b="1" dirty="0">
                <a:latin typeface="Calibri" panose="020F0502020204030204" pitchFamily="34" charset="0"/>
                <a:cs typeface="Calibri" panose="020F0502020204030204" pitchFamily="34" charset="0"/>
              </a:rPr>
              <a:t>Sample Answer:</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I used </a:t>
            </a:r>
            <a:r>
              <a:rPr lang="en-US" sz="2800" dirty="0" err="1">
                <a:latin typeface="Calibri" panose="020F0502020204030204" pitchFamily="34" charset="0"/>
                <a:cs typeface="Calibri" panose="020F0502020204030204" pitchFamily="34" charset="0"/>
              </a:rPr>
              <a:t>lemmatisation</a:t>
            </a:r>
            <a:r>
              <a:rPr lang="en-US" sz="2800" dirty="0">
                <a:latin typeface="Calibri" panose="020F0502020204030204" pitchFamily="34" charset="0"/>
                <a:cs typeface="Calibri" panose="020F0502020204030204" pitchFamily="34" charset="0"/>
              </a:rPr>
              <a:t> because it keeps meaningful word forms. For example, “studies” becomes “study”, and “better” becomes “good”. This makes the vocabulary smaller while keeping the meaning easier to understand. This can help later models use more consistent features.</a:t>
            </a:r>
          </a:p>
        </p:txBody>
      </p:sp>
    </p:spTree>
    <p:extLst>
      <p:ext uri="{BB962C8B-B14F-4D97-AF65-F5344CB8AC3E}">
        <p14:creationId xmlns:p14="http://schemas.microsoft.com/office/powerpoint/2010/main" val="317115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36E1D-7481-B823-A48C-810DEB40F9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87FC668-4DBB-9541-558F-D799250B6F9E}"/>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E8C0CAD3-3665-4553-EEE7-8A7081F1C455}"/>
              </a:ext>
            </a:extLst>
          </p:cNvPr>
          <p:cNvSpPr txBox="1"/>
          <p:nvPr/>
        </p:nvSpPr>
        <p:spPr>
          <a:xfrm>
            <a:off x="0" y="1"/>
            <a:ext cx="12199434" cy="4448013"/>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Viva Practice Question 3: Vocabulary</a:t>
            </a:r>
          </a:p>
          <a:p>
            <a:pPr>
              <a:lnSpc>
                <a:spcPct val="150000"/>
              </a:lnSpc>
              <a:buNone/>
            </a:pPr>
            <a:r>
              <a:rPr lang="en-US" sz="3200" b="1" dirty="0">
                <a:latin typeface="Calibri" panose="020F0502020204030204" pitchFamily="34" charset="0"/>
                <a:cs typeface="Calibri" panose="020F0502020204030204" pitchFamily="34" charset="0"/>
              </a:rPr>
              <a:t>Q:</a:t>
            </a:r>
            <a:r>
              <a:rPr lang="en-US" sz="3200" dirty="0">
                <a:latin typeface="Calibri" panose="020F0502020204030204" pitchFamily="34" charset="0"/>
                <a:cs typeface="Calibri" panose="020F0502020204030204" pitchFamily="34" charset="0"/>
              </a:rPr>
              <a:t> What are three vocabulary numbers from your corpus?</a:t>
            </a:r>
          </a:p>
          <a:p>
            <a:pPr>
              <a:lnSpc>
                <a:spcPct val="150000"/>
              </a:lnSpc>
              <a:buNone/>
            </a:pPr>
            <a:r>
              <a:rPr lang="en-US" sz="3200" b="1" dirty="0">
                <a:latin typeface="Calibri" panose="020F0502020204030204" pitchFamily="34" charset="0"/>
                <a:cs typeface="Calibri" panose="020F0502020204030204" pitchFamily="34" charset="0"/>
              </a:rPr>
              <a:t>Sample Answer:</a:t>
            </a:r>
            <a:br>
              <a:rPr lang="en-US" sz="3200" dirty="0">
                <a:latin typeface="Calibri" panose="020F0502020204030204" pitchFamily="34" charset="0"/>
                <a:cs typeface="Calibri" panose="020F0502020204030204" pitchFamily="34" charset="0"/>
              </a:rPr>
            </a:br>
            <a:r>
              <a:rPr lang="en-US" sz="3200" dirty="0">
                <a:latin typeface="Calibri" panose="020F0502020204030204" pitchFamily="34" charset="0"/>
                <a:cs typeface="Calibri" panose="020F0502020204030204" pitchFamily="34" charset="0"/>
              </a:rPr>
              <a:t>My vocabulary size was 920 unique tokens. The top tokens were “service”, “customer”, “app”, “data”, and “issue”. I removed tokens that appeared only once because they added noise and increased sparsity.</a:t>
            </a:r>
          </a:p>
        </p:txBody>
      </p:sp>
    </p:spTree>
    <p:extLst>
      <p:ext uri="{BB962C8B-B14F-4D97-AF65-F5344CB8AC3E}">
        <p14:creationId xmlns:p14="http://schemas.microsoft.com/office/powerpoint/2010/main" val="3662976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86384-C929-8296-CB46-53D38D8F24D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48C7137-DC20-A043-01FB-C615E9044266}"/>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9D3087D7-A5CF-7CBC-F564-DAD6ED86A30E}"/>
              </a:ext>
            </a:extLst>
          </p:cNvPr>
          <p:cNvSpPr txBox="1"/>
          <p:nvPr/>
        </p:nvSpPr>
        <p:spPr>
          <a:xfrm>
            <a:off x="0" y="1"/>
            <a:ext cx="12199434" cy="5186676"/>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Viva Practice Question 4: Ambiguity</a:t>
            </a:r>
          </a:p>
          <a:p>
            <a:pPr>
              <a:lnSpc>
                <a:spcPct val="150000"/>
              </a:lnSpc>
              <a:buNone/>
            </a:pPr>
            <a:r>
              <a:rPr lang="en-US" sz="3200" b="1" dirty="0">
                <a:latin typeface="Calibri" panose="020F0502020204030204" pitchFamily="34" charset="0"/>
                <a:cs typeface="Calibri" panose="020F0502020204030204" pitchFamily="34" charset="0"/>
              </a:rPr>
              <a:t>Q:</a:t>
            </a:r>
            <a:r>
              <a:rPr lang="en-US" sz="3200" dirty="0">
                <a:latin typeface="Calibri" panose="020F0502020204030204" pitchFamily="34" charset="0"/>
                <a:cs typeface="Calibri" panose="020F0502020204030204" pitchFamily="34" charset="0"/>
              </a:rPr>
              <a:t> Give one ambiguity example from your corpus.</a:t>
            </a:r>
          </a:p>
          <a:p>
            <a:pPr>
              <a:lnSpc>
                <a:spcPct val="150000"/>
              </a:lnSpc>
              <a:buNone/>
            </a:pPr>
            <a:r>
              <a:rPr lang="en-US" sz="3200" b="1" dirty="0">
                <a:latin typeface="Calibri" panose="020F0502020204030204" pitchFamily="34" charset="0"/>
                <a:cs typeface="Calibri" panose="020F0502020204030204" pitchFamily="34" charset="0"/>
              </a:rPr>
              <a:t>Sample Answer:</a:t>
            </a:r>
            <a:br>
              <a:rPr lang="en-US" sz="3200" dirty="0">
                <a:latin typeface="Calibri" panose="020F0502020204030204" pitchFamily="34" charset="0"/>
                <a:cs typeface="Calibri" panose="020F0502020204030204" pitchFamily="34" charset="0"/>
              </a:rPr>
            </a:br>
            <a:r>
              <a:rPr lang="en-US" sz="3200" dirty="0">
                <a:latin typeface="Calibri" panose="020F0502020204030204" pitchFamily="34" charset="0"/>
                <a:cs typeface="Calibri" panose="020F0502020204030204" pitchFamily="34" charset="0"/>
              </a:rPr>
              <a:t>The word “charge” is ambiguous. It can mean battery charge or payment charge. My preprocessing does not fully solve this ambiguity, but consistent </a:t>
            </a:r>
            <a:r>
              <a:rPr lang="en-US" sz="3200" dirty="0" err="1">
                <a:latin typeface="Calibri" panose="020F0502020204030204" pitchFamily="34" charset="0"/>
                <a:cs typeface="Calibri" panose="020F0502020204030204" pitchFamily="34" charset="0"/>
              </a:rPr>
              <a:t>tokenisation</a:t>
            </a:r>
            <a:r>
              <a:rPr lang="en-US" sz="3200" dirty="0">
                <a:latin typeface="Calibri" panose="020F0502020204030204" pitchFamily="34" charset="0"/>
                <a:cs typeface="Calibri" panose="020F0502020204030204" pitchFamily="34" charset="0"/>
              </a:rPr>
              <a:t> and </a:t>
            </a:r>
            <a:r>
              <a:rPr lang="en-US" sz="3200" dirty="0" err="1">
                <a:latin typeface="Calibri" panose="020F0502020204030204" pitchFamily="34" charset="0"/>
                <a:cs typeface="Calibri" panose="020F0502020204030204" pitchFamily="34" charset="0"/>
              </a:rPr>
              <a:t>lemmatisation</a:t>
            </a:r>
            <a:r>
              <a:rPr lang="en-US" sz="3200" dirty="0">
                <a:latin typeface="Calibri" panose="020F0502020204030204" pitchFamily="34" charset="0"/>
                <a:cs typeface="Calibri" panose="020F0502020204030204" pitchFamily="34" charset="0"/>
              </a:rPr>
              <a:t> prepare the text for later models that can use context.</a:t>
            </a:r>
          </a:p>
        </p:txBody>
      </p:sp>
    </p:spTree>
    <p:extLst>
      <p:ext uri="{BB962C8B-B14F-4D97-AF65-F5344CB8AC3E}">
        <p14:creationId xmlns:p14="http://schemas.microsoft.com/office/powerpoint/2010/main" val="330447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17554-772B-D6A6-3388-1BFE8CD81FA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C9E06EC-9A79-1F60-A469-B545253F29FC}"/>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5" name="TextBox 4">
            <a:extLst>
              <a:ext uri="{FF2B5EF4-FFF2-40B4-BE49-F238E27FC236}">
                <a16:creationId xmlns:a16="http://schemas.microsoft.com/office/drawing/2014/main" id="{8D1B8002-D892-5CD8-9534-8B0216EFA33D}"/>
              </a:ext>
            </a:extLst>
          </p:cNvPr>
          <p:cNvSpPr txBox="1"/>
          <p:nvPr/>
        </p:nvSpPr>
        <p:spPr>
          <a:xfrm>
            <a:off x="0" y="1"/>
            <a:ext cx="12199434" cy="5186676"/>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Viva Practice Question 5: Reproducibility</a:t>
            </a:r>
          </a:p>
          <a:p>
            <a:pPr>
              <a:lnSpc>
                <a:spcPct val="150000"/>
              </a:lnSpc>
              <a:buNone/>
            </a:pPr>
            <a:r>
              <a:rPr lang="en-US" sz="3200" b="1" dirty="0">
                <a:latin typeface="Calibri" panose="020F0502020204030204" pitchFamily="34" charset="0"/>
                <a:cs typeface="Calibri" panose="020F0502020204030204" pitchFamily="34" charset="0"/>
              </a:rPr>
              <a:t>Q:</a:t>
            </a:r>
            <a:r>
              <a:rPr lang="en-US" sz="3200" dirty="0">
                <a:latin typeface="Calibri" panose="020F0502020204030204" pitchFamily="34" charset="0"/>
                <a:cs typeface="Calibri" panose="020F0502020204030204" pitchFamily="34" charset="0"/>
              </a:rPr>
              <a:t> What steps make your notebook reproducible?</a:t>
            </a:r>
          </a:p>
          <a:p>
            <a:pPr>
              <a:lnSpc>
                <a:spcPct val="150000"/>
              </a:lnSpc>
              <a:buNone/>
            </a:pPr>
            <a:r>
              <a:rPr lang="en-US" sz="3200" b="1" dirty="0">
                <a:latin typeface="Calibri" panose="020F0502020204030204" pitchFamily="34" charset="0"/>
                <a:cs typeface="Calibri" panose="020F0502020204030204" pitchFamily="34" charset="0"/>
              </a:rPr>
              <a:t>Sample Answer:</a:t>
            </a:r>
            <a:br>
              <a:rPr lang="en-US" sz="3200" dirty="0">
                <a:latin typeface="Calibri" panose="020F0502020204030204" pitchFamily="34" charset="0"/>
                <a:cs typeface="Calibri" panose="020F0502020204030204" pitchFamily="34" charset="0"/>
              </a:rPr>
            </a:br>
            <a:r>
              <a:rPr lang="en-US" sz="3200" dirty="0">
                <a:latin typeface="Calibri" panose="020F0502020204030204" pitchFamily="34" charset="0"/>
                <a:cs typeface="Calibri" panose="020F0502020204030204" pitchFamily="34" charset="0"/>
              </a:rPr>
              <a:t>I listed Python and library versions at the top. I used a fixed random seed. I </a:t>
            </a:r>
            <a:r>
              <a:rPr lang="en-US" sz="3200" dirty="0" err="1">
                <a:latin typeface="Calibri" panose="020F0502020204030204" pitchFamily="34" charset="0"/>
                <a:cs typeface="Calibri" panose="020F0502020204030204" pitchFamily="34" charset="0"/>
              </a:rPr>
              <a:t>organised</a:t>
            </a:r>
            <a:r>
              <a:rPr lang="en-US" sz="3200" dirty="0">
                <a:latin typeface="Calibri" panose="020F0502020204030204" pitchFamily="34" charset="0"/>
                <a:cs typeface="Calibri" panose="020F0502020204030204" pitchFamily="34" charset="0"/>
              </a:rPr>
              <a:t> the pipeline using functions such as clean(), </a:t>
            </a:r>
            <a:r>
              <a:rPr lang="en-US" sz="3200" dirty="0" err="1">
                <a:latin typeface="Calibri" panose="020F0502020204030204" pitchFamily="34" charset="0"/>
                <a:cs typeface="Calibri" panose="020F0502020204030204" pitchFamily="34" charset="0"/>
              </a:rPr>
              <a:t>tokenise</a:t>
            </a:r>
            <a:r>
              <a:rPr lang="en-US" sz="3200" dirty="0">
                <a:latin typeface="Calibri" panose="020F0502020204030204" pitchFamily="34" charset="0"/>
                <a:cs typeface="Calibri" panose="020F0502020204030204" pitchFamily="34" charset="0"/>
              </a:rPr>
              <a:t>(), and </a:t>
            </a:r>
            <a:r>
              <a:rPr lang="en-US" sz="3200" dirty="0" err="1">
                <a:latin typeface="Calibri" panose="020F0502020204030204" pitchFamily="34" charset="0"/>
                <a:cs typeface="Calibri" panose="020F0502020204030204" pitchFamily="34" charset="0"/>
              </a:rPr>
              <a:t>normalise</a:t>
            </a:r>
            <a:r>
              <a:rPr lang="en-US" sz="3200" dirty="0">
                <a:latin typeface="Calibri" panose="020F0502020204030204" pitchFamily="34" charset="0"/>
                <a:cs typeface="Calibri" panose="020F0502020204030204" pitchFamily="34" charset="0"/>
              </a:rPr>
              <a:t>(). I also used relative file paths and included clear run instructions.</a:t>
            </a:r>
          </a:p>
        </p:txBody>
      </p:sp>
    </p:spTree>
    <p:extLst>
      <p:ext uri="{BB962C8B-B14F-4D97-AF65-F5344CB8AC3E}">
        <p14:creationId xmlns:p14="http://schemas.microsoft.com/office/powerpoint/2010/main" val="155545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6FE74-5513-4B3C-14F7-ED3764C282F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7DA413E-BFD9-BBCC-00C4-35D824A9FC98}"/>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0907D7FC-EDA3-B2F7-CCA4-7739E09CE774}"/>
              </a:ext>
            </a:extLst>
          </p:cNvPr>
          <p:cNvSpPr txBox="1"/>
          <p:nvPr/>
        </p:nvSpPr>
        <p:spPr>
          <a:xfrm>
            <a:off x="0" y="369172"/>
            <a:ext cx="12199434" cy="6488828"/>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Week 1 Case Study: Customer Review Analysis</a:t>
            </a:r>
          </a:p>
          <a:p>
            <a:pPr>
              <a:lnSpc>
                <a:spcPct val="150000"/>
              </a:lnSpc>
            </a:pPr>
            <a:r>
              <a:rPr lang="en-US" sz="2800" dirty="0">
                <a:latin typeface="Calibri" panose="020F0502020204030204" pitchFamily="34" charset="0"/>
                <a:cs typeface="Calibri" panose="020F0502020204030204" pitchFamily="34" charset="0"/>
              </a:rPr>
              <a:t>A company has these reviews:</a:t>
            </a:r>
          </a:p>
          <a:p>
            <a:pPr>
              <a:lnSpc>
                <a:spcPct val="150000"/>
              </a:lnSpc>
            </a:pPr>
            <a:r>
              <a:rPr lang="en-US" sz="2800" dirty="0">
                <a:latin typeface="Calibri" panose="020F0502020204030204" pitchFamily="34" charset="0"/>
                <a:cs typeface="Calibri" panose="020F0502020204030204" pitchFamily="34" charset="0"/>
              </a:rPr>
              <a:t>1. "Love the battery life!"</a:t>
            </a:r>
          </a:p>
          <a:p>
            <a:pPr>
              <a:lnSpc>
                <a:spcPct val="150000"/>
              </a:lnSpc>
            </a:pPr>
            <a:r>
              <a:rPr lang="en-US" sz="2800" dirty="0">
                <a:latin typeface="Calibri" panose="020F0502020204030204" pitchFamily="34" charset="0"/>
                <a:cs typeface="Calibri" panose="020F0502020204030204" pitchFamily="34" charset="0"/>
              </a:rPr>
              <a:t>2. "Battery drains fast."</a:t>
            </a:r>
          </a:p>
          <a:p>
            <a:pPr>
              <a:lnSpc>
                <a:spcPct val="150000"/>
              </a:lnSpc>
            </a:pPr>
            <a:r>
              <a:rPr lang="en-US" sz="2800" dirty="0">
                <a:latin typeface="Calibri" panose="020F0502020204030204" pitchFamily="34" charset="0"/>
                <a:cs typeface="Calibri" panose="020F0502020204030204" pitchFamily="34" charset="0"/>
              </a:rPr>
              <a:t>3. "Great camera, but poor battery."</a:t>
            </a:r>
          </a:p>
          <a:p>
            <a:pPr>
              <a:lnSpc>
                <a:spcPct val="150000"/>
              </a:lnSpc>
            </a:pPr>
            <a:r>
              <a:rPr lang="en-US" sz="2800" b="1" dirty="0">
                <a:latin typeface="Calibri" panose="020F0502020204030204" pitchFamily="34" charset="0"/>
                <a:cs typeface="Calibri" panose="020F0502020204030204" pitchFamily="34" charset="0"/>
              </a:rPr>
              <a:t>Question</a:t>
            </a:r>
          </a:p>
          <a:p>
            <a:pPr>
              <a:lnSpc>
                <a:spcPct val="150000"/>
              </a:lnSpc>
            </a:pPr>
            <a:r>
              <a:rPr lang="en-US" sz="2800" dirty="0">
                <a:latin typeface="Calibri" panose="020F0502020204030204" pitchFamily="34" charset="0"/>
                <a:cs typeface="Calibri" panose="020F0502020204030204" pitchFamily="34" charset="0"/>
              </a:rPr>
              <a:t>What can we learn before building a model?</a:t>
            </a:r>
          </a:p>
          <a:p>
            <a:pPr>
              <a:lnSpc>
                <a:spcPct val="150000"/>
              </a:lnSpc>
            </a:pPr>
            <a:r>
              <a:rPr lang="en-US" sz="2800" dirty="0">
                <a:latin typeface="Calibri" panose="020F0502020204030204" pitchFamily="34" charset="0"/>
                <a:cs typeface="Calibri" panose="020F0502020204030204" pitchFamily="34" charset="0"/>
              </a:rPr>
              <a:t>We can count frequent words. “Battery” appears often, so it may be an important topic. Words like “love”, “great”, “poor”, and “fast” may help with sentiment. This shows why preprocessing is the first step before modelling.</a:t>
            </a:r>
          </a:p>
        </p:txBody>
      </p:sp>
    </p:spTree>
    <p:extLst>
      <p:ext uri="{BB962C8B-B14F-4D97-AF65-F5344CB8AC3E}">
        <p14:creationId xmlns:p14="http://schemas.microsoft.com/office/powerpoint/2010/main" val="247005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E0434-A061-9FAC-59A2-B449254DCD9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27C82E6-71C1-94FB-CCC0-498FAFD857E5}"/>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8B36B704-2C3F-FE94-9431-0E20CEA115F1}"/>
              </a:ext>
            </a:extLst>
          </p:cNvPr>
          <p:cNvSpPr txBox="1"/>
          <p:nvPr/>
        </p:nvSpPr>
        <p:spPr>
          <a:xfrm>
            <a:off x="0" y="369172"/>
            <a:ext cx="12199434" cy="5288499"/>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How Week 1 Connects to Assessment 1</a:t>
            </a:r>
          </a:p>
          <a:p>
            <a:pPr>
              <a:lnSpc>
                <a:spcPct val="150000"/>
              </a:lnSpc>
            </a:pPr>
            <a:r>
              <a:rPr lang="en-US" sz="2800" dirty="0">
                <a:latin typeface="Calibri" panose="020F0502020204030204" pitchFamily="34" charset="0"/>
                <a:cs typeface="Calibri" panose="020F0502020204030204" pitchFamily="34" charset="0"/>
              </a:rPr>
              <a:t>Week 1 helps you understand:</a:t>
            </a:r>
          </a:p>
          <a:p>
            <a:pPr marL="892175"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what NLP is, </a:t>
            </a:r>
          </a:p>
          <a:p>
            <a:pPr marL="892175"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why raw text is messy, </a:t>
            </a:r>
          </a:p>
          <a:p>
            <a:pPr marL="892175"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why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matters, </a:t>
            </a:r>
          </a:p>
          <a:p>
            <a:pPr marL="892175"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why corpus and vocabulary are important, </a:t>
            </a:r>
          </a:p>
          <a:p>
            <a:pPr marL="892175"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why preprocessing affects later modelling. </a:t>
            </a:r>
          </a:p>
          <a:p>
            <a:pPr>
              <a:lnSpc>
                <a:spcPct val="150000"/>
              </a:lnSpc>
            </a:pPr>
            <a:r>
              <a:rPr lang="en-US" sz="2800" dirty="0">
                <a:latin typeface="Calibri" panose="020F0502020204030204" pitchFamily="34" charset="0"/>
                <a:cs typeface="Calibri" panose="020F0502020204030204" pitchFamily="34" charset="0"/>
              </a:rPr>
              <a:t>Assessment 1 asks you to apply these ideas in your own small project.</a:t>
            </a:r>
          </a:p>
        </p:txBody>
      </p:sp>
    </p:spTree>
    <p:extLst>
      <p:ext uri="{BB962C8B-B14F-4D97-AF65-F5344CB8AC3E}">
        <p14:creationId xmlns:p14="http://schemas.microsoft.com/office/powerpoint/2010/main" val="28062674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3D57A-6120-A451-60AE-65F4292DB84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72B9E58-FCA3-D385-395B-04A0125A52D0}"/>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CB310CFC-86AF-83BE-865A-D07054FCDAA1}"/>
              </a:ext>
            </a:extLst>
          </p:cNvPr>
          <p:cNvSpPr txBox="1"/>
          <p:nvPr/>
        </p:nvSpPr>
        <p:spPr>
          <a:xfrm>
            <a:off x="0" y="369172"/>
            <a:ext cx="12199434" cy="6406049"/>
          </a:xfrm>
          <a:prstGeom prst="rect">
            <a:avLst/>
          </a:prstGeom>
          <a:noFill/>
        </p:spPr>
        <p:txBody>
          <a:bodyPr wrap="square">
            <a:spAutoFit/>
          </a:bodyPr>
          <a:lstStyle/>
          <a:p>
            <a:pPr>
              <a:lnSpc>
                <a:spcPct val="150000"/>
              </a:lnSpc>
            </a:pPr>
            <a:r>
              <a:rPr lang="en-US" sz="3200" b="1" dirty="0">
                <a:latin typeface="Calibri" panose="020F0502020204030204" pitchFamily="34" charset="0"/>
                <a:cs typeface="Calibri" panose="020F0502020204030204" pitchFamily="34" charset="0"/>
              </a:rPr>
              <a:t>Key Lessons from Video 1: AI, ML, Deep Learning, NLP, Generative AI</a:t>
            </a:r>
          </a:p>
          <a:p>
            <a:pPr>
              <a:lnSpc>
                <a:spcPct val="150000"/>
              </a:lnSpc>
            </a:pPr>
            <a:r>
              <a:rPr lang="en-US" sz="2800" b="1" dirty="0">
                <a:latin typeface="Calibri" panose="020F0502020204030204" pitchFamily="34" charset="0"/>
                <a:cs typeface="Calibri" panose="020F0502020204030204" pitchFamily="34" charset="0"/>
              </a:rPr>
              <a:t>Key Lessons</a:t>
            </a:r>
          </a:p>
          <a:p>
            <a:pPr marL="457200"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AI has many terms, and we need to understand them clearly. </a:t>
            </a:r>
          </a:p>
          <a:p>
            <a:pPr marL="457200"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Machine learning means learning patterns from data. </a:t>
            </a:r>
          </a:p>
          <a:p>
            <a:pPr marL="457200"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Deep learning uses neural networks and can handle large data. </a:t>
            </a:r>
          </a:p>
          <a:p>
            <a:pPr marL="457200"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NLP helps computers understand and generate language. </a:t>
            </a:r>
          </a:p>
          <a:p>
            <a:pPr marL="457200"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Data is the fuel for AI. </a:t>
            </a:r>
          </a:p>
          <a:p>
            <a:pPr marL="457200"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Bias in data can affect results. </a:t>
            </a:r>
          </a:p>
          <a:p>
            <a:pPr marL="457200"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Training, validation, and testing are like practice, midterm, and final </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exam. </a:t>
            </a:r>
          </a:p>
          <a:p>
            <a:pPr marL="457200"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Generative AI creates new text, images, or code. </a:t>
            </a:r>
          </a:p>
        </p:txBody>
      </p:sp>
      <p:sp>
        <p:nvSpPr>
          <p:cNvPr id="5" name="TextBox 4">
            <a:extLst>
              <a:ext uri="{FF2B5EF4-FFF2-40B4-BE49-F238E27FC236}">
                <a16:creationId xmlns:a16="http://schemas.microsoft.com/office/drawing/2014/main" id="{A7BF6753-A76B-3070-50B5-BC8E2E96FD4F}"/>
              </a:ext>
            </a:extLst>
          </p:cNvPr>
          <p:cNvSpPr txBox="1"/>
          <p:nvPr/>
        </p:nvSpPr>
        <p:spPr>
          <a:xfrm>
            <a:off x="8376745" y="6564679"/>
            <a:ext cx="3962400" cy="307777"/>
          </a:xfrm>
          <a:prstGeom prst="rect">
            <a:avLst/>
          </a:prstGeom>
          <a:noFill/>
        </p:spPr>
        <p:txBody>
          <a:bodyPr wrap="square">
            <a:spAutoFit/>
          </a:bodyPr>
          <a:lstStyle/>
          <a:p>
            <a:r>
              <a:rPr lang="en-US" sz="1400" dirty="0">
                <a:latin typeface="Calibir"/>
                <a:hlinkClick r:id="rId3"/>
              </a:rPr>
              <a:t>https://www.youtube.com/watch?v=w__y7508704</a:t>
            </a:r>
            <a:r>
              <a:rPr lang="en-US" sz="1400" dirty="0">
                <a:latin typeface="Calibir"/>
              </a:rPr>
              <a:t> </a:t>
            </a:r>
          </a:p>
        </p:txBody>
      </p:sp>
      <p:pic>
        <p:nvPicPr>
          <p:cNvPr id="7" name="Picture 6">
            <a:extLst>
              <a:ext uri="{FF2B5EF4-FFF2-40B4-BE49-F238E27FC236}">
                <a16:creationId xmlns:a16="http://schemas.microsoft.com/office/drawing/2014/main" id="{AF50673E-1554-BE26-9FB3-CF5382FF6C3B}"/>
              </a:ext>
            </a:extLst>
          </p:cNvPr>
          <p:cNvPicPr>
            <a:picLocks noChangeAspect="1"/>
          </p:cNvPicPr>
          <p:nvPr/>
        </p:nvPicPr>
        <p:blipFill>
          <a:blip r:embed="rId4"/>
          <a:srcRect l="3622" t="37089" r="43102" b="15554"/>
          <a:stretch>
            <a:fillRect/>
          </a:stretch>
        </p:blipFill>
        <p:spPr>
          <a:xfrm>
            <a:off x="8954814" y="4946086"/>
            <a:ext cx="3237186" cy="1618593"/>
          </a:xfrm>
          <a:prstGeom prst="rect">
            <a:avLst/>
          </a:prstGeom>
        </p:spPr>
      </p:pic>
    </p:spTree>
    <p:extLst>
      <p:ext uri="{BB962C8B-B14F-4D97-AF65-F5344CB8AC3E}">
        <p14:creationId xmlns:p14="http://schemas.microsoft.com/office/powerpoint/2010/main" val="21923799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CBABD-63FA-2D6B-948B-B293FDED47A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7270521-500C-91BA-3E7A-538088ADDFA2}"/>
              </a:ext>
            </a:extLst>
          </p:cNvPr>
          <p:cNvPicPr>
            <a:picLocks noChangeAspect="1"/>
          </p:cNvPicPr>
          <p:nvPr/>
        </p:nvPicPr>
        <p:blipFill>
          <a:blip r:embed="rId2"/>
          <a:srcRect l="32661" t="41720" r="16290" b="27312"/>
          <a:stretch>
            <a:fillRect/>
          </a:stretch>
        </p:blipFill>
        <p:spPr>
          <a:xfrm>
            <a:off x="8834284" y="0"/>
            <a:ext cx="3357716" cy="1145757"/>
          </a:xfrm>
          <a:prstGeom prst="rect">
            <a:avLst/>
          </a:prstGeom>
        </p:spPr>
      </p:pic>
      <p:sp>
        <p:nvSpPr>
          <p:cNvPr id="4" name="TextBox 3">
            <a:extLst>
              <a:ext uri="{FF2B5EF4-FFF2-40B4-BE49-F238E27FC236}">
                <a16:creationId xmlns:a16="http://schemas.microsoft.com/office/drawing/2014/main" id="{1D7F33D5-0C7A-9D21-C1F0-1BC2A20DF9EF}"/>
              </a:ext>
            </a:extLst>
          </p:cNvPr>
          <p:cNvSpPr txBox="1"/>
          <p:nvPr/>
        </p:nvSpPr>
        <p:spPr>
          <a:xfrm>
            <a:off x="0" y="369172"/>
            <a:ext cx="12199434" cy="6488828"/>
          </a:xfrm>
          <a:prstGeom prst="rect">
            <a:avLst/>
          </a:prstGeom>
          <a:noFill/>
        </p:spPr>
        <p:txBody>
          <a:bodyPr wrap="square">
            <a:spAutoFit/>
          </a:bodyPr>
          <a:lstStyle/>
          <a:p>
            <a:pPr marL="457200"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Explainable AI helps people understand AI decisions. </a:t>
            </a:r>
          </a:p>
          <a:p>
            <a:pPr marL="457200" lvl="0" indent="-4572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Responsible use of AI is important. </a:t>
            </a:r>
          </a:p>
          <a:p>
            <a:pPr>
              <a:lnSpc>
                <a:spcPct val="150000"/>
              </a:lnSpc>
            </a:pPr>
            <a:r>
              <a:rPr lang="en-US" sz="2800" b="1" dirty="0">
                <a:latin typeface="Calibri" panose="020F0502020204030204" pitchFamily="34" charset="0"/>
                <a:cs typeface="Calibri" panose="020F0502020204030204" pitchFamily="34" charset="0"/>
              </a:rPr>
              <a:t>Discussion Question</a:t>
            </a:r>
          </a:p>
          <a:p>
            <a:pPr>
              <a:lnSpc>
                <a:spcPct val="150000"/>
              </a:lnSpc>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is data called the “fuel” of AI?</a:t>
            </a:r>
          </a:p>
          <a:p>
            <a:pPr>
              <a:lnSpc>
                <a:spcPct val="150000"/>
              </a:lnSpc>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Because AI systems learn from data. If the data is poor, biased, or messy, the result may also be poor.</a:t>
            </a:r>
          </a:p>
          <a:p>
            <a:pPr>
              <a:lnSpc>
                <a:spcPct val="150000"/>
              </a:lnSpc>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does explainable AI matter?</a:t>
            </a:r>
          </a:p>
          <a:p>
            <a:pPr>
              <a:lnSpc>
                <a:spcPct val="150000"/>
              </a:lnSpc>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Because people need to understand why an AI system </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made a decision, especially in important areas like health, </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finance, or education.</a:t>
            </a:r>
          </a:p>
        </p:txBody>
      </p:sp>
      <p:sp>
        <p:nvSpPr>
          <p:cNvPr id="5" name="TextBox 4">
            <a:extLst>
              <a:ext uri="{FF2B5EF4-FFF2-40B4-BE49-F238E27FC236}">
                <a16:creationId xmlns:a16="http://schemas.microsoft.com/office/drawing/2014/main" id="{D46FC237-1CF6-3486-C8FE-0F90E0953759}"/>
              </a:ext>
            </a:extLst>
          </p:cNvPr>
          <p:cNvSpPr txBox="1"/>
          <p:nvPr/>
        </p:nvSpPr>
        <p:spPr>
          <a:xfrm>
            <a:off x="8376745" y="6564679"/>
            <a:ext cx="3962400" cy="307777"/>
          </a:xfrm>
          <a:prstGeom prst="rect">
            <a:avLst/>
          </a:prstGeom>
          <a:noFill/>
        </p:spPr>
        <p:txBody>
          <a:bodyPr wrap="square">
            <a:spAutoFit/>
          </a:bodyPr>
          <a:lstStyle/>
          <a:p>
            <a:r>
              <a:rPr lang="en-US" sz="1400" dirty="0">
                <a:latin typeface="Calibir"/>
                <a:hlinkClick r:id="rId3"/>
              </a:rPr>
              <a:t>https://www.youtube.com/watch?v=w__y7508704</a:t>
            </a:r>
            <a:r>
              <a:rPr lang="en-US" sz="1400" dirty="0">
                <a:latin typeface="Calibir"/>
              </a:rPr>
              <a:t> </a:t>
            </a:r>
          </a:p>
        </p:txBody>
      </p:sp>
      <p:pic>
        <p:nvPicPr>
          <p:cNvPr id="7" name="Picture 6">
            <a:extLst>
              <a:ext uri="{FF2B5EF4-FFF2-40B4-BE49-F238E27FC236}">
                <a16:creationId xmlns:a16="http://schemas.microsoft.com/office/drawing/2014/main" id="{500362CE-4854-7849-672D-39F701D3CB3D}"/>
              </a:ext>
            </a:extLst>
          </p:cNvPr>
          <p:cNvPicPr>
            <a:picLocks noChangeAspect="1"/>
          </p:cNvPicPr>
          <p:nvPr/>
        </p:nvPicPr>
        <p:blipFill>
          <a:blip r:embed="rId4"/>
          <a:srcRect l="3622" t="37089" r="43102" b="15554"/>
          <a:stretch>
            <a:fillRect/>
          </a:stretch>
        </p:blipFill>
        <p:spPr>
          <a:xfrm>
            <a:off x="8954814" y="4946086"/>
            <a:ext cx="3237186" cy="1618593"/>
          </a:xfrm>
          <a:prstGeom prst="rect">
            <a:avLst/>
          </a:prstGeom>
        </p:spPr>
      </p:pic>
    </p:spTree>
    <p:extLst>
      <p:ext uri="{BB962C8B-B14F-4D97-AF65-F5344CB8AC3E}">
        <p14:creationId xmlns:p14="http://schemas.microsoft.com/office/powerpoint/2010/main" val="3979476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1000"/>
                                        <p:tgtEl>
                                          <p:spTgt spid="4">
                                            <p:txEl>
                                              <p:pRg st="6" end="6"/>
                                            </p:txEl>
                                          </p:spTgt>
                                        </p:tgtEl>
                                      </p:cBhvr>
                                    </p:animEffect>
                                    <p:anim calcmode="lin" valueType="num">
                                      <p:cBhvr>
                                        <p:cTn id="1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1522-CBBD-D256-C55B-A402A58DCE5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E76D9E-6D56-6E72-F3A6-B3A2E09E66F2}"/>
              </a:ext>
            </a:extLst>
          </p:cNvPr>
          <p:cNvSpPr txBox="1"/>
          <p:nvPr/>
        </p:nvSpPr>
        <p:spPr>
          <a:xfrm>
            <a:off x="-7434" y="0"/>
            <a:ext cx="12199434" cy="6124241"/>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Key Lessons from Video 2: Words, Tokens, Corpus, and BPE</a:t>
            </a:r>
          </a:p>
          <a:p>
            <a:pPr>
              <a:lnSpc>
                <a:spcPct val="150000"/>
              </a:lnSpc>
              <a:buNone/>
            </a:pPr>
            <a:r>
              <a:rPr lang="en-US" sz="2400" b="1" dirty="0">
                <a:latin typeface="Calibri" panose="020F0502020204030204" pitchFamily="34" charset="0"/>
                <a:cs typeface="Calibri" panose="020F0502020204030204" pitchFamily="34" charset="0"/>
              </a:rPr>
              <a:t>Key Lessons</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Counting words is not always simple.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Tokens are total items in the text.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Types are unique items.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A corpus is a large collection of text.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Simple splitting by spaces can fail.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URLs, prices, emails, and punctuation can cause problems. </a:t>
            </a:r>
          </a:p>
          <a:p>
            <a:pPr marL="342900"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Some languages do not use spaces between words. </a:t>
            </a:r>
          </a:p>
          <a:p>
            <a:pPr marL="342900" lvl="0" indent="-342900">
              <a:lnSpc>
                <a:spcPct val="150000"/>
              </a:lnSpc>
              <a:buFont typeface="Arial" panose="020B0604020202020204" pitchFamily="34" charset="0"/>
              <a:buChar char="•"/>
            </a:pPr>
            <a:r>
              <a:rPr lang="en-US" sz="2600" dirty="0" err="1">
                <a:latin typeface="Calibri" panose="020F0502020204030204" pitchFamily="34" charset="0"/>
                <a:cs typeface="Calibri" panose="020F0502020204030204" pitchFamily="34" charset="0"/>
              </a:rPr>
              <a:t>Subword</a:t>
            </a:r>
            <a:r>
              <a:rPr lang="en-US" sz="2600" dirty="0">
                <a:latin typeface="Calibri" panose="020F0502020204030204" pitchFamily="34" charset="0"/>
                <a:cs typeface="Calibri" panose="020F0502020204030204" pitchFamily="34" charset="0"/>
              </a:rPr>
              <a:t> </a:t>
            </a:r>
            <a:r>
              <a:rPr lang="en-US" sz="2600" dirty="0" err="1">
                <a:latin typeface="Calibri" panose="020F0502020204030204" pitchFamily="34" charset="0"/>
                <a:cs typeface="Calibri" panose="020F0502020204030204" pitchFamily="34" charset="0"/>
              </a:rPr>
              <a:t>tokenisation</a:t>
            </a:r>
            <a:r>
              <a:rPr lang="en-US" sz="2600" dirty="0">
                <a:latin typeface="Calibri" panose="020F0502020204030204" pitchFamily="34" charset="0"/>
                <a:cs typeface="Calibri" panose="020F0502020204030204" pitchFamily="34" charset="0"/>
              </a:rPr>
              <a:t> breaks words into smaller useful parts. </a:t>
            </a:r>
          </a:p>
        </p:txBody>
      </p:sp>
      <p:sp>
        <p:nvSpPr>
          <p:cNvPr id="3" name="TextBox 2">
            <a:extLst>
              <a:ext uri="{FF2B5EF4-FFF2-40B4-BE49-F238E27FC236}">
                <a16:creationId xmlns:a16="http://schemas.microsoft.com/office/drawing/2014/main" id="{BDD541CD-29A0-1D21-1845-74EBA54D513B}"/>
              </a:ext>
            </a:extLst>
          </p:cNvPr>
          <p:cNvSpPr txBox="1"/>
          <p:nvPr/>
        </p:nvSpPr>
        <p:spPr>
          <a:xfrm>
            <a:off x="8345214" y="6488668"/>
            <a:ext cx="4908330" cy="307777"/>
          </a:xfrm>
          <a:prstGeom prst="rect">
            <a:avLst/>
          </a:prstGeom>
          <a:noFill/>
        </p:spPr>
        <p:txBody>
          <a:bodyPr wrap="square">
            <a:spAutoFit/>
          </a:bodyPr>
          <a:lstStyle/>
          <a:p>
            <a:r>
              <a:rPr lang="en-US" sz="1400" dirty="0">
                <a:latin typeface="Calibir"/>
                <a:hlinkClick r:id="rId2"/>
              </a:rPr>
              <a:t>https://www.youtube.com/watch?v=PPJzuVzbmMg</a:t>
            </a:r>
            <a:r>
              <a:rPr lang="en-US" sz="1400" dirty="0">
                <a:latin typeface="Calibir"/>
              </a:rPr>
              <a:t> </a:t>
            </a:r>
          </a:p>
        </p:txBody>
      </p:sp>
      <p:pic>
        <p:nvPicPr>
          <p:cNvPr id="6" name="Picture 5">
            <a:extLst>
              <a:ext uri="{FF2B5EF4-FFF2-40B4-BE49-F238E27FC236}">
                <a16:creationId xmlns:a16="http://schemas.microsoft.com/office/drawing/2014/main" id="{EF798AE3-D444-02FD-3C80-B13F0FC9FB58}"/>
              </a:ext>
            </a:extLst>
          </p:cNvPr>
          <p:cNvPicPr>
            <a:picLocks noChangeAspect="1"/>
          </p:cNvPicPr>
          <p:nvPr/>
        </p:nvPicPr>
        <p:blipFill>
          <a:blip r:embed="rId3"/>
          <a:srcRect l="4569" t="32490" r="44742" b="14636"/>
          <a:stretch>
            <a:fillRect/>
          </a:stretch>
        </p:blipFill>
        <p:spPr>
          <a:xfrm>
            <a:off x="8860131" y="4626238"/>
            <a:ext cx="3331869" cy="1954923"/>
          </a:xfrm>
          <a:prstGeom prst="rect">
            <a:avLst/>
          </a:prstGeom>
        </p:spPr>
      </p:pic>
    </p:spTree>
    <p:extLst>
      <p:ext uri="{BB962C8B-B14F-4D97-AF65-F5344CB8AC3E}">
        <p14:creationId xmlns:p14="http://schemas.microsoft.com/office/powerpoint/2010/main" val="3558456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6D430-7BEE-B448-19D0-7132FFB1786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78FD4D3-0292-26B1-62A6-27E9884DE199}"/>
              </a:ext>
            </a:extLst>
          </p:cNvPr>
          <p:cNvSpPr txBox="1"/>
          <p:nvPr/>
        </p:nvSpPr>
        <p:spPr>
          <a:xfrm>
            <a:off x="-7434" y="0"/>
            <a:ext cx="12199434" cy="5842497"/>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Byte Pair Encoding builds tokens from common character patterns. </a:t>
            </a:r>
          </a:p>
          <a:p>
            <a:pPr marL="342900" lvl="0" indent="-342900">
              <a:lnSpc>
                <a:spcPct val="150000"/>
              </a:lnSpc>
              <a:buFont typeface="Arial" panose="020B0604020202020204" pitchFamily="34" charset="0"/>
              <a:buChar char="•"/>
            </a:pPr>
            <a:r>
              <a:rPr lang="en-US" sz="2800" dirty="0">
                <a:latin typeface="Calibri" panose="020F0502020204030204" pitchFamily="34" charset="0"/>
                <a:cs typeface="Calibri" panose="020F0502020204030204" pitchFamily="34" charset="0"/>
              </a:rPr>
              <a:t>Modern NLP needs smart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a:t>
            </a:r>
          </a:p>
          <a:p>
            <a:pPr>
              <a:lnSpc>
                <a:spcPct val="150000"/>
              </a:lnSpc>
              <a:buNone/>
            </a:pPr>
            <a:r>
              <a:rPr lang="en-US" sz="2800" b="1" dirty="0">
                <a:latin typeface="Calibri" panose="020F0502020204030204" pitchFamily="34" charset="0"/>
                <a:cs typeface="Calibri" panose="020F0502020204030204" pitchFamily="34" charset="0"/>
              </a:rPr>
              <a:t>Discussion Question</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can simple space-splitting fail?</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Because real text contains URLs, emails, punctuation, emojis, contractions, and languages without spaces.</a:t>
            </a:r>
          </a:p>
          <a:p>
            <a:pPr>
              <a:lnSpc>
                <a:spcPct val="150000"/>
              </a:lnSpc>
              <a:buNone/>
            </a:pPr>
            <a:r>
              <a:rPr lang="en-US" sz="2800" b="1" dirty="0">
                <a:latin typeface="Calibri" panose="020F0502020204030204" pitchFamily="34" charset="0"/>
                <a:cs typeface="Calibri" panose="020F0502020204030204" pitchFamily="34" charset="0"/>
              </a:rPr>
              <a:t>Q:</a:t>
            </a:r>
            <a:r>
              <a:rPr lang="en-US" sz="2800" dirty="0">
                <a:latin typeface="Calibri" panose="020F0502020204030204" pitchFamily="34" charset="0"/>
                <a:cs typeface="Calibri" panose="020F0502020204030204" pitchFamily="34" charset="0"/>
              </a:rPr>
              <a:t> Why is </a:t>
            </a:r>
            <a:r>
              <a:rPr lang="en-US" sz="2800" dirty="0" err="1">
                <a:latin typeface="Calibri" panose="020F0502020204030204" pitchFamily="34" charset="0"/>
                <a:cs typeface="Calibri" panose="020F0502020204030204" pitchFamily="34" charset="0"/>
              </a:rPr>
              <a:t>subword</a:t>
            </a:r>
            <a:r>
              <a:rPr lang="en-US" sz="2800" dirty="0">
                <a:latin typeface="Calibri" panose="020F0502020204030204" pitchFamily="34" charset="0"/>
                <a:cs typeface="Calibri" panose="020F0502020204030204" pitchFamily="34" charset="0"/>
              </a:rPr>
              <a:t> </a:t>
            </a:r>
            <a:r>
              <a:rPr lang="en-US" sz="2800" dirty="0" err="1">
                <a:latin typeface="Calibri" panose="020F0502020204030204" pitchFamily="34" charset="0"/>
                <a:cs typeface="Calibri" panose="020F0502020204030204" pitchFamily="34" charset="0"/>
              </a:rPr>
              <a:t>tokenisation</a:t>
            </a:r>
            <a:r>
              <a:rPr lang="en-US" sz="2800" dirty="0">
                <a:latin typeface="Calibri" panose="020F0502020204030204" pitchFamily="34" charset="0"/>
                <a:cs typeface="Calibri" panose="020F0502020204030204" pitchFamily="34" charset="0"/>
              </a:rPr>
              <a:t> useful?</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It can handle new words, spelling variations, slang, and </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rare words by breaking them into smaller parts.</a:t>
            </a:r>
          </a:p>
        </p:txBody>
      </p:sp>
      <p:sp>
        <p:nvSpPr>
          <p:cNvPr id="3" name="TextBox 2">
            <a:extLst>
              <a:ext uri="{FF2B5EF4-FFF2-40B4-BE49-F238E27FC236}">
                <a16:creationId xmlns:a16="http://schemas.microsoft.com/office/drawing/2014/main" id="{95CED67B-AD5E-CE76-B2B2-18C5BE2CBCBB}"/>
              </a:ext>
            </a:extLst>
          </p:cNvPr>
          <p:cNvSpPr txBox="1"/>
          <p:nvPr/>
        </p:nvSpPr>
        <p:spPr>
          <a:xfrm>
            <a:off x="8345214" y="6488668"/>
            <a:ext cx="4908330" cy="307777"/>
          </a:xfrm>
          <a:prstGeom prst="rect">
            <a:avLst/>
          </a:prstGeom>
          <a:noFill/>
        </p:spPr>
        <p:txBody>
          <a:bodyPr wrap="square">
            <a:spAutoFit/>
          </a:bodyPr>
          <a:lstStyle/>
          <a:p>
            <a:r>
              <a:rPr lang="en-US" sz="1400" dirty="0">
                <a:latin typeface="Calibir"/>
                <a:hlinkClick r:id="rId2"/>
              </a:rPr>
              <a:t>https://www.youtube.com/watch?v=PPJzuVzbmMg</a:t>
            </a:r>
            <a:r>
              <a:rPr lang="en-US" sz="1400" dirty="0">
                <a:latin typeface="Calibir"/>
              </a:rPr>
              <a:t> </a:t>
            </a:r>
          </a:p>
        </p:txBody>
      </p:sp>
      <p:pic>
        <p:nvPicPr>
          <p:cNvPr id="6" name="Picture 5">
            <a:extLst>
              <a:ext uri="{FF2B5EF4-FFF2-40B4-BE49-F238E27FC236}">
                <a16:creationId xmlns:a16="http://schemas.microsoft.com/office/drawing/2014/main" id="{D564F5B3-CAC8-42F3-B31F-03ED05E2D71A}"/>
              </a:ext>
            </a:extLst>
          </p:cNvPr>
          <p:cNvPicPr>
            <a:picLocks noChangeAspect="1"/>
          </p:cNvPicPr>
          <p:nvPr/>
        </p:nvPicPr>
        <p:blipFill>
          <a:blip r:embed="rId3"/>
          <a:srcRect l="4569" t="32490" r="44742" b="14636"/>
          <a:stretch>
            <a:fillRect/>
          </a:stretch>
        </p:blipFill>
        <p:spPr>
          <a:xfrm>
            <a:off x="8860131" y="4626238"/>
            <a:ext cx="3331869" cy="1954923"/>
          </a:xfrm>
          <a:prstGeom prst="rect">
            <a:avLst/>
          </a:prstGeom>
        </p:spPr>
      </p:pic>
    </p:spTree>
    <p:extLst>
      <p:ext uri="{BB962C8B-B14F-4D97-AF65-F5344CB8AC3E}">
        <p14:creationId xmlns:p14="http://schemas.microsoft.com/office/powerpoint/2010/main" val="218344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1000"/>
                                        <p:tgtEl>
                                          <p:spTgt spid="5">
                                            <p:txEl>
                                              <p:pRg st="4" end="4"/>
                                            </p:txEl>
                                          </p:spTgt>
                                        </p:tgtEl>
                                      </p:cBhvr>
                                    </p:animEffect>
                                    <p:anim calcmode="lin" valueType="num">
                                      <p:cBhvr>
                                        <p:cTn id="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animEffect transition="in" filter="fade">
                                      <p:cBhvr>
                                        <p:cTn id="12" dur="1000"/>
                                        <p:tgtEl>
                                          <p:spTgt spid="5">
                                            <p:txEl>
                                              <p:pRg st="6" end="6"/>
                                            </p:txEl>
                                          </p:spTgt>
                                        </p:tgtEl>
                                      </p:cBhvr>
                                    </p:animEffect>
                                    <p:anim calcmode="lin" valueType="num">
                                      <p:cBhvr>
                                        <p:cTn id="1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E39D9-22E9-1D09-3BC4-FC996003E18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79BD9B-FA3E-4DC9-44B9-E9A786AD90FB}"/>
              </a:ext>
            </a:extLst>
          </p:cNvPr>
          <p:cNvSpPr txBox="1"/>
          <p:nvPr/>
        </p:nvSpPr>
        <p:spPr>
          <a:xfrm>
            <a:off x="0" y="0"/>
            <a:ext cx="12192000" cy="6581161"/>
          </a:xfrm>
          <a:prstGeom prst="rect">
            <a:avLst/>
          </a:prstGeom>
          <a:noFill/>
        </p:spPr>
        <p:txBody>
          <a:bodyPr wrap="square">
            <a:spAutoFit/>
          </a:bodyPr>
          <a:lstStyle/>
          <a:p>
            <a:pPr>
              <a:lnSpc>
                <a:spcPct val="150000"/>
              </a:lnSpc>
              <a:buNone/>
            </a:pPr>
            <a:r>
              <a:rPr lang="en-US" sz="3200" b="1" dirty="0">
                <a:latin typeface="Calibri" panose="020F0502020204030204" pitchFamily="34" charset="0"/>
                <a:cs typeface="Calibri" panose="020F0502020204030204" pitchFamily="34" charset="0"/>
              </a:rPr>
              <a:t>Frequently Asked Questions</a:t>
            </a:r>
          </a:p>
          <a:p>
            <a:pPr>
              <a:lnSpc>
                <a:spcPct val="150000"/>
              </a:lnSpc>
              <a:buNone/>
            </a:pPr>
            <a:r>
              <a:rPr lang="en-US" sz="2800" b="1" dirty="0">
                <a:latin typeface="Calibri" panose="020F0502020204030204" pitchFamily="34" charset="0"/>
                <a:cs typeface="Calibri" panose="020F0502020204030204" pitchFamily="34" charset="0"/>
              </a:rPr>
              <a:t>Q1. Do I need to build a machine learning model in Assessment 1?</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No. Assessment 1 is about preprocessing, not model building.</a:t>
            </a:r>
          </a:p>
          <a:p>
            <a:pPr>
              <a:lnSpc>
                <a:spcPct val="150000"/>
              </a:lnSpc>
              <a:buNone/>
            </a:pPr>
            <a:r>
              <a:rPr lang="en-US" sz="2800" b="1" dirty="0">
                <a:latin typeface="Calibri" panose="020F0502020204030204" pitchFamily="34" charset="0"/>
                <a:cs typeface="Calibri" panose="020F0502020204030204" pitchFamily="34" charset="0"/>
              </a:rPr>
              <a:t>Q2. Can I use ChatGPT to write my assignment?</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No. You must write your own code and rationale. You may use tools for learning, but your submission must be your own work.</a:t>
            </a:r>
          </a:p>
          <a:p>
            <a:pPr>
              <a:lnSpc>
                <a:spcPct val="150000"/>
              </a:lnSpc>
              <a:buNone/>
            </a:pPr>
            <a:r>
              <a:rPr lang="en-US" sz="2800" b="1" dirty="0">
                <a:latin typeface="Calibri" panose="020F0502020204030204" pitchFamily="34" charset="0"/>
                <a:cs typeface="Calibri" panose="020F0502020204030204" pitchFamily="34" charset="0"/>
              </a:rPr>
              <a:t>Q3. Can I use an external dataset?</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Yes, but you must cite it and mention licensing or attribution.</a:t>
            </a:r>
          </a:p>
          <a:p>
            <a:pPr>
              <a:lnSpc>
                <a:spcPct val="150000"/>
              </a:lnSpc>
              <a:buNone/>
            </a:pPr>
            <a:r>
              <a:rPr lang="en-US" sz="2800" b="1" dirty="0">
                <a:latin typeface="Calibri" panose="020F0502020204030204" pitchFamily="34" charset="0"/>
                <a:cs typeface="Calibri" panose="020F0502020204030204" pitchFamily="34" charset="0"/>
              </a:rPr>
              <a:t>Q4. Should I use stemming and </a:t>
            </a:r>
            <a:r>
              <a:rPr lang="en-US" sz="2800" b="1" dirty="0" err="1">
                <a:latin typeface="Calibri" panose="020F0502020204030204" pitchFamily="34" charset="0"/>
                <a:cs typeface="Calibri" panose="020F0502020204030204" pitchFamily="34" charset="0"/>
              </a:rPr>
              <a:t>lemmatisation</a:t>
            </a:r>
            <a:r>
              <a:rPr lang="en-US" sz="2800" b="1" dirty="0">
                <a:latin typeface="Calibri" panose="020F0502020204030204" pitchFamily="34" charset="0"/>
                <a:cs typeface="Calibri" panose="020F0502020204030204" pitchFamily="34" charset="0"/>
              </a:rPr>
              <a:t> together?</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No. Choose one main policy and justify it.</a:t>
            </a:r>
          </a:p>
        </p:txBody>
      </p:sp>
    </p:spTree>
    <p:extLst>
      <p:ext uri="{BB962C8B-B14F-4D97-AF65-F5344CB8AC3E}">
        <p14:creationId xmlns:p14="http://schemas.microsoft.com/office/powerpoint/2010/main" val="1156442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1000"/>
                                        <p:tgtEl>
                                          <p:spTgt spid="3">
                                            <p:txEl>
                                              <p:pRg st="8" end="8"/>
                                            </p:txEl>
                                          </p:spTgt>
                                        </p:tgtEl>
                                      </p:cBhvr>
                                    </p:animEffect>
                                    <p:anim calcmode="lin" valueType="num">
                                      <p:cBhvr>
                                        <p:cTn id="2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5806F-9785-48FA-723E-4476B2E473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FE23D6-7275-4580-AAA0-F33D9DFFC227}"/>
              </a:ext>
            </a:extLst>
          </p:cNvPr>
          <p:cNvSpPr txBox="1"/>
          <p:nvPr/>
        </p:nvSpPr>
        <p:spPr>
          <a:xfrm>
            <a:off x="0" y="0"/>
            <a:ext cx="12192000" cy="6488828"/>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Q5. How many before/after examples do I need?</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Use 3–5 clear examples.</a:t>
            </a:r>
          </a:p>
          <a:p>
            <a:pPr>
              <a:lnSpc>
                <a:spcPct val="150000"/>
              </a:lnSpc>
              <a:buNone/>
            </a:pPr>
            <a:r>
              <a:rPr lang="en-US" sz="2800" b="1" dirty="0">
                <a:latin typeface="Calibri" panose="020F0502020204030204" pitchFamily="34" charset="0"/>
                <a:cs typeface="Calibri" panose="020F0502020204030204" pitchFamily="34" charset="0"/>
              </a:rPr>
              <a:t>Q6. What should be in the top cell of my notebook?</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Environment details, library versions, random seed, data path, and run instructions.</a:t>
            </a:r>
          </a:p>
          <a:p>
            <a:pPr>
              <a:lnSpc>
                <a:spcPct val="150000"/>
              </a:lnSpc>
              <a:buNone/>
            </a:pPr>
            <a:r>
              <a:rPr lang="en-US" sz="2800" b="1" dirty="0">
                <a:latin typeface="Calibri" panose="020F0502020204030204" pitchFamily="34" charset="0"/>
                <a:cs typeface="Calibri" panose="020F0502020204030204" pitchFamily="34" charset="0"/>
              </a:rPr>
              <a:t>Q7. What if my tokenizer gives different results from another student’s tokenizer?</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That is okay. You need to explain why your tokenizer is suitable for your corpus.</a:t>
            </a:r>
          </a:p>
          <a:p>
            <a:pPr>
              <a:lnSpc>
                <a:spcPct val="150000"/>
              </a:lnSpc>
              <a:buNone/>
            </a:pPr>
            <a:r>
              <a:rPr lang="en-US" sz="2800" b="1" dirty="0">
                <a:latin typeface="Calibri" panose="020F0502020204030204" pitchFamily="34" charset="0"/>
                <a:cs typeface="Calibri" panose="020F0502020204030204" pitchFamily="34" charset="0"/>
              </a:rPr>
              <a:t>Q8. What is the most important part of the viva?</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Explaining your own choices clearly with examples from your own work.</a:t>
            </a:r>
          </a:p>
        </p:txBody>
      </p:sp>
    </p:spTree>
    <p:extLst>
      <p:ext uri="{BB962C8B-B14F-4D97-AF65-F5344CB8AC3E}">
        <p14:creationId xmlns:p14="http://schemas.microsoft.com/office/powerpoint/2010/main" val="1023843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1000"/>
                                        <p:tgtEl>
                                          <p:spTgt spid="3">
                                            <p:txEl>
                                              <p:pRg st="7" end="7"/>
                                            </p:txEl>
                                          </p:spTgt>
                                        </p:tgtEl>
                                      </p:cBhvr>
                                    </p:animEffect>
                                    <p:anim calcmode="lin" valueType="num">
                                      <p:cBhvr>
                                        <p:cTn id="2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C95B0-8954-7969-5B80-27F7B817FC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7DA035-05A6-B80B-BD04-DFE345357DF2}"/>
              </a:ext>
            </a:extLst>
          </p:cNvPr>
          <p:cNvSpPr txBox="1"/>
          <p:nvPr/>
        </p:nvSpPr>
        <p:spPr>
          <a:xfrm>
            <a:off x="0" y="0"/>
            <a:ext cx="12192000" cy="4549835"/>
          </a:xfrm>
          <a:prstGeom prst="rect">
            <a:avLst/>
          </a:prstGeom>
          <a:noFill/>
        </p:spPr>
        <p:txBody>
          <a:bodyPr wrap="square">
            <a:spAutoFit/>
          </a:bodyPr>
          <a:lstStyle/>
          <a:p>
            <a:pPr>
              <a:lnSpc>
                <a:spcPct val="150000"/>
              </a:lnSpc>
              <a:buNone/>
            </a:pPr>
            <a:r>
              <a:rPr lang="en-US" sz="2800" b="1" dirty="0">
                <a:latin typeface="Calibri" panose="020F0502020204030204" pitchFamily="34" charset="0"/>
                <a:cs typeface="Calibri" panose="020F0502020204030204" pitchFamily="34" charset="0"/>
              </a:rPr>
              <a:t>Q9. Can I use a very large corpus?</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It is better to use a small, clear corpus for Assessment 1. The focus is quality and explanation.</a:t>
            </a:r>
          </a:p>
          <a:p>
            <a:pPr>
              <a:lnSpc>
                <a:spcPct val="150000"/>
              </a:lnSpc>
              <a:buNone/>
            </a:pPr>
            <a:r>
              <a:rPr lang="en-US" sz="2800" b="1" dirty="0">
                <a:latin typeface="Calibri" panose="020F0502020204030204" pitchFamily="34" charset="0"/>
                <a:cs typeface="Calibri" panose="020F0502020204030204" pitchFamily="34" charset="0"/>
              </a:rPr>
              <a:t>Q10. What is a strong Assessment 1 submission?</a:t>
            </a:r>
          </a:p>
          <a:p>
            <a:pPr>
              <a:lnSpc>
                <a:spcPct val="150000"/>
              </a:lnSpc>
              <a:buNone/>
            </a:pPr>
            <a:r>
              <a:rPr lang="en-US" sz="2800" b="1" dirty="0">
                <a:latin typeface="Calibri" panose="020F0502020204030204" pitchFamily="34" charset="0"/>
                <a:cs typeface="Calibri" panose="020F0502020204030204" pitchFamily="34" charset="0"/>
              </a:rPr>
              <a:t>A:</a:t>
            </a:r>
            <a:r>
              <a:rPr lang="en-US" sz="2800" dirty="0">
                <a:latin typeface="Calibri" panose="020F0502020204030204" pitchFamily="34" charset="0"/>
                <a:cs typeface="Calibri" panose="020F0502020204030204" pitchFamily="34" charset="0"/>
              </a:rPr>
              <a:t> A strong submission runs end-to-end, has clear functions, shows examples, reports vocabulary statistics, includes reproducibility notes, and explains choices in simple but thoughtful language.</a:t>
            </a:r>
          </a:p>
        </p:txBody>
      </p:sp>
    </p:spTree>
    <p:extLst>
      <p:ext uri="{BB962C8B-B14F-4D97-AF65-F5344CB8AC3E}">
        <p14:creationId xmlns:p14="http://schemas.microsoft.com/office/powerpoint/2010/main" val="38299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37DCD5BB-FD25-7302-E553-EF1050FB1B9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wo people holding each other's hands">
            <a:extLst>
              <a:ext uri="{FF2B5EF4-FFF2-40B4-BE49-F238E27FC236}">
                <a16:creationId xmlns:a16="http://schemas.microsoft.com/office/drawing/2014/main" id="{E9FC971C-A1A1-ECDC-5A46-37A72D931EB9}"/>
              </a:ext>
            </a:extLst>
          </p:cNvPr>
          <p:cNvPicPr>
            <a:picLocks noChangeAspect="1"/>
          </p:cNvPicPr>
          <p:nvPr/>
        </p:nvPicPr>
        <p:blipFill>
          <a:blip r:embed="rId2">
            <a:alphaModFix amt="50000"/>
          </a:blip>
          <a:srcRect t="7664" b="8067"/>
          <a:stretch>
            <a:fillRect/>
          </a:stretch>
        </p:blipFill>
        <p:spPr>
          <a:xfrm>
            <a:off x="20" y="1"/>
            <a:ext cx="12191980" cy="6857999"/>
          </a:xfrm>
          <a:prstGeom prst="rect">
            <a:avLst/>
          </a:prstGeom>
        </p:spPr>
      </p:pic>
      <p:sp>
        <p:nvSpPr>
          <p:cNvPr id="3" name="TextBox 2">
            <a:extLst>
              <a:ext uri="{FF2B5EF4-FFF2-40B4-BE49-F238E27FC236}">
                <a16:creationId xmlns:a16="http://schemas.microsoft.com/office/drawing/2014/main" id="{95AB1648-324E-D430-E22F-E944F8C8A874}"/>
              </a:ext>
            </a:extLst>
          </p:cNvPr>
          <p:cNvSpPr txBox="1"/>
          <p:nvPr/>
        </p:nvSpPr>
        <p:spPr>
          <a:xfrm>
            <a:off x="1524000" y="1122362"/>
            <a:ext cx="9144000" cy="2900518"/>
          </a:xfrm>
          <a:prstGeom prst="rect">
            <a:avLst/>
          </a:prstGeom>
        </p:spPr>
        <p:txBody>
          <a:bodyPr vert="horz" lIns="91440" tIns="45720" rIns="91440" bIns="45720" rtlCol="0" anchor="b">
            <a:normAutofit/>
          </a:bodyPr>
          <a:lstStyle/>
          <a:p>
            <a:pPr marL="0" marR="0" lvl="0" indent="0" algn="ctr" fontAlgn="auto">
              <a:lnSpc>
                <a:spcPct val="90000"/>
              </a:lnSpc>
              <a:spcBef>
                <a:spcPct val="0"/>
              </a:spcBef>
              <a:spcAft>
                <a:spcPts val="600"/>
              </a:spcAft>
              <a:buClrTx/>
              <a:buSzTx/>
              <a:tabLst/>
              <a:defRPr/>
            </a:pPr>
            <a:r>
              <a:rPr kumimoji="0" lang="en-US" sz="6000" b="1" i="0" u="none" strike="noStrike" cap="none" spc="0" normalizeH="0" baseline="0" noProof="0" dirty="0">
                <a:ln>
                  <a:noFill/>
                </a:ln>
                <a:solidFill>
                  <a:srgbClr val="FFFFFF"/>
                </a:solidFill>
                <a:effectLst/>
                <a:uLnTx/>
                <a:uFillTx/>
                <a:latin typeface="+mj-lt"/>
                <a:ea typeface="+mj-ea"/>
                <a:cs typeface="+mj-cs"/>
              </a:rPr>
              <a:t>Attendance</a:t>
            </a:r>
          </a:p>
        </p:txBody>
      </p:sp>
    </p:spTree>
    <p:extLst>
      <p:ext uri="{BB962C8B-B14F-4D97-AF65-F5344CB8AC3E}">
        <p14:creationId xmlns:p14="http://schemas.microsoft.com/office/powerpoint/2010/main" val="1354931679"/>
      </p:ext>
    </p:extLst>
  </p:cSld>
  <p:clrMapOvr>
    <a:overrideClrMapping bg1="dk1" tx1="lt1" bg2="dk2" tx2="lt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2" cy="6651523"/>
          </a:xfrm>
          <a:prstGeom prst="rect">
            <a:avLst/>
          </a:prstGeom>
        </p:spPr>
        <p:txBody>
          <a:bodyPr vert="horz" lIns="91440" tIns="45720" rIns="91440" bIns="45720" rtlCol="0" anchor="t">
            <a:noAutofit/>
          </a:bodyPr>
          <a:lstStyle/>
          <a:p>
            <a:pPr>
              <a:lnSpc>
                <a:spcPct val="150000"/>
              </a:lnSpc>
              <a:spcAft>
                <a:spcPts val="600"/>
              </a:spcAft>
            </a:pPr>
            <a:r>
              <a:rPr lang="en-US" sz="2800" b="1" dirty="0">
                <a:solidFill>
                  <a:schemeClr val="tx1">
                    <a:alpha val="80000"/>
                  </a:schemeClr>
                </a:solidFill>
              </a:rPr>
              <a:t>Happy Learning and Bright Futures Ahead!</a:t>
            </a:r>
            <a:br>
              <a:rPr lang="en-US" sz="2800" dirty="0">
                <a:solidFill>
                  <a:schemeClr val="tx1">
                    <a:alpha val="80000"/>
                  </a:schemeClr>
                </a:solidFill>
              </a:rPr>
            </a:br>
            <a:r>
              <a:rPr lang="en-US" sz="2800" i="1" dirty="0">
                <a:solidFill>
                  <a:schemeClr val="tx1">
                    <a:alpha val="80000"/>
                  </a:schemeClr>
                </a:solidFill>
              </a:rPr>
              <a:t>Dr. Farshid Keivanian</a:t>
            </a:r>
            <a:br>
              <a:rPr lang="en-US" sz="2800" dirty="0">
                <a:solidFill>
                  <a:schemeClr val="tx1">
                    <a:alpha val="80000"/>
                  </a:schemeClr>
                </a:solidFill>
              </a:rPr>
            </a:br>
            <a:r>
              <a:rPr lang="en-US" sz="2800" b="1" dirty="0">
                <a:solidFill>
                  <a:schemeClr val="tx1">
                    <a:alpha val="80000"/>
                  </a:schemeClr>
                </a:solidFill>
              </a:rPr>
              <a:t>Stay Connected:</a:t>
            </a:r>
            <a:br>
              <a:rPr lang="en-US" sz="2800" dirty="0">
                <a:solidFill>
                  <a:schemeClr val="tx1">
                    <a:alpha val="80000"/>
                  </a:schemeClr>
                </a:solidFill>
              </a:rPr>
            </a:br>
            <a:r>
              <a:rPr lang="en-US" sz="2800" dirty="0">
                <a:solidFill>
                  <a:schemeClr val="tx1">
                    <a:alpha val="80000"/>
                  </a:schemeClr>
                </a:solidFill>
                <a:hlinkClick r:id="rId3"/>
              </a:rPr>
              <a:t>LinkedIn Profile</a:t>
            </a:r>
            <a:r>
              <a:rPr lang="en-US" sz="2800" dirty="0">
                <a:solidFill>
                  <a:schemeClr val="tx1">
                    <a:alpha val="80000"/>
                  </a:schemeClr>
                </a:solidFill>
              </a:rPr>
              <a:t>: </a:t>
            </a:r>
            <a:r>
              <a:rPr lang="en-US" sz="2800" dirty="0">
                <a:solidFill>
                  <a:schemeClr val="tx1">
                    <a:alpha val="80000"/>
                  </a:schemeClr>
                </a:solidFill>
                <a:hlinkClick r:id="rId4"/>
              </a:rPr>
              <a:t>https://www.linkedin.com/in/farshid-keivanian</a:t>
            </a:r>
            <a:r>
              <a:rPr lang="en-US" sz="2800" dirty="0">
                <a:solidFill>
                  <a:schemeClr val="tx1">
                    <a:alpha val="80000"/>
                  </a:schemeClr>
                </a:solidFill>
              </a:rPr>
              <a:t> </a:t>
            </a:r>
          </a:p>
          <a:p>
            <a:pPr indent="-228600">
              <a:lnSpc>
                <a:spcPct val="150000"/>
              </a:lnSpc>
              <a:spcAft>
                <a:spcPts val="600"/>
              </a:spcAft>
              <a:buFont typeface="Arial" panose="020B0604020202020204" pitchFamily="34" charset="0"/>
              <a:buChar char="•"/>
            </a:pPr>
            <a:r>
              <a:rPr lang="en-US" sz="2800" i="1" dirty="0">
                <a:solidFill>
                  <a:schemeClr val="tx1">
                    <a:alpha val="80000"/>
                  </a:schemeClr>
                </a:solidFill>
              </a:rPr>
              <a:t>Education is the most powerful weapon you can use to change the world. </a:t>
            </a:r>
            <a:r>
              <a:rPr lang="en-US" sz="2800" dirty="0">
                <a:solidFill>
                  <a:schemeClr val="tx1">
                    <a:alpha val="80000"/>
                  </a:schemeClr>
                </a:solidFill>
              </a:rPr>
              <a:t>— Nelson Mandela</a:t>
            </a:r>
          </a:p>
        </p:txBody>
      </p: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5335</Words>
  <Application>Microsoft Office PowerPoint</Application>
  <PresentationFormat>Widescreen</PresentationFormat>
  <Paragraphs>579</Paragraphs>
  <Slides>82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82</vt:i4>
      </vt:variant>
    </vt:vector>
  </HeadingPairs>
  <TitlesOfParts>
    <vt:vector size="89" baseType="lpstr">
      <vt:lpstr>Aptos</vt:lpstr>
      <vt:lpstr>Aptos Display</vt:lpstr>
      <vt:lpstr>Arial</vt:lpstr>
      <vt:lpstr>Calibir</vt:lpstr>
      <vt:lpstr>Calibri</vt:lpstr>
      <vt:lpstr>Consolas</vt:lpstr>
      <vt:lpstr>Office Theme</vt:lpstr>
      <vt:lpstr>DATM754 Natural Language Processing and Generative Artificial Intelligence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43</cp:revision>
  <dcterms:created xsi:type="dcterms:W3CDTF">2026-09-08T03:49:35Z</dcterms:created>
  <dcterms:modified xsi:type="dcterms:W3CDTF">2026-09-08T04:32:55Z</dcterms:modified>
</cp:coreProperties>
</file>
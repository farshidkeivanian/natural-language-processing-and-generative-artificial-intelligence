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1678" r:id="rId4"/>
    <p:sldId id="1679" r:id="rId5"/>
    <p:sldId id="1680" r:id="rId6"/>
    <p:sldId id="1681" r:id="rId7"/>
    <p:sldId id="1750" r:id="rId8"/>
    <p:sldId id="1751" r:id="rId9"/>
    <p:sldId id="1752" r:id="rId10"/>
    <p:sldId id="1753" r:id="rId11"/>
    <p:sldId id="1754" r:id="rId12"/>
    <p:sldId id="1755" r:id="rId13"/>
    <p:sldId id="1756" r:id="rId14"/>
    <p:sldId id="1757" r:id="rId15"/>
    <p:sldId id="1758" r:id="rId16"/>
    <p:sldId id="1759" r:id="rId17"/>
    <p:sldId id="1760" r:id="rId18"/>
    <p:sldId id="1761" r:id="rId19"/>
    <p:sldId id="1762" r:id="rId20"/>
    <p:sldId id="1763" r:id="rId21"/>
    <p:sldId id="1764" r:id="rId22"/>
    <p:sldId id="1765" r:id="rId23"/>
    <p:sldId id="1766" r:id="rId24"/>
    <p:sldId id="1767" r:id="rId25"/>
    <p:sldId id="1768" r:id="rId26"/>
    <p:sldId id="1769" r:id="rId27"/>
    <p:sldId id="1770" r:id="rId28"/>
    <p:sldId id="1682" r:id="rId29"/>
    <p:sldId id="1683" r:id="rId30"/>
    <p:sldId id="1684" r:id="rId31"/>
    <p:sldId id="1685" r:id="rId32"/>
    <p:sldId id="1686" r:id="rId33"/>
    <p:sldId id="1687" r:id="rId34"/>
    <p:sldId id="1688" r:id="rId35"/>
    <p:sldId id="1689" r:id="rId36"/>
    <p:sldId id="1690" r:id="rId37"/>
    <p:sldId id="1691" r:id="rId38"/>
    <p:sldId id="1692" r:id="rId39"/>
    <p:sldId id="1693" r:id="rId40"/>
    <p:sldId id="1694" r:id="rId41"/>
    <p:sldId id="1695" r:id="rId42"/>
    <p:sldId id="1696" r:id="rId43"/>
    <p:sldId id="1697" r:id="rId44"/>
    <p:sldId id="1698" r:id="rId45"/>
    <p:sldId id="1699" r:id="rId46"/>
    <p:sldId id="1700" r:id="rId47"/>
    <p:sldId id="1701" r:id="rId48"/>
    <p:sldId id="1702" r:id="rId49"/>
    <p:sldId id="1703" r:id="rId50"/>
    <p:sldId id="1704" r:id="rId51"/>
    <p:sldId id="1705" r:id="rId52"/>
    <p:sldId id="1706" r:id="rId53"/>
    <p:sldId id="1707" r:id="rId54"/>
    <p:sldId id="1708" r:id="rId55"/>
    <p:sldId id="1709" r:id="rId56"/>
    <p:sldId id="1710" r:id="rId57"/>
    <p:sldId id="1711" r:id="rId58"/>
    <p:sldId id="1712" r:id="rId59"/>
    <p:sldId id="1713" r:id="rId60"/>
    <p:sldId id="1714" r:id="rId61"/>
    <p:sldId id="1715" r:id="rId62"/>
    <p:sldId id="1716" r:id="rId63"/>
    <p:sldId id="1717" r:id="rId64"/>
    <p:sldId id="1718" r:id="rId65"/>
    <p:sldId id="1719" r:id="rId66"/>
    <p:sldId id="1720" r:id="rId67"/>
    <p:sldId id="1721" r:id="rId68"/>
    <p:sldId id="1722" r:id="rId69"/>
    <p:sldId id="1723" r:id="rId70"/>
    <p:sldId id="1724" r:id="rId71"/>
    <p:sldId id="1725" r:id="rId72"/>
    <p:sldId id="1726" r:id="rId73"/>
    <p:sldId id="1727" r:id="rId74"/>
    <p:sldId id="1728" r:id="rId75"/>
    <p:sldId id="1729" r:id="rId76"/>
    <p:sldId id="1730" r:id="rId77"/>
    <p:sldId id="1731" r:id="rId78"/>
    <p:sldId id="1732" r:id="rId79"/>
    <p:sldId id="1733" r:id="rId80"/>
    <p:sldId id="1734" r:id="rId81"/>
    <p:sldId id="1735" r:id="rId82"/>
    <p:sldId id="1736" r:id="rId83"/>
    <p:sldId id="1737" r:id="rId84"/>
    <p:sldId id="1738" r:id="rId85"/>
    <p:sldId id="1739" r:id="rId86"/>
    <p:sldId id="1740" r:id="rId87"/>
    <p:sldId id="1741" r:id="rId88"/>
    <p:sldId id="1742" r:id="rId89"/>
    <p:sldId id="1743" r:id="rId90"/>
    <p:sldId id="1744" r:id="rId91"/>
    <p:sldId id="1745" r:id="rId92"/>
    <p:sldId id="1746" r:id="rId93"/>
    <p:sldId id="1747" r:id="rId94"/>
    <p:sldId id="1748" r:id="rId95"/>
    <p:sldId id="1749" r:id="rId96"/>
    <p:sldId id="790" r:id="rId97"/>
    <p:sldId id="749" r:id="rId9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3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FA1A-548F-DD22-D11A-7950EC833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6EDB9-F7B6-5665-F88B-95BB4F9B5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EA7AF-809D-2BBB-FCDE-DEF8B057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E5C33-A84A-9F00-E746-305CBBCC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1E3FE-2785-7795-8C68-060DDC56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4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EC5D6-1D27-64E1-972A-FE8D768B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06DB3-5BAD-79BB-47B6-48B7F3378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35CC0-5FB5-8F6E-425B-E22D83A24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10AC2-5397-4D43-A9A8-D8B49D2F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EF1D8-D9E7-0FA8-28EE-29D2986D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962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064A-B93B-C4AF-6EA5-3CFB3961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4FDF8-73FC-E8B6-BD5A-AC513EDF7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4AF8B-B065-485E-D387-4A7E205C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084AF-A889-8544-EBF8-DEC48AEA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46041-B5E4-84AF-14FE-92A4D5453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2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CFC2A-D545-9D7A-9831-6D439D86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69AB9-BEE5-FF51-A447-FD0BF60E0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1A705-8894-3862-7A7A-82FEA5820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F741C-E652-5F31-D28D-2564964A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99244-0B65-9890-C4A4-9003B3759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CE26A-3A6B-76F9-DCC9-57ED71AA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1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3A29-D895-A3F2-A45E-ABF6E624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0C78-870A-2E79-9333-1BC6C4007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49F24-E44E-2A04-114A-F48174F68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A2719-8390-FB70-ACC5-C6CC9C832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F798F-BAC6-6699-0EC1-B146E63F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A65A0-4DBB-D142-4DD8-60F549931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5EC79-B316-3AE3-4407-50F36823A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2C7D63-C1B7-F017-F428-C38D872B2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8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6EA8-6CCC-3007-5D41-7059E97F7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E53EB-521C-CDC7-1DBE-450167242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E83848-A994-DDF6-B4E0-E0EEE1195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CE24D-2D8E-1746-3FE2-6CDBDBF8D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0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DE317-18A4-563B-6A83-6747A670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7C82F-34B1-E64C-9908-19499561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15121-9284-B3F6-43B6-6657C0C17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8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05B8-B635-114B-A46B-6A58595D5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95FC0-EFB3-871A-2BC7-B0B3CA90F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861A4-A989-55DC-CA82-032233C85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F5F51-537A-5206-F484-58CBDBF6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7E559-A1EE-A113-426D-B3F69337A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BF45A-418B-FAEF-E4B3-B36F9ADD2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9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2A767-84B1-6F8D-C8E8-904B10CA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E2F5E-63C8-E00D-60CB-C918B441B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375C8-5142-F2BF-C1B9-52738E99B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53237-D4FE-C225-9D51-19299EDA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36967-B9A2-7771-FCD9-6672C762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2BFFD-6D39-8833-A6E8-FE705D50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9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4731-7731-DF72-0029-942004FE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99BDD-5576-817C-3B9A-440943A87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97AFB-3832-57D8-B09D-5237F7D31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E38A0-02D0-3BA0-44E0-36C7245DF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2B5CB-B0E3-FACA-16FA-D1B2FFCD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950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837890-05C6-60E5-5D9C-E63FC12E1E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6D774-5761-1135-7CDB-E8FF1561D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D7B09-4340-2A8E-A096-8AB01128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C3D46-7948-506A-13E9-043A09E64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A9416-6374-927A-2292-D2EEB2243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98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4ADFD-5477-23C7-050F-F37F6FBE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20BBC-043C-2572-F7FC-35C7E2703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0446-49B7-92A4-1770-D8B7EEEC0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F8E727-C31C-40C4-BCBF-6B56EC34ABF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020F9-7291-9199-D343-5080720AF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A6A84-C211-42FE-6FD6-C81974899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83345E-2DB6-4760-A74B-F3B603509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53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/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farshid-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B4912-CB00-8833-054B-C238137B1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r>
              <a:rPr lang="en-US" sz="5100" dirty="0"/>
              <a:t>DATM754 Natural Language Processing and Generative Artificial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4A9D4-E479-136C-9B18-BFFB5391C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978215"/>
          </a:xfrm>
        </p:spPr>
        <p:txBody>
          <a:bodyPr anchor="t"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Week 3: Vector Space Models: </a:t>
            </a:r>
            <a:r>
              <a:rPr lang="en-US" dirty="0" err="1"/>
              <a:t>BoW</a:t>
            </a:r>
            <a:r>
              <a:rPr lang="en-US" dirty="0"/>
              <a:t>, TF-IDF, N-grams</a:t>
            </a:r>
            <a:br>
              <a:rPr lang="en-US" dirty="0"/>
            </a:br>
            <a:r>
              <a:rPr lang="en-US" dirty="0"/>
              <a:t>Dr. Farshid Keivanian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7EB0C-C615-BF1A-E470-8B59D9A1E3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2873908" y="863979"/>
            <a:ext cx="6439588" cy="2197387"/>
          </a:xfrm>
          <a:prstGeom prst="rect">
            <a:avLst/>
          </a:pr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25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85B7-850E-9A5F-A097-21A29F78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DF53E5-4E7A-406D-0113-94223A609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85" y="88591"/>
            <a:ext cx="10021230" cy="668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64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447DC-332E-2D9B-1B40-EB3EBA88F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78207E4-71BC-4ED5-B708-B0E1BC477935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Where Week 3 Fits in the NLP Pipeline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467089-1307-1603-F232-D3A6ED9791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1CAE52-C234-2B75-2CD7-719CFA517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0"/>
          <a:stretch>
            <a:fillRect/>
          </a:stretch>
        </p:blipFill>
        <p:spPr>
          <a:xfrm>
            <a:off x="2819341" y="811161"/>
            <a:ext cx="5911316" cy="58403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11439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7423-4B42-4023-8237-472A9294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708F725-068C-971D-B628-D77ED5397510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Week 3 Learning Outcomes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B2DFBE-46DF-26F2-29D7-A6EE80DF03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1D3973-FBAB-6774-BB7A-223A9191EF12}"/>
              </a:ext>
            </a:extLst>
          </p:cNvPr>
          <p:cNvSpPr txBox="1"/>
          <p:nvPr/>
        </p:nvSpPr>
        <p:spPr>
          <a:xfrm>
            <a:off x="0" y="671852"/>
            <a:ext cx="1206562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By the end of Week 3, students should be able to: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explain why text must be converted to numbers;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explain Bag of Words in simple terms;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explain TF-IDF in simple terms;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distinguish </a:t>
            </a:r>
            <a:r>
              <a:rPr lang="en-US" sz="2800" dirty="0" err="1">
                <a:latin typeface="Calibir"/>
              </a:rPr>
              <a:t>BoW</a:t>
            </a:r>
            <a:r>
              <a:rPr lang="en-US" sz="2800" dirty="0">
                <a:latin typeface="Calibir"/>
              </a:rPr>
              <a:t> from TF-IDF;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explain unigram, bigram and trigram features;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</a:t>
            </a:r>
            <a:r>
              <a:rPr lang="en-US" sz="2800" dirty="0" err="1">
                <a:latin typeface="Calibir"/>
              </a:rPr>
              <a:t>CountVectorizer</a:t>
            </a:r>
            <a:r>
              <a:rPr lang="en-US" sz="2800" dirty="0">
                <a:latin typeface="Calibir"/>
              </a:rPr>
              <a:t>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</a:t>
            </a:r>
            <a:r>
              <a:rPr lang="en-US" sz="2800" dirty="0" err="1">
                <a:latin typeface="Calibir"/>
              </a:rPr>
              <a:t>TfidfVectorizer</a:t>
            </a:r>
            <a:r>
              <a:rPr lang="en-US" sz="2800" dirty="0">
                <a:latin typeface="Calibir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85213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F6030-0AE7-49F6-4B67-2DA45A59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C9177E-0881-CC7F-C316-8FE3DB8191C9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Week 3 Learning Outcomes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110FCB-75F7-4186-F02B-0F47878264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3362F6-0E4C-4D59-6BCD-87694C2330A8}"/>
              </a:ext>
            </a:extLst>
          </p:cNvPr>
          <p:cNvSpPr txBox="1"/>
          <p:nvPr/>
        </p:nvSpPr>
        <p:spPr>
          <a:xfrm>
            <a:off x="0" y="671852"/>
            <a:ext cx="1206562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perform a simple train/test split;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train Multinomial Naive Bayes;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train Logistic Regression;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calculate and interpret accuracy, precision, recall and F1;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read a confusion matrix;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compare baseline models;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explain how Week 3 connects to Assessment 2.</a:t>
            </a:r>
          </a:p>
        </p:txBody>
      </p:sp>
    </p:spTree>
    <p:extLst>
      <p:ext uri="{BB962C8B-B14F-4D97-AF65-F5344CB8AC3E}">
        <p14:creationId xmlns:p14="http://schemas.microsoft.com/office/powerpoint/2010/main" val="2741701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6A63B-278C-0D3A-2EEE-F595870D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99797F9-7C2A-A142-103F-36CCE8C9BB9E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and Assessment 2 — How They Connect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629623-AEC6-1EB9-117A-C94E71A89E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7F40F4-345E-376D-5FE9-5D2701A2BE2D}"/>
              </a:ext>
            </a:extLst>
          </p:cNvPr>
          <p:cNvSpPr txBox="1"/>
          <p:nvPr/>
        </p:nvSpPr>
        <p:spPr>
          <a:xfrm>
            <a:off x="0" y="671852"/>
            <a:ext cx="12064180" cy="631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Calibir"/>
              </a:rPr>
              <a:t>Assessment 1 asks:</a:t>
            </a:r>
          </a:p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Calibir"/>
              </a:rPr>
              <a:t>Can you prepare text correctly and explain your preprocessing choices?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Calibir"/>
              </a:rPr>
              <a:t>You focus on: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cleaning,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tokenisation</a:t>
            </a:r>
            <a:r>
              <a:rPr lang="en-US" sz="2200" dirty="0">
                <a:latin typeface="Calibir"/>
              </a:rPr>
              <a:t>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normalisation</a:t>
            </a:r>
            <a:r>
              <a:rPr lang="en-US" sz="2200" dirty="0">
                <a:latin typeface="Calibir"/>
              </a:rPr>
              <a:t>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vocabulary inspection,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stopword</a:t>
            </a:r>
            <a:r>
              <a:rPr lang="en-US" sz="2200" dirty="0">
                <a:latin typeface="Calibir"/>
              </a:rPr>
              <a:t> policy,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rare-token policy,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reproducibility,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and explaining why your choices matter. 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Calibir"/>
              </a:rPr>
              <a:t>You do not build a classifier or language model in Assessment 1.</a:t>
            </a:r>
          </a:p>
        </p:txBody>
      </p:sp>
    </p:spTree>
    <p:extLst>
      <p:ext uri="{BB962C8B-B14F-4D97-AF65-F5344CB8AC3E}">
        <p14:creationId xmlns:p14="http://schemas.microsoft.com/office/powerpoint/2010/main" val="3355636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5E4DE-933D-8A86-3A0D-2FFA1A20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CB14687-68C3-243B-1BD6-BB64B100D375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and Assessment 2 — How They Connect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728E9E-EE60-E9B1-7A7F-952479E899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8945A6-0D75-CBCA-350C-9F47612B75E9}"/>
              </a:ext>
            </a:extLst>
          </p:cNvPr>
          <p:cNvSpPr txBox="1"/>
          <p:nvPr/>
        </p:nvSpPr>
        <p:spPr>
          <a:xfrm>
            <a:off x="0" y="671852"/>
            <a:ext cx="12064180" cy="553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Assessment 2 asks: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Can you represent text meaningfully, compare models fairly, evaluate the results, and explain why one approach behaves differently from another?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Calibir"/>
              </a:rPr>
              <a:t>You will move beyond preprocessing into: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Word2Vec embeddings,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CBOW or Skip-gram,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negative sampling,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FastText</a:t>
            </a:r>
            <a:r>
              <a:rPr lang="en-US" sz="2200" dirty="0">
                <a:latin typeface="Calibir"/>
              </a:rPr>
              <a:t> or TF-IDF comparison,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document vectors,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Logistic Regression or SVM, </a:t>
            </a:r>
          </a:p>
        </p:txBody>
      </p:sp>
    </p:spTree>
    <p:extLst>
      <p:ext uri="{BB962C8B-B14F-4D97-AF65-F5344CB8AC3E}">
        <p14:creationId xmlns:p14="http://schemas.microsoft.com/office/powerpoint/2010/main" val="406290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B749C-B39B-CD81-209A-7D308AFB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5F908D-23F3-35E0-62C0-EA45065C8383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and Assessment 2 — How They Connect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7A0B1E-39CE-E277-634D-3CEBC18E1F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7B5316-284F-B20C-BD8A-71CE60618D20}"/>
              </a:ext>
            </a:extLst>
          </p:cNvPr>
          <p:cNvSpPr txBox="1"/>
          <p:nvPr/>
        </p:nvSpPr>
        <p:spPr>
          <a:xfrm>
            <a:off x="0" y="671852"/>
            <a:ext cx="1206418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intrinsic evaluation,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PCA/t-SNE </a:t>
            </a:r>
            <a:r>
              <a:rPr lang="en-US" sz="2800" dirty="0" err="1">
                <a:latin typeface="Calibir"/>
              </a:rPr>
              <a:t>visualisation</a:t>
            </a:r>
            <a:r>
              <a:rPr lang="en-US" sz="2800" dirty="0">
                <a:latin typeface="Calibir"/>
              </a:rPr>
              <a:t>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accuracy and macro-F1,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runtime/model-size comparison,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interpretation,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failure analysis,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and a reflective mini-viva.</a:t>
            </a:r>
          </a:p>
        </p:txBody>
      </p:sp>
    </p:spTree>
    <p:extLst>
      <p:ext uri="{BB962C8B-B14F-4D97-AF65-F5344CB8AC3E}">
        <p14:creationId xmlns:p14="http://schemas.microsoft.com/office/powerpoint/2010/main" val="77293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00E5-8EE3-83AB-CD69-418A52EB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4598B05-0DF5-66DF-571B-12E3D3D12603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How Week 3 Fits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83E721-B070-669B-78E9-8CB1EB06D4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BFADAB-1AFB-FAA7-754E-6E94D4B73DAE}"/>
              </a:ext>
            </a:extLst>
          </p:cNvPr>
          <p:cNvSpPr txBox="1"/>
          <p:nvPr/>
        </p:nvSpPr>
        <p:spPr>
          <a:xfrm>
            <a:off x="0" y="671852"/>
            <a:ext cx="1206418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Week 3 is an important bridge.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week you learn: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Text → Numerical Features → Classifier → Evaluation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using: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Bag of Words,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TF-IDF,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n-grams,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Naive Bayes, </a:t>
            </a:r>
          </a:p>
        </p:txBody>
      </p:sp>
    </p:spTree>
    <p:extLst>
      <p:ext uri="{BB962C8B-B14F-4D97-AF65-F5344CB8AC3E}">
        <p14:creationId xmlns:p14="http://schemas.microsoft.com/office/powerpoint/2010/main" val="185400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8831D-F51B-1905-61AD-DC3690E9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E663913-F779-EC58-E458-A03A461EBD3B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How Week 3 Fits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C40045-7197-C435-06E3-22B895D8C2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051BDA-A97D-1319-040E-11552C8BC768}"/>
              </a:ext>
            </a:extLst>
          </p:cNvPr>
          <p:cNvSpPr txBox="1"/>
          <p:nvPr/>
        </p:nvSpPr>
        <p:spPr>
          <a:xfrm>
            <a:off x="0" y="671852"/>
            <a:ext cx="1206418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Logistic Regression,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precision,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recall,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F1,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confusion matrices.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These skills are especially useful because one A2 comparison option is: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TF-IDF + Logistic Regression vs Word2Vec-average + Logistic Regression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So Week 3 gives you the classical baseline side of that later comparison.</a:t>
            </a:r>
          </a:p>
        </p:txBody>
      </p:sp>
    </p:spTree>
    <p:extLst>
      <p:ext uri="{BB962C8B-B14F-4D97-AF65-F5344CB8AC3E}">
        <p14:creationId xmlns:p14="http://schemas.microsoft.com/office/powerpoint/2010/main" val="3273926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8E6C8-F6A6-AACB-A1D4-C13D16FA0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E1C7283-EDA6-9CB8-6C35-3438DC8565C7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5E67BE-3402-A522-3142-28781D57C6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4EF84A-3178-86DE-9694-FF05821FE046}"/>
              </a:ext>
            </a:extLst>
          </p:cNvPr>
          <p:cNvSpPr txBox="1"/>
          <p:nvPr/>
        </p:nvSpPr>
        <p:spPr>
          <a:xfrm>
            <a:off x="0" y="671852"/>
            <a:ext cx="1206418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Mode) Individual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Weight) 30%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Submission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Notebook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500–600 word rationale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Viva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Coding? Yes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Students must build a reproducible preprocessing notebook.</a:t>
            </a:r>
          </a:p>
        </p:txBody>
      </p:sp>
    </p:spTree>
    <p:extLst>
      <p:ext uri="{BB962C8B-B14F-4D97-AF65-F5344CB8AC3E}">
        <p14:creationId xmlns:p14="http://schemas.microsoft.com/office/powerpoint/2010/main" val="2827565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5D523-A576-3035-A8B3-5A5D1E003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CF340F-707A-16F8-06F3-EC9FBB99FB07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06503A-AAEC-E234-5AB2-F8266F7508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A8315E-7E3D-F6E9-37FC-4E152CE59990}"/>
              </a:ext>
            </a:extLst>
          </p:cNvPr>
          <p:cNvSpPr txBox="1"/>
          <p:nvPr/>
        </p:nvSpPr>
        <p:spPr>
          <a:xfrm>
            <a:off x="0" y="671852"/>
            <a:ext cx="1206418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Report? Yes, but short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concise 500–600 word rationale, not a full research report.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Viva?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3–5 minutes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2–3 questions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worth 40% of A1</a:t>
            </a:r>
          </a:p>
        </p:txBody>
      </p:sp>
    </p:spTree>
    <p:extLst>
      <p:ext uri="{BB962C8B-B14F-4D97-AF65-F5344CB8AC3E}">
        <p14:creationId xmlns:p14="http://schemas.microsoft.com/office/powerpoint/2010/main" val="3495223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4AF3D-1E06-D66D-0A92-2269B7A9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052900A-0C70-FBC5-311C-161A363527D4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88600C-ECE1-01A8-F14A-E463C36AA3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F19660-3FE7-A0D3-CB62-F3A343751F13}"/>
              </a:ext>
            </a:extLst>
          </p:cNvPr>
          <p:cNvSpPr txBox="1"/>
          <p:nvPr/>
        </p:nvSpPr>
        <p:spPr>
          <a:xfrm>
            <a:off x="0" y="671851"/>
            <a:ext cx="1206418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Assessment 1 — What You Need To Do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1 — Choose a small corpus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Use LMS or approved external text.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If external: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cite the source,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note </a:t>
            </a:r>
            <a:r>
              <a:rPr lang="en-US" sz="2400" dirty="0" err="1">
                <a:latin typeface="Calibir"/>
              </a:rPr>
              <a:t>licence</a:t>
            </a:r>
            <a:r>
              <a:rPr lang="en-US" sz="2400" dirty="0">
                <a:latin typeface="Calibir"/>
              </a:rPr>
              <a:t>/attribution. </a:t>
            </a:r>
          </a:p>
        </p:txBody>
      </p:sp>
    </p:spTree>
    <p:extLst>
      <p:ext uri="{BB962C8B-B14F-4D97-AF65-F5344CB8AC3E}">
        <p14:creationId xmlns:p14="http://schemas.microsoft.com/office/powerpoint/2010/main" val="85547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8534-4890-037B-7D5B-BDA1BB90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1FCB723-093B-23DD-A903-70342DC52B0E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CD2EB9-B167-16F8-5C26-E4281666AF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40ABC5-F338-5110-0DEA-76EF74626ACB}"/>
              </a:ext>
            </a:extLst>
          </p:cNvPr>
          <p:cNvSpPr txBox="1"/>
          <p:nvPr/>
        </p:nvSpPr>
        <p:spPr>
          <a:xfrm>
            <a:off x="0" y="671851"/>
            <a:ext cx="1206418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2 — Build a reproducible pipeline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Use functions such as: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clean()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tokenise</a:t>
            </a:r>
            <a:r>
              <a:rPr lang="en-US" sz="24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Calibir"/>
              </a:rPr>
              <a:t>normalise</a:t>
            </a:r>
            <a:r>
              <a:rPr lang="en-US" sz="2400" dirty="0">
                <a:latin typeface="Calibir"/>
              </a:rPr>
              <a:t>()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Run the pipeline end-to-end.</a:t>
            </a:r>
          </a:p>
        </p:txBody>
      </p:sp>
    </p:spTree>
    <p:extLst>
      <p:ext uri="{BB962C8B-B14F-4D97-AF65-F5344CB8AC3E}">
        <p14:creationId xmlns:p14="http://schemas.microsoft.com/office/powerpoint/2010/main" val="2336008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D2F6A-45CA-A95D-DECB-81106F29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BAEF9B-6000-106B-F096-7E119B7A22B6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80A607-F678-47B1-E7AF-C4F997EFB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13099E-EC5D-967F-D65F-BE2D067E551B}"/>
              </a:ext>
            </a:extLst>
          </p:cNvPr>
          <p:cNvSpPr txBox="1"/>
          <p:nvPr/>
        </p:nvSpPr>
        <p:spPr>
          <a:xfrm>
            <a:off x="0" y="671851"/>
            <a:ext cx="1206418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3 — </a:t>
            </a:r>
            <a:r>
              <a:rPr lang="en-US" sz="2400" b="1" dirty="0" err="1">
                <a:latin typeface="Calibir"/>
              </a:rPr>
              <a:t>Tokenisation</a:t>
            </a:r>
            <a:endParaRPr lang="en-US" sz="2400" b="1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Choose a tokenizer.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Show at least one edge case such as: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URL,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emoji,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contraction,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hyphenation. 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4 — </a:t>
            </a:r>
            <a:r>
              <a:rPr lang="en-US" sz="2400" b="1" dirty="0" err="1">
                <a:latin typeface="Calibir"/>
              </a:rPr>
              <a:t>Normalisation</a:t>
            </a:r>
            <a:endParaRPr lang="en-US" sz="2400" b="1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Choose: </a:t>
            </a:r>
            <a:r>
              <a:rPr lang="en-US" sz="2400" dirty="0" err="1">
                <a:latin typeface="Calibir"/>
              </a:rPr>
              <a:t>lemmatisation</a:t>
            </a:r>
            <a:r>
              <a:rPr lang="en-US" sz="2400" dirty="0">
                <a:latin typeface="Calibir"/>
              </a:rPr>
              <a:t> OR stemming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Do not use both as the final policy.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Show two example words.</a:t>
            </a:r>
          </a:p>
        </p:txBody>
      </p:sp>
    </p:spTree>
    <p:extLst>
      <p:ext uri="{BB962C8B-B14F-4D97-AF65-F5344CB8AC3E}">
        <p14:creationId xmlns:p14="http://schemas.microsoft.com/office/powerpoint/2010/main" val="58004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7DE9-28B0-772A-A8B7-4BFB25544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36FB0F8-22D2-1280-FFB1-B176ED386537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A17993-C242-C368-E735-F490F7DF2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CC5341-0704-4169-CD91-93B881CE2CAD}"/>
              </a:ext>
            </a:extLst>
          </p:cNvPr>
          <p:cNvSpPr txBox="1"/>
          <p:nvPr/>
        </p:nvSpPr>
        <p:spPr>
          <a:xfrm>
            <a:off x="0" y="671851"/>
            <a:ext cx="1206418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5 — Vocabulary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Report: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vocabulary size,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top tokens,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ir"/>
              </a:rPr>
              <a:t>stopword</a:t>
            </a:r>
            <a:r>
              <a:rPr lang="en-US" sz="2400" dirty="0">
                <a:latin typeface="Calibir"/>
              </a:rPr>
              <a:t> policy,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rare-token policy. 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6 — Show examples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Include 3–5 before/after examples.</a:t>
            </a:r>
          </a:p>
        </p:txBody>
      </p:sp>
    </p:spTree>
    <p:extLst>
      <p:ext uri="{BB962C8B-B14F-4D97-AF65-F5344CB8AC3E}">
        <p14:creationId xmlns:p14="http://schemas.microsoft.com/office/powerpoint/2010/main" val="3885155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B2EA-C3EE-333A-359C-62879E71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174E802-1290-E80C-D938-5CC56AED134F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BDB383-3CFB-DF53-4FF1-D9AE369653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B2F4F2-9ACD-80E5-2E51-02137888AFCC}"/>
              </a:ext>
            </a:extLst>
          </p:cNvPr>
          <p:cNvSpPr txBox="1"/>
          <p:nvPr/>
        </p:nvSpPr>
        <p:spPr>
          <a:xfrm>
            <a:off x="0" y="671851"/>
            <a:ext cx="1206418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7 — Rationale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Explain: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what you chose,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why,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what alternatives existed,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how choices could affect later models. </a:t>
            </a:r>
          </a:p>
        </p:txBody>
      </p:sp>
    </p:spTree>
    <p:extLst>
      <p:ext uri="{BB962C8B-B14F-4D97-AF65-F5344CB8AC3E}">
        <p14:creationId xmlns:p14="http://schemas.microsoft.com/office/powerpoint/2010/main" val="16965079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1E69-C53F-7ADF-880A-608A8804A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5E709A8-3623-974B-6C3F-B029FC2E31EE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1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B39DA0-D9E7-48C8-5AC7-4FBF8849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FA5627-EDF8-8719-9D06-D365B5D4FCCC}"/>
              </a:ext>
            </a:extLst>
          </p:cNvPr>
          <p:cNvSpPr txBox="1"/>
          <p:nvPr/>
        </p:nvSpPr>
        <p:spPr>
          <a:xfrm>
            <a:off x="0" y="671851"/>
            <a:ext cx="1206418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Step 8 — Viva preparation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Prepare examples for: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ir"/>
              </a:rPr>
              <a:t>tokenisation</a:t>
            </a:r>
            <a:r>
              <a:rPr lang="en-US" sz="2400" dirty="0">
                <a:latin typeface="Calibir"/>
              </a:rPr>
              <a:t>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stemming vs </a:t>
            </a:r>
            <a:r>
              <a:rPr lang="en-US" sz="2400" dirty="0" err="1">
                <a:latin typeface="Calibir"/>
              </a:rPr>
              <a:t>lemmatisation</a:t>
            </a:r>
            <a:r>
              <a:rPr lang="en-US" sz="2400" dirty="0">
                <a:latin typeface="Calibir"/>
              </a:rPr>
              <a:t>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vocabulary,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ambiguity,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3816915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25F0-427B-D926-D70E-49F32AC9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36E2F5D-80EC-5F1F-ACE2-E7D4EB67001B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2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7173F6-F8A9-D1ED-3CF9-FD6D3B4270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61AE1F-70C7-77B2-4147-DEB8F6CF7813}"/>
              </a:ext>
            </a:extLst>
          </p:cNvPr>
          <p:cNvSpPr txBox="1"/>
          <p:nvPr/>
        </p:nvSpPr>
        <p:spPr>
          <a:xfrm>
            <a:off x="0" y="671852"/>
            <a:ext cx="1206418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Mode) Individual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Weight) 30%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Submission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notebook or .</a:t>
            </a:r>
            <a:r>
              <a:rPr lang="en-US" sz="2800" dirty="0" err="1">
                <a:latin typeface="Calibir"/>
              </a:rPr>
              <a:t>py</a:t>
            </a:r>
            <a:r>
              <a:rPr lang="en-US" sz="2800" dirty="0">
                <a:latin typeface="Calibir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PDF report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mini-viva </a:t>
            </a:r>
          </a:p>
        </p:txBody>
      </p:sp>
    </p:spTree>
    <p:extLst>
      <p:ext uri="{BB962C8B-B14F-4D97-AF65-F5344CB8AC3E}">
        <p14:creationId xmlns:p14="http://schemas.microsoft.com/office/powerpoint/2010/main" val="178788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7F89-830D-2AFE-70D5-95E569F25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F2B430-9B0A-FB1B-447C-2967868D077B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2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5FEAC5-497D-172A-80EF-1A64C93082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A529A5-F23B-F45E-00D7-AF021ED3621A}"/>
              </a:ext>
            </a:extLst>
          </p:cNvPr>
          <p:cNvSpPr txBox="1"/>
          <p:nvPr/>
        </p:nvSpPr>
        <p:spPr>
          <a:xfrm>
            <a:off x="0" y="671852"/>
            <a:ext cx="1206418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Coding?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Substantial coding is required.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Report?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750–1000 words, ±10%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Viva?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 8-minute reflective mini-viva</a:t>
            </a:r>
          </a:p>
        </p:txBody>
      </p:sp>
    </p:spTree>
    <p:extLst>
      <p:ext uri="{BB962C8B-B14F-4D97-AF65-F5344CB8AC3E}">
        <p14:creationId xmlns:p14="http://schemas.microsoft.com/office/powerpoint/2010/main" val="2433886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659C5-D3FA-C2A1-468C-5ECD7158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585130B-84C8-5900-4042-0D38D0AB29CC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2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3CC29A-0672-21E3-DF26-CD291CDEA0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04AE22-7FEE-BE24-7098-D5FADBCC43DB}"/>
              </a:ext>
            </a:extLst>
          </p:cNvPr>
          <p:cNvSpPr txBox="1"/>
          <p:nvPr/>
        </p:nvSpPr>
        <p:spPr>
          <a:xfrm>
            <a:off x="0" y="671851"/>
            <a:ext cx="1206418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Assessment 2 — Main Structure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Section A — Compulsory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A1. Data &amp; Preprocessing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Explain: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dataset,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source,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size,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classes,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ir"/>
              </a:rPr>
              <a:t>tokenisation</a:t>
            </a:r>
            <a:r>
              <a:rPr lang="en-US" sz="2400" dirty="0">
                <a:latin typeface="Calibir"/>
              </a:rPr>
              <a:t>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cleaning,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ir"/>
              </a:rPr>
              <a:t>stopword</a:t>
            </a:r>
            <a:r>
              <a:rPr lang="en-US" sz="2400" dirty="0">
                <a:latin typeface="Calibir"/>
              </a:rPr>
              <a:t>/symbol decisions. </a:t>
            </a:r>
          </a:p>
        </p:txBody>
      </p:sp>
    </p:spTree>
    <p:extLst>
      <p:ext uri="{BB962C8B-B14F-4D97-AF65-F5344CB8AC3E}">
        <p14:creationId xmlns:p14="http://schemas.microsoft.com/office/powerpoint/2010/main" val="937676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3517A-6099-C837-4141-7D1B57FEB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103A9E7-8250-DD9B-2FFC-E53301CB1CCA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2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7EEF5-7117-784C-656F-03482278AB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64CD8A-8CF6-A732-4223-1B3D34555631}"/>
              </a:ext>
            </a:extLst>
          </p:cNvPr>
          <p:cNvSpPr txBox="1"/>
          <p:nvPr/>
        </p:nvSpPr>
        <p:spPr>
          <a:xfrm>
            <a:off x="0" y="811162"/>
            <a:ext cx="1206418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A2. Intrinsic Embedding Evaluation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Train one model: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Word2Vec CBOW</a:t>
            </a:r>
            <a:br>
              <a:rPr lang="en-US" sz="2400" dirty="0">
                <a:latin typeface="Calibir"/>
              </a:rPr>
            </a:br>
            <a:r>
              <a:rPr lang="en-US" sz="2400" dirty="0">
                <a:latin typeface="Calibir"/>
              </a:rPr>
              <a:t>or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Word2Vec Skip-gram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Then provide: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5 nearest-</a:t>
            </a:r>
            <a:r>
              <a:rPr lang="en-US" sz="2400" dirty="0" err="1">
                <a:latin typeface="Calibir"/>
              </a:rPr>
              <a:t>neighbour</a:t>
            </a:r>
            <a:r>
              <a:rPr lang="en-US" sz="2400" dirty="0">
                <a:latin typeface="Calibir"/>
              </a:rPr>
              <a:t> lists,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3 analogy examples,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1 PCA/t-SNE plot.</a:t>
            </a:r>
          </a:p>
        </p:txBody>
      </p:sp>
    </p:spTree>
    <p:extLst>
      <p:ext uri="{BB962C8B-B14F-4D97-AF65-F5344CB8AC3E}">
        <p14:creationId xmlns:p14="http://schemas.microsoft.com/office/powerpoint/2010/main" val="1440134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87AC-870C-73B8-A34C-4E523640F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30AEB7D-8B58-997D-C819-38FF2A1E1130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2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3E248C-1701-D47E-F665-E38CDE1C6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C61CBD-566D-DFCF-43F7-EE31A3C52789}"/>
              </a:ext>
            </a:extLst>
          </p:cNvPr>
          <p:cNvSpPr txBox="1"/>
          <p:nvPr/>
        </p:nvSpPr>
        <p:spPr>
          <a:xfrm>
            <a:off x="0" y="671851"/>
            <a:ext cx="12064180" cy="6323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Section B — Choose ONE Option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Option 1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Word2Vec vs </a:t>
            </a:r>
            <a:r>
              <a:rPr lang="en-US" sz="2400" b="1" dirty="0" err="1">
                <a:latin typeface="Calibir"/>
              </a:rPr>
              <a:t>FastText</a:t>
            </a:r>
            <a:endParaRPr lang="en-US" sz="2400" b="1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Use: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same corpus,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same split,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same comparison conditions. 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Compare: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accuracy,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macro-F1,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training time,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model size. 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Use LR/SVM with document vectors.</a:t>
            </a:r>
          </a:p>
        </p:txBody>
      </p:sp>
    </p:spTree>
    <p:extLst>
      <p:ext uri="{BB962C8B-B14F-4D97-AF65-F5344CB8AC3E}">
        <p14:creationId xmlns:p14="http://schemas.microsoft.com/office/powerpoint/2010/main" val="842582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B768E-8D96-94EF-06BD-C07F40C8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B34C66-645C-B063-BBE0-EF448B6D1B46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2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3954D9-521D-3699-072E-1B456BD6A3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22C52F-9573-9416-7E0A-DAC74126D53A}"/>
              </a:ext>
            </a:extLst>
          </p:cNvPr>
          <p:cNvSpPr txBox="1"/>
          <p:nvPr/>
        </p:nvSpPr>
        <p:spPr>
          <a:xfrm>
            <a:off x="0" y="929149"/>
            <a:ext cx="1206418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Option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TF-IDF + LR vs Word2Vec-average + LR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Use the </a:t>
            </a:r>
            <a:r>
              <a:rPr lang="en-US" sz="2800" b="1" dirty="0">
                <a:latin typeface="Calibir"/>
              </a:rPr>
              <a:t>same split</a:t>
            </a:r>
            <a:r>
              <a:rPr lang="en-US" sz="2800" dirty="0">
                <a:latin typeface="Calibir"/>
              </a:rPr>
              <a:t> for both.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Compare: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accuracy,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macro-F1,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runtime,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feature dimensionality.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option connects directly to Week 3.</a:t>
            </a:r>
          </a:p>
        </p:txBody>
      </p:sp>
    </p:spTree>
    <p:extLst>
      <p:ext uri="{BB962C8B-B14F-4D97-AF65-F5344CB8AC3E}">
        <p14:creationId xmlns:p14="http://schemas.microsoft.com/office/powerpoint/2010/main" val="2973219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B8AEB-AA67-0060-71FE-EC39DFE9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CAEB598-4D6E-4299-ADE8-9712DF9C7988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2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786409-FE67-9012-7B18-24F34A5E7F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799A8-3728-5796-D7E7-20255624FDAB}"/>
              </a:ext>
            </a:extLst>
          </p:cNvPr>
          <p:cNvSpPr txBox="1"/>
          <p:nvPr/>
        </p:nvSpPr>
        <p:spPr>
          <a:xfrm>
            <a:off x="0" y="1445342"/>
            <a:ext cx="1206418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Section C — Reflection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Write 150–200 words on: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Why one model performed better.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One failure case.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One practical mitigation.</a:t>
            </a:r>
          </a:p>
        </p:txBody>
      </p:sp>
    </p:spTree>
    <p:extLst>
      <p:ext uri="{BB962C8B-B14F-4D97-AF65-F5344CB8AC3E}">
        <p14:creationId xmlns:p14="http://schemas.microsoft.com/office/powerpoint/2010/main" val="936111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4A1BF-90A2-CDC7-E735-6D861151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511D62C-BCCC-B530-FA0E-57DE6A465EE2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Assessment 2 Clarification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478393-8D61-E87D-BA9B-EB021D527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5C238B-12C1-379E-2616-229367C73A4D}"/>
              </a:ext>
            </a:extLst>
          </p:cNvPr>
          <p:cNvSpPr txBox="1"/>
          <p:nvPr/>
        </p:nvSpPr>
        <p:spPr>
          <a:xfrm>
            <a:off x="63910" y="823774"/>
            <a:ext cx="1206418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Assessment 2 — Mini-Viva Expectations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 should be able to explain: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they kept the comparison fair,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why one model performed differently,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failure case,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they would improve it,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why macro-F1 was reported,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one fairness or dataset limitation.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They should refer to their own table or figure, not give generic textbook answers.</a:t>
            </a:r>
          </a:p>
        </p:txBody>
      </p:sp>
    </p:spTree>
    <p:extLst>
      <p:ext uri="{BB962C8B-B14F-4D97-AF65-F5344CB8AC3E}">
        <p14:creationId xmlns:p14="http://schemas.microsoft.com/office/powerpoint/2010/main" val="3053493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0E17D-6167-0E99-83E7-7BB92AF3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425688-3DC5-5C02-1F5F-AC20BCC334C9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Week 3 Is Important Bridge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6B4778-E60D-89DE-9181-AE2F98BD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0231B6-557E-A90E-8AB8-4B7785CBE31D}"/>
              </a:ext>
            </a:extLst>
          </p:cNvPr>
          <p:cNvSpPr txBox="1"/>
          <p:nvPr/>
        </p:nvSpPr>
        <p:spPr>
          <a:xfrm>
            <a:off x="0" y="1145757"/>
            <a:ext cx="1206418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Week 3 is an important bridge between Assessment 1 and Assessment 2.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Assessment 1: Can you prepare text correctly and explain your preprocessing choices?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Week 3: Can you turn text into numerical features, train a simple classifier and evaluate its performance?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Assessment 2: Can you compare richer text representations fairly, evaluate them using evidence, and explain why one approach performs differently from another?</a:t>
            </a:r>
          </a:p>
        </p:txBody>
      </p:sp>
    </p:spTree>
    <p:extLst>
      <p:ext uri="{BB962C8B-B14F-4D97-AF65-F5344CB8AC3E}">
        <p14:creationId xmlns:p14="http://schemas.microsoft.com/office/powerpoint/2010/main" val="4251863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34575-1308-A8FD-EE94-6BEA79EFA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55E5A6D-C375-454F-DE78-120CD7A459E7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Quick Week 2 Recall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85552D-948B-7250-3958-1A51B2E8D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F8C7DD-5A77-4A1C-CE8D-B3BA622D9FD8}"/>
              </a:ext>
            </a:extLst>
          </p:cNvPr>
          <p:cNvSpPr txBox="1"/>
          <p:nvPr/>
        </p:nvSpPr>
        <p:spPr>
          <a:xfrm>
            <a:off x="0" y="671851"/>
            <a:ext cx="1206562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What did we do last week?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We: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cleaned text,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ir"/>
              </a:rPr>
              <a:t>tokenised</a:t>
            </a:r>
            <a:r>
              <a:rPr lang="en-US" sz="2400" dirty="0">
                <a:latin typeface="Calibir"/>
              </a:rPr>
              <a:t> it,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considered </a:t>
            </a:r>
            <a:r>
              <a:rPr lang="en-US" sz="2400" dirty="0" err="1">
                <a:latin typeface="Calibir"/>
              </a:rPr>
              <a:t>stopwords</a:t>
            </a:r>
            <a:r>
              <a:rPr lang="en-US" sz="2400" dirty="0">
                <a:latin typeface="Calibir"/>
              </a:rPr>
              <a:t>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chose stemming or </a:t>
            </a:r>
            <a:r>
              <a:rPr lang="en-US" sz="2400" dirty="0" err="1">
                <a:latin typeface="Calibir"/>
              </a:rPr>
              <a:t>lemmatisation</a:t>
            </a:r>
            <a:r>
              <a:rPr lang="en-US" sz="2400" dirty="0">
                <a:latin typeface="Calibir"/>
              </a:rPr>
              <a:t>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inspected vocabulary,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explored n-grams.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Week 2 explicitly introduced vocabulary, rare tokens and n-grams as preparation for Week 3 feature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99170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E8EC9-0CDF-370A-F62E-579B07B7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CE8AE0-BEE4-62B9-F156-ED38C910851B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Warm-Up Activity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1E6F41-FF2F-DA76-7FC3-08921A4BA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3E792E-A826-5D7D-38D2-4AFA3CDB7389}"/>
              </a:ext>
            </a:extLst>
          </p:cNvPr>
          <p:cNvSpPr txBox="1"/>
          <p:nvPr/>
        </p:nvSpPr>
        <p:spPr>
          <a:xfrm>
            <a:off x="0" y="671851"/>
            <a:ext cx="1206562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Can a machine-learning model directly calculate with these words?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Not directly.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Most classical machine-learning models expect numbers.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 we need to transform: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Words → Numbers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process is called: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Vectorisation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27729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2DE0C-189C-D191-2C26-06BFEF758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1BD1246-C0DE-E9F2-EE05-E4D63EC22239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Concept 1 — What Is 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Vectorisation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9E8C4D-5468-3F1A-DC8D-147319552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A6569A-48EC-453F-B087-E63145B965C1}"/>
              </a:ext>
            </a:extLst>
          </p:cNvPr>
          <p:cNvSpPr txBox="1"/>
          <p:nvPr/>
        </p:nvSpPr>
        <p:spPr>
          <a:xfrm>
            <a:off x="0" y="814039"/>
            <a:ext cx="1206562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Simple meaning: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Vectorisation</a:t>
            </a:r>
            <a:r>
              <a:rPr lang="en-US" sz="2800" dirty="0">
                <a:latin typeface="Calibir"/>
              </a:rPr>
              <a:t> converts text into numerical features.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"great battery"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could become something like: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[1, 1, 0, 0]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depending on the vocabulary.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numbers tell the model which words or features are present.</a:t>
            </a:r>
          </a:p>
        </p:txBody>
      </p:sp>
    </p:spTree>
    <p:extLst>
      <p:ext uri="{BB962C8B-B14F-4D97-AF65-F5344CB8AC3E}">
        <p14:creationId xmlns:p14="http://schemas.microsoft.com/office/powerpoint/2010/main" val="12395590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0BB91-31FC-400C-44FB-F246B443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44E0A1E-C0E2-879A-77B7-99EC99948AFA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Discussion — Why Numbers?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10303B-F8B6-858E-A0D0-A47443D41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E24C91-EB9B-3CC8-3B5C-479439725263}"/>
              </a:ext>
            </a:extLst>
          </p:cNvPr>
          <p:cNvSpPr txBox="1"/>
          <p:nvPr/>
        </p:nvSpPr>
        <p:spPr>
          <a:xfrm>
            <a:off x="0" y="1817650"/>
            <a:ext cx="1206562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Why not simply give Logistic Regression the sentence: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"The phone is excellent"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Because classical models calculate using numerical inputs.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first need to represent the sentence as numbers.</a:t>
            </a:r>
          </a:p>
        </p:txBody>
      </p:sp>
    </p:spTree>
    <p:extLst>
      <p:ext uri="{BB962C8B-B14F-4D97-AF65-F5344CB8AC3E}">
        <p14:creationId xmlns:p14="http://schemas.microsoft.com/office/powerpoint/2010/main" val="182438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E8B7B-9141-00C5-BC78-A476C8FCA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051C13C-43DD-C8A1-32E4-F7051378FFEC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Simple Vocabulary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87DD95-B7C4-07A0-44D4-A8E37C523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C48961-C92D-EDB3-592F-C1C141A5B978}"/>
              </a:ext>
            </a:extLst>
          </p:cNvPr>
          <p:cNvSpPr txBox="1"/>
          <p:nvPr/>
        </p:nvSpPr>
        <p:spPr>
          <a:xfrm>
            <a:off x="0" y="779926"/>
            <a:ext cx="12065620" cy="607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Suppose our entire corpus is: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great battery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poor battery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great camera</a:t>
            </a:r>
          </a:p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Calibir"/>
              </a:rPr>
              <a:t>Vocabulary: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battery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camera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great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poor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We now have four possible features.</a:t>
            </a:r>
          </a:p>
        </p:txBody>
      </p:sp>
    </p:spTree>
    <p:extLst>
      <p:ext uri="{BB962C8B-B14F-4D97-AF65-F5344CB8AC3E}">
        <p14:creationId xmlns:p14="http://schemas.microsoft.com/office/powerpoint/2010/main" val="40684717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B8129-4CD9-9648-631D-16FF68A6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1BB6EE4-9BF5-6348-D418-498EEE180014}"/>
              </a:ext>
            </a:extLst>
          </p:cNvPr>
          <p:cNvSpPr txBox="1"/>
          <p:nvPr/>
        </p:nvSpPr>
        <p:spPr>
          <a:xfrm>
            <a:off x="0" y="0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Turn One Sentence into a Vector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9F7C5B-F756-CBCA-1ED1-0EB3A952A8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338D07-DABA-35A8-83CD-7D278CC00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931271"/>
              </p:ext>
            </p:extLst>
          </p:nvPr>
        </p:nvGraphicFramePr>
        <p:xfrm>
          <a:off x="3354178" y="671851"/>
          <a:ext cx="5480106" cy="2590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6906">
                  <a:extLst>
                    <a:ext uri="{9D8B030D-6E8A-4147-A177-3AD203B41FA5}">
                      <a16:colId xmlns:a16="http://schemas.microsoft.com/office/drawing/2014/main" val="332148636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163023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Feature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Position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05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battery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851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camera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097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great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007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poor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4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2415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72EDF22-CCB6-DC04-7E24-2BC5C91DC2EA}"/>
              </a:ext>
            </a:extLst>
          </p:cNvPr>
          <p:cNvSpPr txBox="1"/>
          <p:nvPr/>
        </p:nvSpPr>
        <p:spPr>
          <a:xfrm>
            <a:off x="111513" y="685165"/>
            <a:ext cx="6155472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Vocabulary: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673E4-7357-C31E-765D-E202E40C6A04}"/>
              </a:ext>
            </a:extLst>
          </p:cNvPr>
          <p:cNvSpPr txBox="1"/>
          <p:nvPr/>
        </p:nvSpPr>
        <p:spPr>
          <a:xfrm>
            <a:off x="111513" y="3128483"/>
            <a:ext cx="11552664" cy="3753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Sentence: </a:t>
            </a:r>
            <a:r>
              <a:rPr lang="en-US" sz="2300" dirty="0">
                <a:highlight>
                  <a:srgbClr val="FFFF00"/>
                </a:highlight>
                <a:latin typeface="Calibir"/>
              </a:rPr>
              <a:t>great battery</a:t>
            </a:r>
          </a:p>
          <a:p>
            <a:pPr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Vector: </a:t>
            </a:r>
            <a:r>
              <a:rPr lang="en-US" sz="2300" dirty="0">
                <a:highlight>
                  <a:srgbClr val="FFFF00"/>
                </a:highlight>
                <a:latin typeface="Calibir"/>
              </a:rPr>
              <a:t>[1, 0, 1, 0]</a:t>
            </a:r>
          </a:p>
          <a:p>
            <a:pPr>
              <a:lnSpc>
                <a:spcPct val="150000"/>
              </a:lnSpc>
              <a:buNone/>
            </a:pPr>
            <a:r>
              <a:rPr lang="en-US" sz="2300" dirty="0">
                <a:latin typeface="Calibir"/>
              </a:rPr>
              <a:t>Meaning: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battery = 1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camera = 0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great = 1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latin typeface="Calibir"/>
              </a:rPr>
              <a:t>poor = 0</a:t>
            </a:r>
          </a:p>
        </p:txBody>
      </p:sp>
    </p:spTree>
    <p:extLst>
      <p:ext uri="{BB962C8B-B14F-4D97-AF65-F5344CB8AC3E}">
        <p14:creationId xmlns:p14="http://schemas.microsoft.com/office/powerpoint/2010/main" val="779412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1C14B-5DE0-A03F-4B38-CE08CC22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C9CB14B-E816-3096-DF92-493CCBE25FE4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Discussion Question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366E12-5735-29E2-0267-0D37D185EB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195E66-0920-BF56-C957-C51E40657E10}"/>
              </a:ext>
            </a:extLst>
          </p:cNvPr>
          <p:cNvSpPr txBox="1"/>
          <p:nvPr/>
        </p:nvSpPr>
        <p:spPr>
          <a:xfrm>
            <a:off x="0" y="713273"/>
            <a:ext cx="1204943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 would: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poor battery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become?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[1, 0, 0, 1]</a:t>
            </a:r>
          </a:p>
        </p:txBody>
      </p:sp>
    </p:spTree>
    <p:extLst>
      <p:ext uri="{BB962C8B-B14F-4D97-AF65-F5344CB8AC3E}">
        <p14:creationId xmlns:p14="http://schemas.microsoft.com/office/powerpoint/2010/main" val="137937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D20AA-5E0C-9C76-B28C-32D6601A4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4116850-411C-7F5B-3CF7-1348DFADC905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Discussion Question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D22735-412A-929C-0076-32602156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098230-D052-8884-84DD-E74FE1A09136}"/>
              </a:ext>
            </a:extLst>
          </p:cNvPr>
          <p:cNvSpPr txBox="1"/>
          <p:nvPr/>
        </p:nvSpPr>
        <p:spPr>
          <a:xfrm>
            <a:off x="0" y="713273"/>
            <a:ext cx="1204943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 information have we lost?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Simple Bag of Words normally loses: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word order,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grammar,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deeper meaning.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That limitation is important.</a:t>
            </a:r>
          </a:p>
        </p:txBody>
      </p:sp>
    </p:spTree>
    <p:extLst>
      <p:ext uri="{BB962C8B-B14F-4D97-AF65-F5344CB8AC3E}">
        <p14:creationId xmlns:p14="http://schemas.microsoft.com/office/powerpoint/2010/main" val="112523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3598-1927-35F8-C885-117A3AA41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226E647-B529-9DB1-B69C-90F3D9FDDB89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Concept 2 — Bag of Words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0A20B8-CCFA-2B87-83E1-E910DAB511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9D12FF-5003-35CB-BA10-F33CB6E3A2ED}"/>
              </a:ext>
            </a:extLst>
          </p:cNvPr>
          <p:cNvSpPr txBox="1"/>
          <p:nvPr/>
        </p:nvSpPr>
        <p:spPr>
          <a:xfrm>
            <a:off x="0" y="958645"/>
            <a:ext cx="1204943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Bag of Words asks: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words occur, and how many times?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It usually does not care about word order.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"good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good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battery"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may become: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good = 2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battery = 1</a:t>
            </a:r>
          </a:p>
        </p:txBody>
      </p:sp>
    </p:spTree>
    <p:extLst>
      <p:ext uri="{BB962C8B-B14F-4D97-AF65-F5344CB8AC3E}">
        <p14:creationId xmlns:p14="http://schemas.microsoft.com/office/powerpoint/2010/main" val="25912538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F23AC-72CB-B77C-745D-062F4C69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72EEB7-9591-9957-F159-8E4BAA995ED7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Why Is It Called a “Bag”?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FDB42E-FE99-15A6-C0C0-18E69661D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548BA7-3086-525E-3DF5-58A4065AA85F}"/>
              </a:ext>
            </a:extLst>
          </p:cNvPr>
          <p:cNvSpPr txBox="1"/>
          <p:nvPr/>
        </p:nvSpPr>
        <p:spPr>
          <a:xfrm>
            <a:off x="0" y="521549"/>
            <a:ext cx="12049432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Imagine putting the words into a bag.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Sentence: 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“The battery is really good”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Bag: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the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battery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is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really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good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count the contents.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generally ignore the original sentence structure.</a:t>
            </a:r>
          </a:p>
        </p:txBody>
      </p:sp>
    </p:spTree>
    <p:extLst>
      <p:ext uri="{BB962C8B-B14F-4D97-AF65-F5344CB8AC3E}">
        <p14:creationId xmlns:p14="http://schemas.microsoft.com/office/powerpoint/2010/main" val="7404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0CDFA-5CF1-1D32-E3AE-B78D2B8B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87EB54-EC5E-9B35-0A6A-69A8773E4111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Interactive Question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3F911B-9856-A214-C3F2-09C4538917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6FB7A0-1F98-6C2B-0184-9D490CD23E0F}"/>
              </a:ext>
            </a:extLst>
          </p:cNvPr>
          <p:cNvSpPr txBox="1"/>
          <p:nvPr/>
        </p:nvSpPr>
        <p:spPr>
          <a:xfrm>
            <a:off x="0" y="713272"/>
            <a:ext cx="1204943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Compare: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“dog bites man”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“man bites dog”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Could basic Bag of Words represent these similarly?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They contain the same words.</a:t>
            </a:r>
          </a:p>
        </p:txBody>
      </p:sp>
    </p:spTree>
    <p:extLst>
      <p:ext uri="{BB962C8B-B14F-4D97-AF65-F5344CB8AC3E}">
        <p14:creationId xmlns:p14="http://schemas.microsoft.com/office/powerpoint/2010/main" val="260349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8536-D088-F9D6-C71B-AF4341380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D1505AB-6B81-5A00-FCEB-62532C7B0FA0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Interactive Question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74B77B-54FE-E354-7244-F7B20C44D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F77304-184A-3A56-79BD-17A9932E4A10}"/>
              </a:ext>
            </a:extLst>
          </p:cNvPr>
          <p:cNvSpPr txBox="1"/>
          <p:nvPr/>
        </p:nvSpPr>
        <p:spPr>
          <a:xfrm>
            <a:off x="0" y="713272"/>
            <a:ext cx="1204943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Is their meaning the same?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shows one limitation of simple </a:t>
            </a:r>
            <a:r>
              <a:rPr lang="en-US" sz="2800" dirty="0" err="1">
                <a:latin typeface="Calibir"/>
              </a:rPr>
              <a:t>BoW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687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1E456-D2B8-2E5E-529E-6EB4D45B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1748D0-BBBF-973E-FC1D-18AD213190D1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Concept 3 — </a:t>
            </a:r>
            <a:r>
              <a:rPr lang="en-US" sz="3000" b="1" dirty="0" err="1">
                <a:latin typeface="Calibri" panose="020F0502020204030204" pitchFamily="34" charset="0"/>
                <a:cs typeface="Calibri" panose="020F0502020204030204" pitchFamily="34" charset="0"/>
              </a:rPr>
              <a:t>CountVectorizer</a:t>
            </a:r>
            <a:endParaRPr lang="en-US" sz="3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1EB1A5-8E66-6C56-5BE5-735A4D07D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BFC326-95D7-DFF1-17AB-395AC1D321F7}"/>
              </a:ext>
            </a:extLst>
          </p:cNvPr>
          <p:cNvSpPr txBox="1"/>
          <p:nvPr/>
        </p:nvSpPr>
        <p:spPr>
          <a:xfrm>
            <a:off x="0" y="1145758"/>
            <a:ext cx="1204943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 Python, scikit-learn provides: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from </a:t>
            </a:r>
            <a:r>
              <a:rPr lang="en-US" sz="2800" dirty="0" err="1">
                <a:latin typeface="Calibir"/>
              </a:rPr>
              <a:t>sklearn.feature_extraction.text</a:t>
            </a:r>
            <a:r>
              <a:rPr lang="en-US" sz="2800" dirty="0">
                <a:latin typeface="Calibir"/>
              </a:rPr>
              <a:t> import </a:t>
            </a:r>
            <a:r>
              <a:rPr lang="en-US" sz="2800" dirty="0" err="1">
                <a:latin typeface="Calibir"/>
              </a:rPr>
              <a:t>CountVectorizer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can: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identify vocabulary;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count terms;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create a numerical matrix. </a:t>
            </a:r>
          </a:p>
        </p:txBody>
      </p:sp>
    </p:spTree>
    <p:extLst>
      <p:ext uri="{BB962C8B-B14F-4D97-AF65-F5344CB8AC3E}">
        <p14:creationId xmlns:p14="http://schemas.microsoft.com/office/powerpoint/2010/main" val="815506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18358-17A0-5F45-6B49-1AF62D01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FADF0FE-EBE4-92A5-95BB-EFF1EA0D5215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First Week 3 Coding Activity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917044-AF9C-385C-0B3E-4C671F299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A61ECD-04E6-B175-B231-01C3FBD0EBBB}"/>
              </a:ext>
            </a:extLst>
          </p:cNvPr>
          <p:cNvSpPr txBox="1"/>
          <p:nvPr/>
        </p:nvSpPr>
        <p:spPr>
          <a:xfrm>
            <a:off x="0" y="870155"/>
            <a:ext cx="1204943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Use a very small dataset: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corpus = [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"great battery life",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"poor battery life",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"great camera",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    "poor camera quality"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604058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E971F-6152-6C19-5B79-985CB03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23B9B8-F9FE-6E55-64AD-372FE4A41EDA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First Week 3 Coding Activity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08E07D-D9C6-CD13-288D-DB2E232B31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106B9A-9C50-080D-C60E-544CDD81F28C}"/>
              </a:ext>
            </a:extLst>
          </p:cNvPr>
          <p:cNvSpPr txBox="1"/>
          <p:nvPr/>
        </p:nvSpPr>
        <p:spPr>
          <a:xfrm>
            <a:off x="71284" y="1477248"/>
            <a:ext cx="1204943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sklearn.feature_extraction.text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import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CountVectorizer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vectorizer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CountVectorizer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X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vectorizer.fit_transform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(corpus)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vectorizer.get_feature_names_out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X.toarray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5591187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929B-EC61-AF1F-3CFA-EB7591BB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E8C85F1-8ACA-B7E7-52E2-4AF70179ED65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Before Running the 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C94DB1-E4C5-23E7-FC98-B266DB3358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204974-61C4-AE80-E50E-81461D696158}"/>
              </a:ext>
            </a:extLst>
          </p:cNvPr>
          <p:cNvSpPr txBox="1"/>
          <p:nvPr/>
        </p:nvSpPr>
        <p:spPr>
          <a:xfrm>
            <a:off x="0" y="713273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vocabulary words do you expect?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Possible answer: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battery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camera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great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life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poor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quality</a:t>
            </a:r>
          </a:p>
        </p:txBody>
      </p:sp>
    </p:spTree>
    <p:extLst>
      <p:ext uri="{BB962C8B-B14F-4D97-AF65-F5344CB8AC3E}">
        <p14:creationId xmlns:p14="http://schemas.microsoft.com/office/powerpoint/2010/main" val="368315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81D21-07E8-B54C-FB04-3D98F6A7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E09636-5EF6-F77E-28DD-31B9758E6669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Before Running the 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AA5502-8A2A-FB7E-4BE0-CA2275892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931E87-6ABF-AF77-0F66-8FB95229BB3A}"/>
              </a:ext>
            </a:extLst>
          </p:cNvPr>
          <p:cNvSpPr txBox="1"/>
          <p:nvPr/>
        </p:nvSpPr>
        <p:spPr>
          <a:xfrm>
            <a:off x="0" y="713272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word will appear in more than one document?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Possible answers: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battery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camera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great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poor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life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Then run the code.</a:t>
            </a:r>
          </a:p>
        </p:txBody>
      </p:sp>
    </p:spTree>
    <p:extLst>
      <p:ext uri="{BB962C8B-B14F-4D97-AF65-F5344CB8AC3E}">
        <p14:creationId xmlns:p14="http://schemas.microsoft.com/office/powerpoint/2010/main" val="258061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22545-394A-4F14-147F-D0A8F9D2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3B7EEC3-3FBD-8B89-8246-4DE8579D4F3E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After Running the Code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3EA50C-74DC-B162-8DE0-A74F110885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10FFB1-9E4C-5234-DAAB-818F8EF2D093}"/>
              </a:ext>
            </a:extLst>
          </p:cNvPr>
          <p:cNvSpPr txBox="1"/>
          <p:nvPr/>
        </p:nvSpPr>
        <p:spPr>
          <a:xfrm>
            <a:off x="0" y="713273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1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 does each row mean?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One document.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 does each column mean?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One vocabulary feature.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3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 does the number 2 mean?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word appeared twice in that document.</a:t>
            </a:r>
          </a:p>
        </p:txBody>
      </p:sp>
    </p:spTree>
    <p:extLst>
      <p:ext uri="{BB962C8B-B14F-4D97-AF65-F5344CB8AC3E}">
        <p14:creationId xmlns:p14="http://schemas.microsoft.com/office/powerpoint/2010/main" val="115883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14B3-B6BB-9609-CB83-A7EBCE1B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663F366-C7EA-BF71-870A-C99D98E5DF9A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Concept 4 — The Document-Term Matrix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BF96AD-34F3-3A3B-86AB-E07BE72C74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422CB3-6C47-EC88-3E79-67F9972E1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934443"/>
              </p:ext>
            </p:extLst>
          </p:nvPr>
        </p:nvGraphicFramePr>
        <p:xfrm>
          <a:off x="838200" y="1823347"/>
          <a:ext cx="1051560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8651512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584996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610614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9403660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358746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Document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battery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camera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great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poor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596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Great battery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119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Poor battery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462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Great camera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5402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F5940BC-3DB1-A88D-ED6A-218357D733F1}"/>
              </a:ext>
            </a:extLst>
          </p:cNvPr>
          <p:cNvSpPr txBox="1"/>
          <p:nvPr/>
        </p:nvSpPr>
        <p:spPr>
          <a:xfrm>
            <a:off x="106924" y="1007436"/>
            <a:ext cx="11854017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simplified 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AEFBC-A4B6-8786-5E58-2E0683AC81CE}"/>
              </a:ext>
            </a:extLst>
          </p:cNvPr>
          <p:cNvSpPr txBox="1"/>
          <p:nvPr/>
        </p:nvSpPr>
        <p:spPr>
          <a:xfrm>
            <a:off x="106924" y="4893488"/>
            <a:ext cx="61722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is a document-term matrix.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Documents = rows.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Terms/features = columns.</a:t>
            </a:r>
          </a:p>
        </p:txBody>
      </p:sp>
    </p:spTree>
    <p:extLst>
      <p:ext uri="{BB962C8B-B14F-4D97-AF65-F5344CB8AC3E}">
        <p14:creationId xmlns:p14="http://schemas.microsoft.com/office/powerpoint/2010/main" val="23152700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1552-76B1-4F41-7A63-07951EE88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DA8A3FD-8BC7-9230-A22E-0272A5BC6B48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Industry Case Study — Australian Customer Reviews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C7DF09-B33D-9653-6468-1AEB4D0014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6D66D1-053F-96D3-61E8-E025A056CFD0}"/>
              </a:ext>
            </a:extLst>
          </p:cNvPr>
          <p:cNvSpPr txBox="1"/>
          <p:nvPr/>
        </p:nvSpPr>
        <p:spPr>
          <a:xfrm>
            <a:off x="0" y="713273"/>
            <a:ext cx="1204943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Imagine an Australian telecommunications company receives thousands of customer comments: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"Great mobile coverage"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"Poor customer support"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"Very expensive plan"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"Excellent network speed"</a:t>
            </a:r>
          </a:p>
        </p:txBody>
      </p:sp>
    </p:spTree>
    <p:extLst>
      <p:ext uri="{BB962C8B-B14F-4D97-AF65-F5344CB8AC3E}">
        <p14:creationId xmlns:p14="http://schemas.microsoft.com/office/powerpoint/2010/main" val="617743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AE68-B447-65F9-F7A0-BA1CA5BD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039EFF4-09E4-0479-8B1F-E59540764510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Industry Case Study — Australian Customer Reviews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B7A7E4-9962-6075-B238-B4327D5867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B1C1A-C7E2-8F42-840C-C78AE1A393D8}"/>
              </a:ext>
            </a:extLst>
          </p:cNvPr>
          <p:cNvSpPr txBox="1"/>
          <p:nvPr/>
        </p:nvSpPr>
        <p:spPr>
          <a:xfrm>
            <a:off x="0" y="713273"/>
            <a:ext cx="1204943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business wants to classify them as: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positive,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negative.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1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 must happen first?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Text must be cleaned and converted into numerical features.</a:t>
            </a:r>
          </a:p>
        </p:txBody>
      </p:sp>
    </p:spTree>
    <p:extLst>
      <p:ext uri="{BB962C8B-B14F-4D97-AF65-F5344CB8AC3E}">
        <p14:creationId xmlns:p14="http://schemas.microsoft.com/office/powerpoint/2010/main" val="72300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F981-3AEE-999B-D314-00F9CF85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C80693E-392E-8810-2031-F4A6FE8C825A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Industry Case Study — Australian Customer Reviews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A7510C-0FC9-AF89-8104-D1FD2E8622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1260D6-A1AA-F272-A919-CDECA1C50414}"/>
              </a:ext>
            </a:extLst>
          </p:cNvPr>
          <p:cNvSpPr txBox="1"/>
          <p:nvPr/>
        </p:nvSpPr>
        <p:spPr>
          <a:xfrm>
            <a:off x="0" y="899653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Could </a:t>
            </a:r>
            <a:r>
              <a:rPr lang="en-US" sz="2800" dirty="0" err="1">
                <a:latin typeface="Calibir"/>
              </a:rPr>
              <a:t>BoW</a:t>
            </a:r>
            <a:r>
              <a:rPr lang="en-US" sz="2800" dirty="0">
                <a:latin typeface="Calibir"/>
              </a:rPr>
              <a:t> help?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Words such as: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great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poor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excellent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expensive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may provide useful signals.</a:t>
            </a:r>
          </a:p>
        </p:txBody>
      </p:sp>
    </p:spTree>
    <p:extLst>
      <p:ext uri="{BB962C8B-B14F-4D97-AF65-F5344CB8AC3E}">
        <p14:creationId xmlns:p14="http://schemas.microsoft.com/office/powerpoint/2010/main" val="259016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60725-C506-F2A5-F62D-61ACD389F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5E590D2-00E4-1F57-F3F9-0864F70CE48E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But </a:t>
            </a:r>
            <a:r>
              <a:rPr lang="en-US" sz="3000" b="1" dirty="0" err="1">
                <a:latin typeface="Calibri" panose="020F0502020204030204" pitchFamily="34" charset="0"/>
                <a:cs typeface="Calibri" panose="020F0502020204030204" pitchFamily="34" charset="0"/>
              </a:rPr>
              <a:t>BoW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Has a Problem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92B2A0-0864-0CC8-4440-D12B000D1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C6E649-E797-5669-2172-9F352657117C}"/>
              </a:ext>
            </a:extLst>
          </p:cNvPr>
          <p:cNvSpPr txBox="1"/>
          <p:nvPr/>
        </p:nvSpPr>
        <p:spPr>
          <a:xfrm>
            <a:off x="0" y="1145757"/>
            <a:ext cx="12049432" cy="5196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Suppose every document contains: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service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customer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company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These words may occur frequently but may not be very useful for distinguishing categories.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motivates: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TF-IDF</a:t>
            </a:r>
          </a:p>
        </p:txBody>
      </p:sp>
    </p:spTree>
    <p:extLst>
      <p:ext uri="{BB962C8B-B14F-4D97-AF65-F5344CB8AC3E}">
        <p14:creationId xmlns:p14="http://schemas.microsoft.com/office/powerpoint/2010/main" val="38836364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6A78A-A636-2C26-17F2-80C3B7E1D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792232-8BB0-6E7F-D469-C48B085746DF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Concept 5 — TF-IDF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825CE1-B970-652F-7870-245C188504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A116FB-F18B-A8B3-9873-83F29F4B5209}"/>
              </a:ext>
            </a:extLst>
          </p:cNvPr>
          <p:cNvSpPr txBox="1"/>
          <p:nvPr/>
        </p:nvSpPr>
        <p:spPr>
          <a:xfrm>
            <a:off x="-1" y="855406"/>
            <a:ext cx="12074013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TF-IDF means: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Term Frequency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How often does this word appear in this document?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Inverse Document Frequency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How unusual or distinctive is this word across the full collection?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Simple idea: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word gets more importance if it is useful in one document but not common everywhere.</a:t>
            </a:r>
          </a:p>
        </p:txBody>
      </p:sp>
    </p:spTree>
    <p:extLst>
      <p:ext uri="{BB962C8B-B14F-4D97-AF65-F5344CB8AC3E}">
        <p14:creationId xmlns:p14="http://schemas.microsoft.com/office/powerpoint/2010/main" val="14556933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27C8-48E8-277D-A65D-BB7328A4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4C1AB7-F82B-6847-42CE-D1025E36953A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Do Students Need the Full Formula?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75E823-6E67-45AF-7CCE-FDA964799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54" y="713272"/>
            <a:ext cx="9217092" cy="614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999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0CB2F-D57B-A444-74A6-9A7630978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8B163BC-0DFE-B6AF-2F68-C21B879EF937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TF-IDF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BE5A84-CC1E-8659-C6B1-568FD0DC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3BE32D-9049-F10A-4C16-F7C2488AFB74}"/>
              </a:ext>
            </a:extLst>
          </p:cNvPr>
          <p:cNvSpPr txBox="1"/>
          <p:nvPr/>
        </p:nvSpPr>
        <p:spPr>
          <a:xfrm>
            <a:off x="0" y="713273"/>
            <a:ext cx="1204943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Documents: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customer service was good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customer service was poor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customer service was terrible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terms: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customer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service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appear everywhere.</a:t>
            </a:r>
          </a:p>
        </p:txBody>
      </p:sp>
    </p:spTree>
    <p:extLst>
      <p:ext uri="{BB962C8B-B14F-4D97-AF65-F5344CB8AC3E}">
        <p14:creationId xmlns:p14="http://schemas.microsoft.com/office/powerpoint/2010/main" val="28435915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D1C6A-695D-35CE-9EBA-FDDF66F5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69D5AF5-7226-001B-4092-0D88660C6E4C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TF-IDF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F87872-BFD7-CDC6-B880-5491410A37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C28F02-71B4-DC88-1CC4-8CBFD6DEADD4}"/>
              </a:ext>
            </a:extLst>
          </p:cNvPr>
          <p:cNvSpPr txBox="1"/>
          <p:nvPr/>
        </p:nvSpPr>
        <p:spPr>
          <a:xfrm>
            <a:off x="0" y="713273"/>
            <a:ext cx="1204943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But: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good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poor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terrible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help distinguish the documents.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TF-IDF reflects this difference.</a:t>
            </a:r>
          </a:p>
        </p:txBody>
      </p:sp>
    </p:spTree>
    <p:extLst>
      <p:ext uri="{BB962C8B-B14F-4D97-AF65-F5344CB8AC3E}">
        <p14:creationId xmlns:p14="http://schemas.microsoft.com/office/powerpoint/2010/main" val="34771219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A047-EE45-9FF6-0331-5B98D9B8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0781D24-BAB4-D009-144A-B5023FB74906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Discussion — </a:t>
            </a:r>
            <a:r>
              <a:rPr lang="en-US" sz="3000" b="1" dirty="0" err="1">
                <a:latin typeface="Calibri" panose="020F0502020204030204" pitchFamily="34" charset="0"/>
                <a:cs typeface="Calibri" panose="020F0502020204030204" pitchFamily="34" charset="0"/>
              </a:rPr>
              <a:t>BoW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vs TF-IDF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329D0B-8D0B-7D62-79DE-AD3C9A8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F77BA1-2479-C3C5-CC84-8F90186F8578}"/>
              </a:ext>
            </a:extLst>
          </p:cNvPr>
          <p:cNvSpPr txBox="1"/>
          <p:nvPr/>
        </p:nvSpPr>
        <p:spPr>
          <a:xfrm>
            <a:off x="0" y="713272"/>
            <a:ext cx="1204943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1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method uses raw counts?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Bag of Words.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method gives lower importance to very common words?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TF-IDF.</a:t>
            </a:r>
          </a:p>
        </p:txBody>
      </p:sp>
    </p:spTree>
    <p:extLst>
      <p:ext uri="{BB962C8B-B14F-4D97-AF65-F5344CB8AC3E}">
        <p14:creationId xmlns:p14="http://schemas.microsoft.com/office/powerpoint/2010/main" val="256007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A3B0D-592A-80E2-4295-1DFB5D18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CAA9B70-1313-ABDC-BA5A-ABD4A384039D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Discussion — </a:t>
            </a:r>
            <a:r>
              <a:rPr lang="en-US" sz="3000" b="1" dirty="0" err="1">
                <a:latin typeface="Calibri" panose="020F0502020204030204" pitchFamily="34" charset="0"/>
                <a:cs typeface="Calibri" panose="020F0502020204030204" pitchFamily="34" charset="0"/>
              </a:rPr>
              <a:t>BoW</a:t>
            </a: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 vs TF-IDF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66B7D5-2FCC-9662-B386-9D4BD4251F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0B7404-0206-B24F-0B1D-2D7D525AAF05}"/>
              </a:ext>
            </a:extLst>
          </p:cNvPr>
          <p:cNvSpPr txBox="1"/>
          <p:nvPr/>
        </p:nvSpPr>
        <p:spPr>
          <a:xfrm>
            <a:off x="0" y="551044"/>
            <a:ext cx="12049432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3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Is TF-IDF always better?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Performance depends on: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dataset,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task,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preprocessing,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model,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parameter choices.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correct approach is usually to test and compare.</a:t>
            </a:r>
          </a:p>
        </p:txBody>
      </p:sp>
    </p:spTree>
    <p:extLst>
      <p:ext uri="{BB962C8B-B14F-4D97-AF65-F5344CB8AC3E}">
        <p14:creationId xmlns:p14="http://schemas.microsoft.com/office/powerpoint/2010/main" val="239649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9F295-4867-17A0-5FCF-A6028AF8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808488B-3215-784E-4858-29FB8DDC12D6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Python Practice — TF-IDF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820C66-9C90-603A-F6F5-28081C1ED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3F5803-BA01-D443-B501-AD8C1FE89FD4}"/>
              </a:ext>
            </a:extLst>
          </p:cNvPr>
          <p:cNvSpPr txBox="1"/>
          <p:nvPr/>
        </p:nvSpPr>
        <p:spPr>
          <a:xfrm>
            <a:off x="0" y="1873045"/>
            <a:ext cx="120494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sklearn.feature_extraction.text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import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TfidfVectorizer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 err="1">
                <a:highlight>
                  <a:srgbClr val="FFFF00"/>
                </a:highlight>
                <a:latin typeface="Calibir"/>
              </a:rPr>
              <a:t>tfidf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TfidfVectorizer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X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tfidf.fit_transform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(corpus)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tfidf.get_feature_names_out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())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X.toarray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1040383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D291-C7CD-0BB0-F5DF-75AFE6371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727E8F4-40D4-0DB7-506E-20B0D04E72A9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Interactive Prediction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ACBD15-EC2D-56A9-5061-C7D41F9E6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873176-FA38-DBD6-0642-66AA95573D62}"/>
              </a:ext>
            </a:extLst>
          </p:cNvPr>
          <p:cNvSpPr txBox="1"/>
          <p:nvPr/>
        </p:nvSpPr>
        <p:spPr>
          <a:xfrm>
            <a:off x="0" y="973394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Before running: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1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Will the numbers still all be integers?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TF-IDF produces weighted values.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Will very common words usually receive the highest value?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Not necessarily.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Words that are more distinctive may receive greater weight.</a:t>
            </a:r>
          </a:p>
        </p:txBody>
      </p:sp>
    </p:spTree>
    <p:extLst>
      <p:ext uri="{BB962C8B-B14F-4D97-AF65-F5344CB8AC3E}">
        <p14:creationId xmlns:p14="http://schemas.microsoft.com/office/powerpoint/2010/main" val="218743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0771-C496-A603-02CD-25207728F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E314C4C-F3D5-1EAC-7BDB-1A8FE6274E61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Side-by-Side Comparison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A4C9D8-265F-FFBF-F8D3-804EDA293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DB1659-1751-C874-837F-A2567347C4DF}"/>
              </a:ext>
            </a:extLst>
          </p:cNvPr>
          <p:cNvSpPr txBox="1"/>
          <p:nvPr/>
        </p:nvSpPr>
        <p:spPr>
          <a:xfrm>
            <a:off x="0" y="639533"/>
            <a:ext cx="12049432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Use the same corpus.</a:t>
            </a:r>
          </a:p>
          <a:p>
            <a:pPr>
              <a:lnSpc>
                <a:spcPct val="150000"/>
              </a:lnSpc>
              <a:buNone/>
            </a:pPr>
            <a:r>
              <a:rPr lang="en-US" sz="2600" b="1" dirty="0" err="1">
                <a:latin typeface="Calibir"/>
              </a:rPr>
              <a:t>BoW</a:t>
            </a:r>
            <a:endParaRPr lang="en-US" sz="2600" b="1" dirty="0">
              <a:latin typeface="Calibir"/>
            </a:endParaRPr>
          </a:p>
          <a:p>
            <a:pPr rtl="0">
              <a:lnSpc>
                <a:spcPct val="150000"/>
              </a:lnSpc>
              <a:buNone/>
            </a:pPr>
            <a:r>
              <a:rPr lang="en-US" sz="2600" dirty="0" err="1">
                <a:latin typeface="Calibir"/>
              </a:rPr>
              <a:t>CountVectorizer</a:t>
            </a:r>
            <a:r>
              <a:rPr lang="en-US" sz="26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sz="2600" b="1" dirty="0">
                <a:latin typeface="Calibir"/>
              </a:rPr>
              <a:t>TF-IDF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600" dirty="0" err="1">
                <a:latin typeface="Calibir"/>
              </a:rPr>
              <a:t>TfidfVectorizer</a:t>
            </a:r>
            <a:r>
              <a:rPr lang="en-US" sz="26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What changed?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Vocabulary can remain similar.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The numerical values change.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 err="1">
                <a:latin typeface="Calibir"/>
              </a:rPr>
              <a:t>BoW</a:t>
            </a:r>
            <a:r>
              <a:rPr lang="en-US" sz="2600" dirty="0">
                <a:latin typeface="Calibir"/>
              </a:rPr>
              <a:t> uses counts.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TF-IDF uses weighted importance.</a:t>
            </a:r>
          </a:p>
        </p:txBody>
      </p:sp>
    </p:spTree>
    <p:extLst>
      <p:ext uri="{BB962C8B-B14F-4D97-AF65-F5344CB8AC3E}">
        <p14:creationId xmlns:p14="http://schemas.microsoft.com/office/powerpoint/2010/main" val="188139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FF1C6-187E-F8C1-E80F-FAD47164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B1FDA1B-F0BC-FF55-3B54-0468F7CD3668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Concept 6 — N-Grams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9BE54E-EAF1-4B64-44C5-98D5AF52B5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28C6B6-84C3-0587-7C45-598E6DA2233C}"/>
              </a:ext>
            </a:extLst>
          </p:cNvPr>
          <p:cNvSpPr txBox="1"/>
          <p:nvPr/>
        </p:nvSpPr>
        <p:spPr>
          <a:xfrm>
            <a:off x="0" y="1961535"/>
            <a:ext cx="1204943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Students saw n-grams in Week 2, where they learned that: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unigram = one token,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bigram = two </a:t>
            </a:r>
            <a:r>
              <a:rPr lang="en-US" sz="2800" dirty="0" err="1">
                <a:latin typeface="Calibir"/>
              </a:rPr>
              <a:t>neighbouring</a:t>
            </a:r>
            <a:r>
              <a:rPr lang="en-US" sz="2800" dirty="0">
                <a:latin typeface="Calibir"/>
              </a:rPr>
              <a:t> tokens,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trigram = three </a:t>
            </a:r>
            <a:r>
              <a:rPr lang="en-US" sz="2800" dirty="0" err="1">
                <a:latin typeface="Calibir"/>
              </a:rPr>
              <a:t>neighbouring</a:t>
            </a:r>
            <a:r>
              <a:rPr lang="en-US" sz="2800" dirty="0">
                <a:latin typeface="Calibir"/>
              </a:rPr>
              <a:t> tokens.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Now we use them as features.</a:t>
            </a:r>
          </a:p>
        </p:txBody>
      </p:sp>
    </p:spTree>
    <p:extLst>
      <p:ext uri="{BB962C8B-B14F-4D97-AF65-F5344CB8AC3E}">
        <p14:creationId xmlns:p14="http://schemas.microsoft.com/office/powerpoint/2010/main" val="32083516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E97A-0EE9-02DA-796C-F4C32499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9864EF4-6CB5-C15B-62B6-E0967C9AD3E4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Why N-Grams Can Matter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F7284E-D0A5-639F-61DE-420DA7257F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3681A5-1C5E-677B-CD43-0A8C6DC70C62}"/>
              </a:ext>
            </a:extLst>
          </p:cNvPr>
          <p:cNvSpPr txBox="1"/>
          <p:nvPr/>
        </p:nvSpPr>
        <p:spPr>
          <a:xfrm>
            <a:off x="0" y="506800"/>
            <a:ext cx="12049432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Consider: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good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and: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not good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With unigram features: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not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good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With bigrams: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not good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bigram preserves more local context.</a:t>
            </a:r>
          </a:p>
        </p:txBody>
      </p:sp>
    </p:spTree>
    <p:extLst>
      <p:ext uri="{BB962C8B-B14F-4D97-AF65-F5344CB8AC3E}">
        <p14:creationId xmlns:p14="http://schemas.microsoft.com/office/powerpoint/2010/main" val="15533470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557ED-325A-6163-A948-15EA96FD9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074D269-0F81-B0AB-B97C-830604B528B0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Coding N-Grams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4B0F43-7009-2F05-6314-2E1BB51BB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C689FB-D3E9-8B7D-A4E4-1C54DECDC1A9}"/>
              </a:ext>
            </a:extLst>
          </p:cNvPr>
          <p:cNvSpPr txBox="1"/>
          <p:nvPr/>
        </p:nvSpPr>
        <p:spPr>
          <a:xfrm>
            <a:off x="0" y="2064774"/>
            <a:ext cx="1204943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Unigrams: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CountVectorizer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ngram_range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=(1,1))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Unigrams + bigrams: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CountVectorizer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ngram_range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=(1,2))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TF-IDF with unigrams + bigrams: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TfidfVectorizer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ngram_range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=(1,2))</a:t>
            </a:r>
          </a:p>
        </p:txBody>
      </p:sp>
    </p:spTree>
    <p:extLst>
      <p:ext uri="{BB962C8B-B14F-4D97-AF65-F5344CB8AC3E}">
        <p14:creationId xmlns:p14="http://schemas.microsoft.com/office/powerpoint/2010/main" val="31302856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76959-9EBF-6FDE-EFE7-5D1B5557C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4AF28E5-2640-6521-5E3D-279D911CF791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Discussion Questions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CCC86F-C94B-B8E0-7778-89F071CBF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666E9C-59FF-7798-4867-8ABC7A288446}"/>
              </a:ext>
            </a:extLst>
          </p:cNvPr>
          <p:cNvSpPr txBox="1"/>
          <p:nvPr/>
        </p:nvSpPr>
        <p:spPr>
          <a:xfrm>
            <a:off x="0" y="713272"/>
            <a:ext cx="1204943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Why not use (1,5) immediately?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Because the feature space may become huge.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Longer n-grams: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occur less frequently,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create many features,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increase memory use,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may cause overfitting. </a:t>
            </a:r>
          </a:p>
        </p:txBody>
      </p:sp>
    </p:spTree>
    <p:extLst>
      <p:ext uri="{BB962C8B-B14F-4D97-AF65-F5344CB8AC3E}">
        <p14:creationId xmlns:p14="http://schemas.microsoft.com/office/powerpoint/2010/main" val="197525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CF26-65BD-123B-DB8B-6DE2CA773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38AC4ED-AB94-CA4D-3447-2909BAB50A2F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Concept 7 — Frequency Thresholds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890314-B889-80EE-D9AB-9B889DE32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C8842C-72EB-58EE-1C30-9DDA3DA09BD6}"/>
              </a:ext>
            </a:extLst>
          </p:cNvPr>
          <p:cNvSpPr txBox="1"/>
          <p:nvPr/>
        </p:nvSpPr>
        <p:spPr>
          <a:xfrm>
            <a:off x="0" y="855406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Two useful options: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min_df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and: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highlight>
                  <a:srgbClr val="FFFF00"/>
                </a:highlight>
                <a:latin typeface="Calibir"/>
              </a:rPr>
              <a:t>max_df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Simple meaning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min_df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Ignore terms that occur too rarely.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max_df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Ignore terms that appear in too many documents.</a:t>
            </a:r>
          </a:p>
        </p:txBody>
      </p:sp>
    </p:spTree>
    <p:extLst>
      <p:ext uri="{BB962C8B-B14F-4D97-AF65-F5344CB8AC3E}">
        <p14:creationId xmlns:p14="http://schemas.microsoft.com/office/powerpoint/2010/main" val="7387949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1320-2BD5-8D58-77C2-212032454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91ECE9-770A-996B-7C01-D841797B88D8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Discussion Question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A13346-DC16-CA49-1A1A-6C172632D4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A3BF04-3A9F-2373-3DBA-9519B2607D8C}"/>
              </a:ext>
            </a:extLst>
          </p:cNvPr>
          <p:cNvSpPr txBox="1"/>
          <p:nvPr/>
        </p:nvSpPr>
        <p:spPr>
          <a:xfrm>
            <a:off x="0" y="713273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Suppose: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"xzabc99"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occurs once in 10,000 reviews.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Question) </a:t>
            </a:r>
            <a:r>
              <a:rPr lang="en-US" sz="2800" dirty="0">
                <a:latin typeface="Calibir"/>
              </a:rPr>
              <a:t>Should it always become a feature?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Not necessarily.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It could be noise.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But remember Week 2: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Rare terms can sometimes be important.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So frequency thresholds should be justified, not blindly applied.</a:t>
            </a:r>
          </a:p>
        </p:txBody>
      </p:sp>
    </p:spTree>
    <p:extLst>
      <p:ext uri="{BB962C8B-B14F-4D97-AF65-F5344CB8AC3E}">
        <p14:creationId xmlns:p14="http://schemas.microsoft.com/office/powerpoint/2010/main" val="307393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7A24C-BC61-2E3B-DBD2-A05BD537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74741D-87DE-F205-B6F2-33B6A1A5A9A3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Transition: Features Are Ready — What Next?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A91FD8-9D76-D9AC-A7CA-1C7BBF3647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1DABDB-628E-5251-3AFC-45474E860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551426"/>
            <a:ext cx="9459861" cy="630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053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5616E-F55D-CED1-4105-B84F41D97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216D56F-E426-1B5C-0B03-1D62530A1911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Concept 8 — Text Classification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8F87C2-3B64-636F-1900-3F15ED6828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358D15-37A4-7A47-ABCE-FB8EC3327D5B}"/>
              </a:ext>
            </a:extLst>
          </p:cNvPr>
          <p:cNvSpPr txBox="1"/>
          <p:nvPr/>
        </p:nvSpPr>
        <p:spPr>
          <a:xfrm>
            <a:off x="0" y="713272"/>
            <a:ext cx="12049432" cy="6221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Classification means: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Assigning a label to text.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Examples: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Email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spam / not spam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Review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positive / negative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Support ticket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billing / technical / delivery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latin typeface="Calibir"/>
              </a:rPr>
              <a:t>Cybersecurity alert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benign / suspicious</a:t>
            </a:r>
          </a:p>
        </p:txBody>
      </p:sp>
    </p:spTree>
    <p:extLst>
      <p:ext uri="{BB962C8B-B14F-4D97-AF65-F5344CB8AC3E}">
        <p14:creationId xmlns:p14="http://schemas.microsoft.com/office/powerpoint/2010/main" val="305676207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8EBF9-3EFE-2FCA-2290-31C76059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928FD46-B7D0-B383-92B7-FA74C9847EAA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Australian Industry Case Study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6DE45F-6773-3ACE-48FD-9403162302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F85F23-F648-116F-BFBF-4F9C3FEBE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454" y="713272"/>
            <a:ext cx="9217092" cy="614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081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61BD2-025C-D718-5EF1-6B460F569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44E2DE4-B8EF-56C6-E9B2-5651DF8E5755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Concept 9 — Training and Testing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B40873-87F6-F65A-A350-2A97443A70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3E1995-7EC3-2A8B-C827-1B3237E40BD5}"/>
              </a:ext>
            </a:extLst>
          </p:cNvPr>
          <p:cNvSpPr txBox="1"/>
          <p:nvPr/>
        </p:nvSpPr>
        <p:spPr>
          <a:xfrm>
            <a:off x="0" y="1666568"/>
            <a:ext cx="1204943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common mistake: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Train the model and evaluate it on the same data.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Why is that a problem?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Because the model has already seen those examples.</a:t>
            </a:r>
          </a:p>
        </p:txBody>
      </p:sp>
    </p:spTree>
    <p:extLst>
      <p:ext uri="{BB962C8B-B14F-4D97-AF65-F5344CB8AC3E}">
        <p14:creationId xmlns:p14="http://schemas.microsoft.com/office/powerpoint/2010/main" val="95387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EBA2-9F9B-FE38-5F01-240EBB10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959A32-0415-8F97-4279-0DEB2963363D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Analogy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A0DE45-FFB6-8682-5602-F5F5B3DCBC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1E8076-5DFB-65C4-DC25-30CF31FCEA18}"/>
              </a:ext>
            </a:extLst>
          </p:cNvPr>
          <p:cNvSpPr txBox="1"/>
          <p:nvPr/>
        </p:nvSpPr>
        <p:spPr>
          <a:xfrm>
            <a:off x="0" y="1666568"/>
            <a:ext cx="1204943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Think about university study.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Training set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Practice questions.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Test set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Questions you have not seen before.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good model should work on new data, not only </a:t>
            </a:r>
            <a:r>
              <a:rPr lang="en-US" sz="2800" dirty="0" err="1">
                <a:latin typeface="Calibir"/>
              </a:rPr>
              <a:t>memorise</a:t>
            </a:r>
            <a:r>
              <a:rPr lang="en-US" sz="2800" dirty="0">
                <a:latin typeface="Calibir"/>
              </a:rPr>
              <a:t> training examples.</a:t>
            </a:r>
          </a:p>
        </p:txBody>
      </p:sp>
    </p:spTree>
    <p:extLst>
      <p:ext uri="{BB962C8B-B14F-4D97-AF65-F5344CB8AC3E}">
        <p14:creationId xmlns:p14="http://schemas.microsoft.com/office/powerpoint/2010/main" val="31090970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F44E-16F0-E275-F05E-95576827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061880-1AF6-4ACC-0093-B5FAD9C99C27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Python — Train/Test Split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B16D1B-7B11-B27A-94A1-144663B21B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DCC50F-80AB-E6F8-D194-38CF3DA4D75D}"/>
              </a:ext>
            </a:extLst>
          </p:cNvPr>
          <p:cNvSpPr txBox="1"/>
          <p:nvPr/>
        </p:nvSpPr>
        <p:spPr>
          <a:xfrm>
            <a:off x="221226" y="1578078"/>
            <a:ext cx="116069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sklearn.model_selection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import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train_test_split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 err="1">
                <a:highlight>
                  <a:srgbClr val="FFFF00"/>
                </a:highlight>
                <a:latin typeface="Calibir"/>
              </a:rPr>
              <a:t>X_train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,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X_test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,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y_train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,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y_test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train_test_split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texts,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labels,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test_size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=0.2,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   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random_state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=42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15435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9DAAA-0D53-34A1-8C1B-4E878C914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A239D0F-FAE4-9A53-E32A-515B1FE82614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Discussion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8C8BE7-E630-945A-53E8-44C5A6D0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96521B-B1E9-1DF5-1EB3-B7D303AE48C0}"/>
              </a:ext>
            </a:extLst>
          </p:cNvPr>
          <p:cNvSpPr txBox="1"/>
          <p:nvPr/>
        </p:nvSpPr>
        <p:spPr>
          <a:xfrm>
            <a:off x="0" y="713273"/>
            <a:ext cx="12049432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1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 does </a:t>
            </a:r>
            <a:r>
              <a:rPr lang="en-US" sz="2800" dirty="0" err="1">
                <a:latin typeface="Calibir"/>
              </a:rPr>
              <a:t>test_size</a:t>
            </a:r>
            <a:r>
              <a:rPr lang="en-US" sz="2800" dirty="0">
                <a:latin typeface="Calibir"/>
              </a:rPr>
              <a:t>=0.2 mean?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20% goes to testing.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80% goes to training.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Why use </a:t>
            </a:r>
            <a:r>
              <a:rPr lang="en-US" sz="2800" dirty="0" err="1">
                <a:latin typeface="Calibir"/>
              </a:rPr>
              <a:t>random_state</a:t>
            </a:r>
            <a:r>
              <a:rPr lang="en-US" sz="2800" dirty="0">
                <a:latin typeface="Calibir"/>
              </a:rPr>
              <a:t>=42?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It helps make the split reproducible.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That connects directly with the reproducibility skills developed in Assessment 1.</a:t>
            </a:r>
          </a:p>
        </p:txBody>
      </p:sp>
    </p:spTree>
    <p:extLst>
      <p:ext uri="{BB962C8B-B14F-4D97-AF65-F5344CB8AC3E}">
        <p14:creationId xmlns:p14="http://schemas.microsoft.com/office/powerpoint/2010/main" val="351596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815FA-AC8A-66D4-2D11-0F06020EC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80B0D9E-68C9-23B7-A7B1-F70C0AD84D56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Important: Avoid Data Leakage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A41284-B09C-5C6E-EBA2-2D2F1A4049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61" t="41720" r="16290" b="27312"/>
          <a:stretch>
            <a:fillRect/>
          </a:stretch>
        </p:blipFill>
        <p:spPr>
          <a:xfrm>
            <a:off x="8834284" y="0"/>
            <a:ext cx="3357716" cy="1145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6FF1E4-469A-11F4-6E4C-7D4B52049B0B}"/>
              </a:ext>
            </a:extLst>
          </p:cNvPr>
          <p:cNvSpPr txBox="1"/>
          <p:nvPr/>
        </p:nvSpPr>
        <p:spPr>
          <a:xfrm>
            <a:off x="0" y="1288460"/>
            <a:ext cx="12049432" cy="3254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good pipeline should learn vocabulary/feature weights from the training data, not secretly use information from the test set.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simple solution: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scikit-learn Pipeline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Vectorizer </a:t>
            </a:r>
            <a:r>
              <a:rPr lang="en-US" sz="2800" dirty="0">
                <a:latin typeface="Calibir"/>
                <a:sym typeface="Wingdings" panose="05000000000000000000" pitchFamily="2" charset="2"/>
              </a:rPr>
              <a:t> </a:t>
            </a:r>
            <a:r>
              <a:rPr lang="en-US" sz="2800" dirty="0">
                <a:latin typeface="Calibir"/>
              </a:rPr>
              <a:t>Classifier</a:t>
            </a:r>
          </a:p>
        </p:txBody>
      </p:sp>
    </p:spTree>
    <p:extLst>
      <p:ext uri="{BB962C8B-B14F-4D97-AF65-F5344CB8AC3E}">
        <p14:creationId xmlns:p14="http://schemas.microsoft.com/office/powerpoint/2010/main" val="40583927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A1011-C16A-4EC6-B1C9-807E9FD1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2889C8-D530-DFA4-DE4A-017AD6B54429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Concept 10 — Multinomial Naive Bayes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AB18C-4192-70C5-4A9F-CBDA27A85791}"/>
              </a:ext>
            </a:extLst>
          </p:cNvPr>
          <p:cNvSpPr txBox="1"/>
          <p:nvPr/>
        </p:nvSpPr>
        <p:spPr>
          <a:xfrm>
            <a:off x="0" y="580541"/>
            <a:ext cx="12049432" cy="6678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Naive Bayes looks at how strongly words/features are associated with each class.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For example: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Positive reviews may commonly contain: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500" dirty="0">
                <a:highlight>
                  <a:srgbClr val="FFFF00"/>
                </a:highlight>
                <a:latin typeface="Calibir"/>
              </a:rPr>
              <a:t>great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500" dirty="0">
                <a:highlight>
                  <a:srgbClr val="FFFF00"/>
                </a:highlight>
                <a:latin typeface="Calibir"/>
              </a:rPr>
              <a:t>excellent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500" dirty="0">
                <a:highlight>
                  <a:srgbClr val="FFFF00"/>
                </a:highlight>
                <a:latin typeface="Calibir"/>
              </a:rPr>
              <a:t>love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Negative reviews may commonly contain: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500" dirty="0">
                <a:highlight>
                  <a:srgbClr val="FFFF00"/>
                </a:highlight>
                <a:latin typeface="Calibir"/>
              </a:rPr>
              <a:t>poor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500" dirty="0">
                <a:highlight>
                  <a:srgbClr val="FFFF00"/>
                </a:highlight>
                <a:latin typeface="Calibir"/>
              </a:rPr>
              <a:t>terrible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500" dirty="0">
                <a:highlight>
                  <a:srgbClr val="FFFF00"/>
                </a:highlight>
                <a:latin typeface="Calibir"/>
              </a:rPr>
              <a:t>bad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It uses probability to make a prediction.</a:t>
            </a:r>
          </a:p>
        </p:txBody>
      </p:sp>
    </p:spTree>
    <p:extLst>
      <p:ext uri="{BB962C8B-B14F-4D97-AF65-F5344CB8AC3E}">
        <p14:creationId xmlns:p14="http://schemas.microsoft.com/office/powerpoint/2010/main" val="41613091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A1EA9-DFE6-8F99-4548-0A7C8FB3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436C816-3A20-C011-DE3F-20242135181A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Discussion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6FEC11-D0B1-1B0E-A722-898351B0F181}"/>
              </a:ext>
            </a:extLst>
          </p:cNvPr>
          <p:cNvSpPr txBox="1"/>
          <p:nvPr/>
        </p:nvSpPr>
        <p:spPr>
          <a:xfrm>
            <a:off x="0" y="988143"/>
            <a:ext cx="1204943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Is the model unintelligent because it is called Naive Bayes?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“Naive” refers to a simplifying assumption about features.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Despite being simple, Naive Bayes can be a useful baseline for text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80337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B4EB2-94C1-1638-09EF-4E3C356D4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3590374-C7C7-D2EB-F9AA-B4422868601A}"/>
              </a:ext>
            </a:extLst>
          </p:cNvPr>
          <p:cNvSpPr txBox="1"/>
          <p:nvPr/>
        </p:nvSpPr>
        <p:spPr>
          <a:xfrm>
            <a:off x="0" y="0"/>
            <a:ext cx="12192000" cy="71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000" b="1" dirty="0">
                <a:latin typeface="Calibri" panose="020F0502020204030204" pitchFamily="34" charset="0"/>
                <a:cs typeface="Calibri" panose="020F0502020204030204" pitchFamily="34" charset="0"/>
              </a:rPr>
              <a:t>First End-to-End Classifier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79120-4E86-87B2-0A08-301432FF7647}"/>
              </a:ext>
            </a:extLst>
          </p:cNvPr>
          <p:cNvSpPr txBox="1"/>
          <p:nvPr/>
        </p:nvSpPr>
        <p:spPr>
          <a:xfrm>
            <a:off x="0" y="958645"/>
            <a:ext cx="1204943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sklearn.pipeline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import Pipeline</a:t>
            </a: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sklearn.naive_bayes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import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MultinomialNB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sklearn.feature_extraction.text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import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TfidfVectorizer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model = Pipeline([("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tfidf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",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TfidfVectorizer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()),("classifier",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MultinomialNB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())])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 err="1">
                <a:highlight>
                  <a:srgbClr val="FFFF00"/>
                </a:highlight>
                <a:latin typeface="Calibir"/>
              </a:rPr>
              <a:t>model.fit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X_train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,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y_train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)</a:t>
            </a:r>
          </a:p>
          <a:p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r>
              <a:rPr lang="en-US" sz="2800" dirty="0">
                <a:highlight>
                  <a:srgbClr val="FFFF00"/>
                </a:highlight>
                <a:latin typeface="Calibir"/>
              </a:rPr>
              <a:t>predictions =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model.predict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X_test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3552289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26E8-A020-DFAA-1A31-E3B79A1B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85543FB-EB71-37CE-C572-DA7CE25E4C6E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Ask Students Before Running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A1B0B8-E62D-B75C-D792-7308CC90DA50}"/>
              </a:ext>
            </a:extLst>
          </p:cNvPr>
          <p:cNvSpPr txBox="1"/>
          <p:nvPr/>
        </p:nvSpPr>
        <p:spPr>
          <a:xfrm>
            <a:off x="0" y="553998"/>
            <a:ext cx="1204943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1) </a:t>
            </a:r>
            <a:r>
              <a:rPr lang="en-US" sz="2800" dirty="0">
                <a:latin typeface="Calibir"/>
              </a:rPr>
              <a:t>Which steps are inside this pipeline?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TF-IDF converts text to features.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Naive Bayes uses those features for classification.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2) </a:t>
            </a:r>
            <a:r>
              <a:rPr lang="en-US" sz="2800" dirty="0">
                <a:latin typeface="Calibir"/>
              </a:rPr>
              <a:t>Are we manually calculating TF-IDF?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Scikit-learn does the numerical work.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need to understand and justify the process.</a:t>
            </a:r>
          </a:p>
        </p:txBody>
      </p:sp>
    </p:spTree>
    <p:extLst>
      <p:ext uri="{BB962C8B-B14F-4D97-AF65-F5344CB8AC3E}">
        <p14:creationId xmlns:p14="http://schemas.microsoft.com/office/powerpoint/2010/main" val="357763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BCD60-C553-397E-E430-2EF5763F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48EFE2A-E0FC-B2F0-5DE8-3B5FB5308760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Concept 11 — Logistic Regression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D5139-88F2-6963-5A18-E7A3D3FCC5B6}"/>
              </a:ext>
            </a:extLst>
          </p:cNvPr>
          <p:cNvSpPr txBox="1"/>
          <p:nvPr/>
        </p:nvSpPr>
        <p:spPr>
          <a:xfrm>
            <a:off x="0" y="553998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Despite the word regression, Logistic Regression is commonly used for classification.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Simple idea: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It learns weights for features and estimates which class is more likely.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For text: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"excellent"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might contribute toward positive.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"terrible"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might contribute toward negative.</a:t>
            </a:r>
          </a:p>
        </p:txBody>
      </p:sp>
    </p:spTree>
    <p:extLst>
      <p:ext uri="{BB962C8B-B14F-4D97-AF65-F5344CB8AC3E}">
        <p14:creationId xmlns:p14="http://schemas.microsoft.com/office/powerpoint/2010/main" val="1093517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F40B-C718-36E1-F776-BF63C8749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CCD9DF7-86DD-BACD-B587-624AEC1D25CB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Logistic Regression Pipeline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5EB64-5A25-9DC2-A8F4-AEF1A4607047}"/>
              </a:ext>
            </a:extLst>
          </p:cNvPr>
          <p:cNvSpPr txBox="1"/>
          <p:nvPr/>
        </p:nvSpPr>
        <p:spPr>
          <a:xfrm>
            <a:off x="0" y="1563331"/>
            <a:ext cx="11842956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sklearn.linear_model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 import LogisticRegression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model = Pipeline([("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tfidf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",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TfidfVectorizer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()),("classifier", LogisticRegression(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max_iter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=1000))])</a:t>
            </a:r>
          </a:p>
          <a:p>
            <a:pPr>
              <a:lnSpc>
                <a:spcPct val="150000"/>
              </a:lnSpc>
            </a:pPr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highlight>
                  <a:srgbClr val="FFFF00"/>
                </a:highlight>
                <a:latin typeface="Calibir"/>
              </a:rPr>
              <a:t>model.fit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X_train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,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y_train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24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highlight>
                  <a:srgbClr val="FFFF00"/>
                </a:highlight>
                <a:latin typeface="Calibir"/>
              </a:rPr>
              <a:t>predictions = 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model.predict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400" dirty="0" err="1">
                <a:highlight>
                  <a:srgbClr val="FFFF00"/>
                </a:highlight>
                <a:latin typeface="Calibir"/>
              </a:rPr>
              <a:t>X_test</a:t>
            </a:r>
            <a:r>
              <a:rPr lang="en-US" sz="2400" dirty="0">
                <a:highlight>
                  <a:srgbClr val="FFFF00"/>
                </a:highlight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34386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09CE-03B4-47CC-60A6-DA3D5441B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91BEBF2-C0EA-1D42-058B-FA601FD0019F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Week 3 Experiment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EE38E5-2E71-72F9-7B6A-F236BA182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998" y="553998"/>
            <a:ext cx="9456003" cy="630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892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DBC6D-7ED2-C95B-2A00-4842162A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ECBCAA3-6CF1-7747-182C-9F4F272C193B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Concept 12 — Evaluation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E36D2-A46F-43B2-10A0-CDAD9C24351F}"/>
              </a:ext>
            </a:extLst>
          </p:cNvPr>
          <p:cNvSpPr txBox="1"/>
          <p:nvPr/>
        </p:nvSpPr>
        <p:spPr>
          <a:xfrm>
            <a:off x="0" y="663677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model producing predictions is not enough.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 need to ask: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How good are those predictions?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Common metrics: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Accuracy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Precision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Recall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F1-score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24010616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E209-EB3E-C792-5CDF-0EE1953B0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2ED9C04-3B84-E273-3A56-29B8863BE77E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Accuracy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12C18D-7F55-B6B0-5984-125E0D7DC2B7}"/>
              </a:ext>
            </a:extLst>
          </p:cNvPr>
          <p:cNvSpPr txBox="1"/>
          <p:nvPr/>
        </p:nvSpPr>
        <p:spPr>
          <a:xfrm>
            <a:off x="0" y="663677"/>
            <a:ext cx="12049432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Simple meaning: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Out of all predictions, how many were correct?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90 correct out of 100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Accuracy: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90%</a:t>
            </a:r>
          </a:p>
        </p:txBody>
      </p:sp>
    </p:spTree>
    <p:extLst>
      <p:ext uri="{BB962C8B-B14F-4D97-AF65-F5344CB8AC3E}">
        <p14:creationId xmlns:p14="http://schemas.microsoft.com/office/powerpoint/2010/main" val="316405828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12FE0-D0EC-1345-0B7A-17D163FB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AE7A818-2203-4B80-12BB-DA6B4A75F221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Discussion — Is Accuracy Enough?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C703E-C6FC-6AD9-FFCA-51409AACD2C7}"/>
              </a:ext>
            </a:extLst>
          </p:cNvPr>
          <p:cNvSpPr txBox="1"/>
          <p:nvPr/>
        </p:nvSpPr>
        <p:spPr>
          <a:xfrm>
            <a:off x="0" y="553999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Imagine: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95 normal transactions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5 fraud transactions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model says: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Everything is normal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Accuracy: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95%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Question) </a:t>
            </a:r>
            <a:r>
              <a:rPr lang="en-US" sz="2800" dirty="0">
                <a:latin typeface="Calibir"/>
              </a:rPr>
              <a:t>Is that a good fraud detector?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No. It missed every fraud case. This is why we also need precision and recall.</a:t>
            </a:r>
          </a:p>
        </p:txBody>
      </p:sp>
    </p:spTree>
    <p:extLst>
      <p:ext uri="{BB962C8B-B14F-4D97-AF65-F5344CB8AC3E}">
        <p14:creationId xmlns:p14="http://schemas.microsoft.com/office/powerpoint/2010/main" val="2798959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8A7B-C0FF-18C0-45E3-444FF65A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684814C-4F1C-E0D6-A2BB-9D3A49BF91D6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 err="1">
                <a:latin typeface="Calibir"/>
              </a:rPr>
              <a:t>Precission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10B9F-5C67-3CDE-56D8-2EADA0BDA74C}"/>
              </a:ext>
            </a:extLst>
          </p:cNvPr>
          <p:cNvSpPr txBox="1"/>
          <p:nvPr/>
        </p:nvSpPr>
        <p:spPr>
          <a:xfrm>
            <a:off x="0" y="553999"/>
            <a:ext cx="1204943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Simple question: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When the model predicted this class, how often was it correct?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spam detection: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Of everything predicted as spam, how much was really spam?</a:t>
            </a:r>
          </a:p>
        </p:txBody>
      </p:sp>
    </p:spTree>
    <p:extLst>
      <p:ext uri="{BB962C8B-B14F-4D97-AF65-F5344CB8AC3E}">
        <p14:creationId xmlns:p14="http://schemas.microsoft.com/office/powerpoint/2010/main" val="31333800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FD2D-9E5E-1645-74E4-F63BF02C0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F7EA409-D5D3-A6E5-23F2-D7E2FB937EFC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Recall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7220D-EEA3-591F-1FC7-2465BADB2AE2}"/>
              </a:ext>
            </a:extLst>
          </p:cNvPr>
          <p:cNvSpPr txBox="1"/>
          <p:nvPr/>
        </p:nvSpPr>
        <p:spPr>
          <a:xfrm>
            <a:off x="0" y="553999"/>
            <a:ext cx="12049432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Simple question: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Of all the real examples of this class, how many did the model find?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fraud detection: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Of all the real fraud cases, how many did our model detect?</a:t>
            </a:r>
          </a:p>
        </p:txBody>
      </p:sp>
    </p:spTree>
    <p:extLst>
      <p:ext uri="{BB962C8B-B14F-4D97-AF65-F5344CB8AC3E}">
        <p14:creationId xmlns:p14="http://schemas.microsoft.com/office/powerpoint/2010/main" val="36483928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08500-239B-83BF-683F-A5C4BE57B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3195753-9B53-1268-1806-86E76665A4D1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F1-Score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67E20-1AA2-5B3C-C977-E608AB72A675}"/>
              </a:ext>
            </a:extLst>
          </p:cNvPr>
          <p:cNvSpPr txBox="1"/>
          <p:nvPr/>
        </p:nvSpPr>
        <p:spPr>
          <a:xfrm>
            <a:off x="0" y="553999"/>
            <a:ext cx="1204943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Simple meaning: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balance between precision and recall.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Useful when both matter.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do not need to make Week 3 overly mathematical.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 should understand what the metric means.</a:t>
            </a:r>
          </a:p>
        </p:txBody>
      </p:sp>
    </p:spTree>
    <p:extLst>
      <p:ext uri="{BB962C8B-B14F-4D97-AF65-F5344CB8AC3E}">
        <p14:creationId xmlns:p14="http://schemas.microsoft.com/office/powerpoint/2010/main" val="25325107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38A05-B37F-23D9-669C-D4938998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706D71F-25A2-6E9C-D966-C4C7D35A65E0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Discussion — Precision or Recall?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D607A-F8EE-CF76-8BBA-393FDDA77DF2}"/>
              </a:ext>
            </a:extLst>
          </p:cNvPr>
          <p:cNvSpPr txBox="1"/>
          <p:nvPr/>
        </p:nvSpPr>
        <p:spPr>
          <a:xfrm>
            <a:off x="0" y="495007"/>
            <a:ext cx="12049432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Medical screening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Missing a sick patient may be serious.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might be especially important?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Recall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Spam filter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Sending a legitimate important email to spam can be harmful.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might deserve special attention?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Precision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Key Point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“best” metric depends on the problem.</a:t>
            </a:r>
          </a:p>
        </p:txBody>
      </p:sp>
    </p:spTree>
    <p:extLst>
      <p:ext uri="{BB962C8B-B14F-4D97-AF65-F5344CB8AC3E}">
        <p14:creationId xmlns:p14="http://schemas.microsoft.com/office/powerpoint/2010/main" val="15351751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F2769-E09D-0C1A-110D-3C95A7C0D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F98DF02-8592-277B-88A7-1BC77250C741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Classification Report in Python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8AAB1-AD92-4E4C-B20E-426B68BCEAB6}"/>
              </a:ext>
            </a:extLst>
          </p:cNvPr>
          <p:cNvSpPr txBox="1"/>
          <p:nvPr/>
        </p:nvSpPr>
        <p:spPr>
          <a:xfrm>
            <a:off x="0" y="737420"/>
            <a:ext cx="1204943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from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sklearn.metrics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import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classification_report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print(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classification_report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(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y_test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, predictions))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E5F922-B055-F62C-7BCD-A9A5C513346C}"/>
              </a:ext>
            </a:extLst>
          </p:cNvPr>
          <p:cNvSpPr txBox="1"/>
          <p:nvPr/>
        </p:nvSpPr>
        <p:spPr>
          <a:xfrm>
            <a:off x="0" y="2239023"/>
            <a:ext cx="1204943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Identify: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precision,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recall,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F1,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support.</a:t>
            </a:r>
          </a:p>
        </p:txBody>
      </p:sp>
    </p:spTree>
    <p:extLst>
      <p:ext uri="{BB962C8B-B14F-4D97-AF65-F5344CB8AC3E}">
        <p14:creationId xmlns:p14="http://schemas.microsoft.com/office/powerpoint/2010/main" val="29300630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9EF10-B8FB-B22B-C73D-7D9FD53BE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B19C1B2-688D-9730-D56A-1BB154DD6A31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Concept 13 — Confusion Matrix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BEFEAC-44D9-8A93-CEC0-C7A0B9475A2A}"/>
              </a:ext>
            </a:extLst>
          </p:cNvPr>
          <p:cNvSpPr txBox="1"/>
          <p:nvPr/>
        </p:nvSpPr>
        <p:spPr>
          <a:xfrm>
            <a:off x="0" y="553998"/>
            <a:ext cx="1204943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confusion matrix shows: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 did the model get right?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and: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What did it confuse?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Binary example: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6EB33C9-6D88-753F-0CE7-F3AF7EE24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335541"/>
              </p:ext>
            </p:extLst>
          </p:nvPr>
        </p:nvGraphicFramePr>
        <p:xfrm>
          <a:off x="838200" y="4307708"/>
          <a:ext cx="1051560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7522383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97974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950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80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Predicted Positive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Predicted Negative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2079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Actual Positive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correct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missed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900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Actual Negative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false alarm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correct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66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71433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45742-9CED-2BAC-107C-45DF1AEA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34C8A34-4D2E-B58F-3D3B-EC2546C11961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Discussion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A05CB-11F7-5153-E83E-703B8BCFE432}"/>
              </a:ext>
            </a:extLst>
          </p:cNvPr>
          <p:cNvSpPr txBox="1"/>
          <p:nvPr/>
        </p:nvSpPr>
        <p:spPr>
          <a:xfrm>
            <a:off x="0" y="553998"/>
            <a:ext cx="1204943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Suppose: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Actual: Negative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Prediction: Positive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Question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Was the prediction correct?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That is a false positive for the positive class.</a:t>
            </a:r>
          </a:p>
        </p:txBody>
      </p:sp>
    </p:spTree>
    <p:extLst>
      <p:ext uri="{BB962C8B-B14F-4D97-AF65-F5344CB8AC3E}">
        <p14:creationId xmlns:p14="http://schemas.microsoft.com/office/powerpoint/2010/main" val="427545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E8CAB-584A-8218-8C3A-0C3B6FD1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2431A47-7068-65DD-70F7-A9C6962B5184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Why Model Mistakes Matter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2C95F-7717-1822-7ED2-00CF1D6D07D7}"/>
              </a:ext>
            </a:extLst>
          </p:cNvPr>
          <p:cNvSpPr txBox="1"/>
          <p:nvPr/>
        </p:nvSpPr>
        <p:spPr>
          <a:xfrm>
            <a:off x="0" y="480258"/>
            <a:ext cx="12049432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Assessment 2 should not become: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“Model A got 84%, Model B got 86%, therefore Model B is better.”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Students should ask: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Which examples were misclassified?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Were negations difficult?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Were rare words involved?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Were the reviews ambiguous?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Did bigrams help?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Was the dataset balanced?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creates much stronger analysis.</a:t>
            </a:r>
          </a:p>
        </p:txBody>
      </p:sp>
    </p:spTree>
    <p:extLst>
      <p:ext uri="{BB962C8B-B14F-4D97-AF65-F5344CB8AC3E}">
        <p14:creationId xmlns:p14="http://schemas.microsoft.com/office/powerpoint/2010/main" val="291429493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EBB4C-DBD8-A868-A4C8-A3F2B4983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B00EA96-D739-E4AA-D63C-19E079C4AF53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Practical Case Study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2E48D-1112-1865-5799-5732E1853359}"/>
              </a:ext>
            </a:extLst>
          </p:cNvPr>
          <p:cNvSpPr txBox="1"/>
          <p:nvPr/>
        </p:nvSpPr>
        <p:spPr>
          <a:xfrm>
            <a:off x="0" y="553998"/>
            <a:ext cx="12049432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Consider: "The product isn't bad."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Question) </a:t>
            </a:r>
            <a:r>
              <a:rPr lang="en-US" sz="2800" dirty="0">
                <a:latin typeface="Calibir"/>
              </a:rPr>
              <a:t>Could unigram features struggle?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Possibly.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Features: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isn't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bad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may individually look negative.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bigram such as: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not bad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can provide more context.</a:t>
            </a:r>
          </a:p>
        </p:txBody>
      </p:sp>
    </p:spTree>
    <p:extLst>
      <p:ext uri="{BB962C8B-B14F-4D97-AF65-F5344CB8AC3E}">
        <p14:creationId xmlns:p14="http://schemas.microsoft.com/office/powerpoint/2010/main" val="111112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7F4B3-9038-F8C0-5F9D-3C1D806D1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F991E5-5E09-9805-A213-15DFCB57DC96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Mini Experiment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84A9A-5594-8A70-3CFE-CA8F74C88D55}"/>
              </a:ext>
            </a:extLst>
          </p:cNvPr>
          <p:cNvSpPr txBox="1"/>
          <p:nvPr/>
        </p:nvSpPr>
        <p:spPr>
          <a:xfrm>
            <a:off x="0" y="553998"/>
            <a:ext cx="12049432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Compare: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TfidfVectorizer</a:t>
            </a:r>
            <a:r>
              <a:rPr lang="en-US" sz="2800" dirty="0">
                <a:latin typeface="Calibir"/>
              </a:rPr>
              <a:t>(</a:t>
            </a:r>
            <a:r>
              <a:rPr lang="en-US" sz="2800" dirty="0" err="1">
                <a:latin typeface="Calibir"/>
              </a:rPr>
              <a:t>ngram_range</a:t>
            </a:r>
            <a:r>
              <a:rPr lang="en-US" sz="2800" dirty="0">
                <a:latin typeface="Calibir"/>
              </a:rPr>
              <a:t>=(1,1))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with: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800" dirty="0" err="1">
                <a:latin typeface="Calibir"/>
              </a:rPr>
              <a:t>TfidfVectorizer</a:t>
            </a:r>
            <a:r>
              <a:rPr lang="en-US" sz="2800" dirty="0">
                <a:latin typeface="Calibir"/>
              </a:rPr>
              <a:t>(</a:t>
            </a:r>
            <a:r>
              <a:rPr lang="en-US" sz="2800" dirty="0" err="1">
                <a:latin typeface="Calibir"/>
              </a:rPr>
              <a:t>ngram_range</a:t>
            </a:r>
            <a:r>
              <a:rPr lang="en-US" sz="2800" dirty="0">
                <a:latin typeface="Calibir"/>
              </a:rPr>
              <a:t>=(1,2))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1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Did the F1-score change?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Did the number of features change?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Question 3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Did the training time change?</a:t>
            </a:r>
          </a:p>
        </p:txBody>
      </p:sp>
    </p:spTree>
    <p:extLst>
      <p:ext uri="{BB962C8B-B14F-4D97-AF65-F5344CB8AC3E}">
        <p14:creationId xmlns:p14="http://schemas.microsoft.com/office/powerpoint/2010/main" val="177136529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FE1C2-C959-AE06-667C-732C03AB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8C88F3-70C4-F58B-FF9C-ACBC2C9CFD77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Week 3 Industrial Skills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950B1-F359-6C44-EF25-770D34E4C2A7}"/>
              </a:ext>
            </a:extLst>
          </p:cNvPr>
          <p:cNvSpPr txBox="1"/>
          <p:nvPr/>
        </p:nvSpPr>
        <p:spPr>
          <a:xfrm>
            <a:off x="0" y="553999"/>
            <a:ext cx="12049432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Students are developing: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Technical Skills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Python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scikit-learn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vectorisation</a:t>
            </a:r>
            <a:r>
              <a:rPr lang="en-US" sz="2800" dirty="0">
                <a:latin typeface="Calibir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feature engineering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machine learning pipelines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model training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model evaluation </a:t>
            </a:r>
          </a:p>
        </p:txBody>
      </p:sp>
    </p:spTree>
    <p:extLst>
      <p:ext uri="{BB962C8B-B14F-4D97-AF65-F5344CB8AC3E}">
        <p14:creationId xmlns:p14="http://schemas.microsoft.com/office/powerpoint/2010/main" val="19589450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62C50-2C04-9AFB-C9C9-1D4F7740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573919-51F5-F088-DC88-26F38721689F}"/>
              </a:ext>
            </a:extLst>
          </p:cNvPr>
          <p:cNvSpPr txBox="1"/>
          <p:nvPr/>
        </p:nvSpPr>
        <p:spPr>
          <a:xfrm>
            <a:off x="0" y="0"/>
            <a:ext cx="1219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000" b="1" dirty="0">
                <a:latin typeface="Calibir"/>
              </a:rPr>
              <a:t>Week 3 Industrial Skills</a:t>
            </a:r>
            <a:endParaRPr lang="en-US" sz="3000" b="1" dirty="0">
              <a:latin typeface="Calibir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D00D30-082A-E642-07C9-8D8F347C7D8F}"/>
              </a:ext>
            </a:extLst>
          </p:cNvPr>
          <p:cNvSpPr txBox="1"/>
          <p:nvPr/>
        </p:nvSpPr>
        <p:spPr>
          <a:xfrm>
            <a:off x="0" y="412955"/>
            <a:ext cx="9110816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Analytical Skills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compare experiments,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interpret metrics,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understand errors,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justify modelling choices.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Professional Skills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communicate results,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document experiments,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explain technical decisions,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avoid misleading conclusions.</a:t>
            </a:r>
          </a:p>
        </p:txBody>
      </p:sp>
    </p:spTree>
    <p:extLst>
      <p:ext uri="{BB962C8B-B14F-4D97-AF65-F5344CB8AC3E}">
        <p14:creationId xmlns:p14="http://schemas.microsoft.com/office/powerpoint/2010/main" val="372673231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CD5BB-FD25-7302-E553-EF1050FB1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wo people holding each other's hands">
            <a:extLst>
              <a:ext uri="{FF2B5EF4-FFF2-40B4-BE49-F238E27FC236}">
                <a16:creationId xmlns:a16="http://schemas.microsoft.com/office/drawing/2014/main" id="{E9FC971C-A1A1-ECDC-5A46-37A72D931E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664" b="806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AB1648-324E-D430-E22F-E944F8C8A874}"/>
              </a:ext>
            </a:extLst>
          </p:cNvPr>
          <p:cNvSpPr txBox="1"/>
          <p:nvPr/>
        </p:nvSpPr>
        <p:spPr>
          <a:xfrm>
            <a:off x="1524000" y="1122362"/>
            <a:ext cx="9144000" cy="29005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6000" b="1" i="0" u="none" strike="noStrike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Attendance</a:t>
            </a:r>
          </a:p>
        </p:txBody>
      </p:sp>
    </p:spTree>
    <p:extLst>
      <p:ext uri="{BB962C8B-B14F-4D97-AF65-F5344CB8AC3E}">
        <p14:creationId xmlns:p14="http://schemas.microsoft.com/office/powerpoint/2010/main" val="1354931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2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Happy Learning and Bright Futures Ahead!</a:t>
            </a:r>
            <a:br>
              <a:rPr lang="en-US" sz="28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800" i="1" dirty="0">
                <a:solidFill>
                  <a:schemeClr val="tx1">
                    <a:alpha val="80000"/>
                  </a:schemeClr>
                </a:solidFill>
              </a:rPr>
              <a:t>Dr. Farshid Keivanian</a:t>
            </a:r>
            <a:br>
              <a:rPr lang="en-US" sz="28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800" b="1" dirty="0">
                <a:solidFill>
                  <a:schemeClr val="tx1">
                    <a:alpha val="80000"/>
                  </a:schemeClr>
                </a:solidFill>
              </a:rPr>
              <a:t>Stay Connected:</a:t>
            </a:r>
            <a:br>
              <a:rPr lang="en-US" sz="28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800" dirty="0">
                <a:solidFill>
                  <a:schemeClr val="tx1">
                    <a:alpha val="80000"/>
                  </a:schemeClr>
                </a:solidFill>
                <a:hlinkClick r:id="rId3"/>
              </a:rPr>
              <a:t>LinkedIn Profile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: 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  <a:hlinkClick r:id="rId4"/>
              </a:rPr>
              <a:t>https://www.linkedin.com/in/farshid-keivanian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1">
                    <a:alpha val="80000"/>
                  </a:schemeClr>
                </a:solidFill>
              </a:rPr>
              <a:t>Education is the most powerful weapon you can use to change the world. </a:t>
            </a:r>
            <a:r>
              <a:rPr lang="en-US" sz="2800" dirty="0">
                <a:solidFill>
                  <a:schemeClr val="tx1">
                    <a:alpha val="80000"/>
                  </a:schemeClr>
                </a:solidFill>
              </a:rPr>
              <a:t>— Nelson Mandela</a:t>
            </a:r>
          </a:p>
        </p:txBody>
      </p: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3622</Words>
  <Application>Microsoft Office PowerPoint</Application>
  <PresentationFormat>Widescreen</PresentationFormat>
  <Paragraphs>808</Paragraphs>
  <Slides>97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3" baseType="lpstr">
      <vt:lpstr>Aptos</vt:lpstr>
      <vt:lpstr>Aptos Display</vt:lpstr>
      <vt:lpstr>Arial</vt:lpstr>
      <vt:lpstr>Calibir</vt:lpstr>
      <vt:lpstr>Calibri</vt:lpstr>
      <vt:lpstr>Office Theme</vt:lpstr>
      <vt:lpstr>DATM754 Natural Language Processing and Generative Artificial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117</cp:revision>
  <dcterms:created xsi:type="dcterms:W3CDTF">2026-09-08T03:49:35Z</dcterms:created>
  <dcterms:modified xsi:type="dcterms:W3CDTF">2026-09-22T03:53:20Z</dcterms:modified>
</cp:coreProperties>
</file>
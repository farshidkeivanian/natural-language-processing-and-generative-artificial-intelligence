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97" r:id="rId4"/>
    <p:sldId id="298" r:id="rId5"/>
    <p:sldId id="268" r:id="rId6"/>
    <p:sldId id="270" r:id="rId7"/>
    <p:sldId id="299" r:id="rId8"/>
    <p:sldId id="300" r:id="rId9"/>
    <p:sldId id="301" r:id="rId10"/>
    <p:sldId id="279" r:id="rId11"/>
    <p:sldId id="289" r:id="rId12"/>
    <p:sldId id="290" r:id="rId13"/>
    <p:sldId id="280" r:id="rId14"/>
    <p:sldId id="291" r:id="rId15"/>
    <p:sldId id="292" r:id="rId16"/>
    <p:sldId id="293" r:id="rId17"/>
    <p:sldId id="294" r:id="rId18"/>
    <p:sldId id="295" r:id="rId19"/>
    <p:sldId id="281" r:id="rId20"/>
    <p:sldId id="283" r:id="rId21"/>
    <p:sldId id="296" r:id="rId22"/>
    <p:sldId id="282" r:id="rId23"/>
    <p:sldId id="273" r:id="rId24"/>
    <p:sldId id="284" r:id="rId25"/>
    <p:sldId id="285" r:id="rId26"/>
    <p:sldId id="275" r:id="rId27"/>
    <p:sldId id="276" r:id="rId28"/>
    <p:sldId id="287" r:id="rId29"/>
    <p:sldId id="288"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421" autoAdjust="0"/>
  </p:normalViewPr>
  <p:slideViewPr>
    <p:cSldViewPr snapToGrid="0" snapToObjects="1">
      <p:cViewPr varScale="1">
        <p:scale>
          <a:sx n="62" d="100"/>
          <a:sy n="62" d="100"/>
        </p:scale>
        <p:origin x="1235" y="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201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7D201-226F-6B69-C41D-7D2DBD609E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CD607-C7B7-58C7-4326-E1A25BBB32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D93CF2-2DA9-77C8-33F7-9B7A98B24F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65D27E-C499-58BF-17A2-BD0AE80E31B3}"/>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160090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20CE8-17E6-0EFA-6BCD-0901DFB2F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50D12-9DC0-4457-1FEB-16742A0A7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98DAC-A9B1-33BD-6484-075C9702B8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134BA00-9A45-DA73-0D53-737B94953973}"/>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82744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0B116-71AA-8328-3E7A-478C3357F3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3B923C-759D-2C90-A49D-C4AF9F265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7A97B-8605-3950-E297-8E1BD0CAB7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6A8AA1-C68E-B0E6-1932-463BFB6D1E5A}"/>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23296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AAC36-EE1F-8FB0-451E-9A00BB4587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0F245-971D-AF9B-6CCD-EB65AF8D6F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4639B-11B4-3369-9B0A-09ACAE922D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310806-5FAF-FF6E-527A-6ECB1AAAC2F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205114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3B9EC-5423-73A6-A2FB-7A02D09E1E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A6050-A9AC-ADEC-57B9-71692FC795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AEC70D-905C-36F4-E26F-0DA80DF593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48AD65-1932-FA77-9F90-73826C852D9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6147163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29C6-380C-6F6F-C1EC-04F61FE73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3AA23-018E-A650-A3AD-CF58BDD2E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CAE45A-9CC3-F0FE-BC8F-0BF670261E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B368B1-34BE-47CA-7EB0-ECFFAAF7655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36817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AAE9-902B-F376-E552-FB891B428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B4DBDE-F83C-8394-5696-BFCB065ED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0ED42E-B5F6-0B49-F54B-F18A6AA878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A52E8D0-1A0D-F6BB-1FBF-C2645C57117E}"/>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583524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7328-ED8D-05A5-A42B-D5AE69962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49C83-A4C0-0D2D-7BDC-EC079B5B76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E166ED-DEFE-180D-2629-13BFE3678DC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860E9A-1AD0-7501-87B2-3E126570EC44}"/>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324122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7C4F4-394F-CD32-963D-876F6B865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D102A5-4544-71E5-CDCD-B21C6AFED9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B8F125-9677-7F9B-852B-26B8942D10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092233A-4EC1-06D7-3A53-BC03757F56B1}"/>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9357123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74DAF-A841-21FC-B821-29D0D3AF2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C549D-B3A8-C9BA-BA1F-2016ADC596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A0437-6FB2-9F9C-78F3-5FBE097482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32AC1E-0AA4-72CC-9CC0-083BF29554B3}"/>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655853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65D03-7158-D80E-9699-DEB826CE3F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72876-FEAA-4328-D465-1035607E9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E606C-FEF9-ABC2-F4C7-80400010F3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06D53-894A-1E70-CBC0-0F94B88D41A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5525661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21C57-2A60-76E4-0EDB-6675A6B5AB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F096E3-4A7D-B69F-9A64-C4D155CD5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22380-D148-A25C-1BED-D1C3905391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FE9D64-1422-41ED-22AC-34902153E0A6}"/>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22390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2B52A-9BB2-2826-31FF-EAF4BCB646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110C2B-7620-41BF-6A71-7888169BA6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E72E5-403E-B3FB-2C9D-82682B78FD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830318-79C9-C3D1-B605-288665CF835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579522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399E2-BBF1-4E7A-148B-3167009B46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6D0E8-52C4-14BF-2236-2C409D392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7FE2E7-BD1A-85BE-7090-B5395702DB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AF2252-ED2A-11EF-020A-4CB9C97BFAE6}"/>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3033290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B7686-C3A8-28CD-7199-F97D0A50A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29FBB-B376-DC9A-C762-95E77C250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7D37E5-D6EA-20E7-B7F3-BCF856020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F7591-B504-8890-5935-39C9FF03A4B5}"/>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9474253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FDA93-7500-4852-B046-733EA6D4E3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4CD99-D2E2-9093-DDD3-7152CE62B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88D645-6815-3671-EA99-AB0D528719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F42553-C648-F7F7-0620-47A91C3ABC67}"/>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9902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E3B51-FC3C-EDFB-7190-FE73CE1D3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D46DD2-19A9-B303-ADB2-A0B5B4805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B5702B-362D-11D4-E6E6-2C1199BF153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892DA3-2A32-A4B6-CB22-294346B68F01}"/>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8006493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7B929-080C-7FD5-32B0-862DE8F772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1C0D49-41B2-3DF4-FD30-C2073613A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517188-8736-D5C9-CD80-9F43B6DA3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130132-BE15-8798-E53D-8EF4E02825A9}"/>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8823925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17B24-10BA-0E13-E7ED-F97354416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F4EE6-D974-171A-61FA-D1EF146277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03F781-0556-F704-B600-9D072AB54A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1677B0-01B6-6A85-5150-7F0C15F6277A}"/>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7534268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92E9C-3626-185A-E3B9-FFDD3A5972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EEBD1-92EB-4585-7E20-DE7E7D5D24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6CB4F-4A39-8AB2-C917-A3E99B7EF52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8E9DC2F-BF03-E599-56D1-43019AC53D0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949443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933D3-C59D-7303-F44C-DA2954E79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09BF6C-5509-BD90-8C0A-B48DD01E84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9DFB4E-26CB-161F-63C1-D0E866323B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6BE761-E7CC-F253-F7B2-3CC58EE3146E}"/>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709556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E8CD9-E569-0BDE-C844-9AE90E87D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CA7020-759E-53FE-11BB-EE1463D340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A397E4-F15D-71A1-15AA-81D7CDFD7F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540550-B958-F101-906B-F64C3ED0308C}"/>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3288824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04525-149B-A495-D1D7-5975E9E23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26863-1656-96AA-2A04-CB7BA9C78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3C4BE-E3E2-9EE3-AC92-C25BC1B20E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2FFA1E-AC3F-2A61-BB76-1DE1EE753AA3}"/>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3413818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21A5FD-4196-D5BF-C700-54EE51E874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F52962-BEE5-3894-3AA4-8C2A85154F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D3E75C-7E25-A690-3AB7-BE7725CE5B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417AE2-16C3-5E78-30B8-E9E01538004F}"/>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46018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24849-3D41-647C-6BD5-AD72922AC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EC122-1740-FBDE-7421-8F90C773F9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CA107D-BD17-8E90-BED4-49EE886499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C1903E-F065-0AFE-DFD2-DABB73C7EAD0}"/>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4802277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1C8AA-3BA5-9E1B-3777-00E35E7C4F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960A8D-57D6-4608-2CC9-D9D6CF6C51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966EA4-99EB-7FAC-2C12-1E031F71C0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419818-4177-F478-6496-CCD76D484D36}"/>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611148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473F4-6362-B2C9-8193-12274E95F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67F739-9FE6-76F8-8D9D-8CEA6318DC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CF20B9-9F4B-370E-9B4C-9488414F11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FDC606-8475-A628-A251-72B9177273AB}"/>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647160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8FB"/>
          </a:solidFill>
          <a:ln w="12700">
            <a:solidFill>
              <a:srgbClr val="F7F8FB"/>
            </a:solidFill>
            <a:prstDash val="solid"/>
          </a:ln>
        </p:spPr>
        <p:txBody>
          <a:bodyPr/>
          <a:lstStyle/>
          <a:p>
            <a:endParaRPr lang="en-US"/>
          </a:p>
        </p:txBody>
      </p:sp>
      <p:sp>
        <p:nvSpPr>
          <p:cNvPr id="3" name="Shape 1"/>
          <p:cNvSpPr/>
          <p:nvPr/>
        </p:nvSpPr>
        <p:spPr>
          <a:xfrm>
            <a:off x="0" y="6601968"/>
            <a:ext cx="12191695" cy="256032"/>
          </a:xfrm>
          <a:prstGeom prst="rect">
            <a:avLst/>
          </a:prstGeom>
          <a:solidFill>
            <a:srgbClr val="263238"/>
          </a:solidFill>
          <a:ln w="12700">
            <a:solidFill>
              <a:srgbClr val="263238"/>
            </a:solidFill>
            <a:prstDash val="solid"/>
          </a:ln>
        </p:spPr>
        <p:txBody>
          <a:bodyPr/>
          <a:lstStyle/>
          <a:p>
            <a:endParaRPr lang="en-US"/>
          </a:p>
        </p:txBody>
      </p:sp>
      <p:sp>
        <p:nvSpPr>
          <p:cNvPr id="4" name="Text 2"/>
          <p:cNvSpPr/>
          <p:nvPr/>
        </p:nvSpPr>
        <p:spPr>
          <a:xfrm>
            <a:off x="502920" y="6652260"/>
            <a:ext cx="3474720" cy="137160"/>
          </a:xfrm>
          <a:prstGeom prst="rect">
            <a:avLst/>
          </a:prstGeom>
          <a:noFill/>
          <a:ln/>
        </p:spPr>
        <p:txBody>
          <a:bodyPr wrap="square" lIns="0" tIns="0" rIns="0" bIns="0" rtlCol="0" anchor="ctr"/>
          <a:lstStyle/>
          <a:p>
            <a:pPr marL="0" indent="0">
              <a:buNone/>
            </a:pPr>
            <a:r>
              <a:rPr lang="en-US" sz="700" dirty="0">
                <a:solidFill>
                  <a:srgbClr val="FFFFFF"/>
                </a:solidFill>
                <a:latin typeface="Aptos" pitchFamily="34" charset="0"/>
                <a:ea typeface="Aptos" pitchFamily="34" charset="-122"/>
                <a:cs typeface="Aptos" pitchFamily="34" charset="-120"/>
              </a:rPr>
              <a:t>LLM demo class | 15 minutes</a:t>
            </a:r>
            <a:endParaRPr lang="en-US" sz="700" dirty="0"/>
          </a:p>
        </p:txBody>
      </p:sp>
      <p:sp>
        <p:nvSpPr>
          <p:cNvPr id="25" name="Slide Number Placeholder 0"/>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colab.research.google.com/drive/1QjxSJ95se_UqrQvn7ZStzZQV1TtfcJyL?usp=sharing"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hyperlink" Target="https://colab.research.google.com/drive/1QjxSJ95se_UqrQvn7ZStzZQV1TtfcJyL?usp=sharing"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B2559"/>
          </a:solidFill>
          <a:ln w="12700">
            <a:solidFill>
              <a:srgbClr val="1B2559"/>
            </a:solidFill>
            <a:prstDash val="solid"/>
          </a:ln>
        </p:spPr>
        <p:txBody>
          <a:bodyPr/>
          <a:lstStyle/>
          <a:p>
            <a:endParaRPr lang="en-US"/>
          </a:p>
        </p:txBody>
      </p:sp>
      <p:sp>
        <p:nvSpPr>
          <p:cNvPr id="3" name="Text 1"/>
          <p:cNvSpPr/>
          <p:nvPr/>
        </p:nvSpPr>
        <p:spPr>
          <a:xfrm>
            <a:off x="640080" y="1051560"/>
            <a:ext cx="6583680" cy="1234440"/>
          </a:xfrm>
          <a:prstGeom prst="rect">
            <a:avLst/>
          </a:prstGeom>
          <a:noFill/>
          <a:ln/>
        </p:spPr>
        <p:txBody>
          <a:bodyPr wrap="square" lIns="0" tIns="0" rIns="0" bIns="0" rtlCol="0" anchor="ctr"/>
          <a:lstStyle/>
          <a:p>
            <a:pPr marL="0" indent="0">
              <a:buNone/>
            </a:pPr>
            <a:r>
              <a:rPr lang="en-US" sz="3600" b="1" dirty="0">
                <a:solidFill>
                  <a:srgbClr val="FFFFFF"/>
                </a:solidFill>
                <a:latin typeface="Aptos Display" pitchFamily="34" charset="0"/>
                <a:ea typeface="Aptos Display" pitchFamily="34" charset="-122"/>
                <a:cs typeface="Aptos Display" pitchFamily="34" charset="-120"/>
              </a:rPr>
              <a:t>What is an LLM, and how does it work?</a:t>
            </a:r>
            <a:endParaRPr lang="en-US" sz="3600" dirty="0"/>
          </a:p>
        </p:txBody>
      </p:sp>
      <p:sp>
        <p:nvSpPr>
          <p:cNvPr id="5" name="Shape 3"/>
          <p:cNvSpPr/>
          <p:nvPr/>
        </p:nvSpPr>
        <p:spPr>
          <a:xfrm>
            <a:off x="676656" y="3063239"/>
            <a:ext cx="5021618" cy="1330341"/>
          </a:xfrm>
          <a:prstGeom prst="roundRect">
            <a:avLst>
              <a:gd name="adj" fmla="val 25000"/>
            </a:avLst>
          </a:prstGeom>
          <a:solidFill>
            <a:schemeClr val="accent2"/>
          </a:solidFill>
          <a:ln w="12700">
            <a:solidFill>
              <a:srgbClr val="00A6A6"/>
            </a:solidFill>
            <a:prstDash val="solid"/>
          </a:ln>
          <a:effectLst>
            <a:outerShdw blurRad="19050" dist="6350" dir="2700000" algn="bl" rotWithShape="0">
              <a:srgbClr val="000000">
                <a:alpha val="11000"/>
              </a:srgbClr>
            </a:outerShdw>
          </a:effectLst>
        </p:spPr>
        <p:txBody>
          <a:bodyPr/>
          <a:lstStyle/>
          <a:p>
            <a:endParaRPr lang="en-US"/>
          </a:p>
        </p:txBody>
      </p:sp>
      <p:sp>
        <p:nvSpPr>
          <p:cNvPr id="6" name="Text 4"/>
          <p:cNvSpPr/>
          <p:nvPr/>
        </p:nvSpPr>
        <p:spPr>
          <a:xfrm>
            <a:off x="763524" y="3086100"/>
            <a:ext cx="4934749" cy="1307480"/>
          </a:xfrm>
          <a:prstGeom prst="rect">
            <a:avLst/>
          </a:prstGeom>
          <a:noFill/>
          <a:ln/>
        </p:spPr>
        <p:txBody>
          <a:bodyPr wrap="square" lIns="0" tIns="0" rIns="0" bIns="0" rtlCol="0" anchor="ctr"/>
          <a:lstStyle/>
          <a:p>
            <a:pPr algn="ctr"/>
            <a:r>
              <a:rPr lang="en-US" sz="2600" dirty="0">
                <a:latin typeface="Calibri" panose="020F0502020204030204" pitchFamily="34" charset="0"/>
                <a:cs typeface="Calibri" panose="020F0502020204030204" pitchFamily="34" charset="0"/>
              </a:rPr>
              <a:t>When ChatGPT answers a question, is it looking up a complete answer — or generating one token at a time?</a:t>
            </a:r>
          </a:p>
        </p:txBody>
      </p:sp>
      <p:sp>
        <p:nvSpPr>
          <p:cNvPr id="11" name="Shape 9"/>
          <p:cNvSpPr/>
          <p:nvPr/>
        </p:nvSpPr>
        <p:spPr>
          <a:xfrm>
            <a:off x="7452360" y="1234440"/>
            <a:ext cx="3532315" cy="2921924"/>
          </a:xfrm>
          <a:prstGeom prst="roundRect">
            <a:avLst>
              <a:gd name="adj" fmla="val 3019"/>
            </a:avLst>
          </a:prstGeom>
          <a:solidFill>
            <a:srgbClr val="FFFFFF"/>
          </a:solidFill>
          <a:ln w="12700">
            <a:solidFill>
              <a:srgbClr val="CBD5E1"/>
            </a:solidFill>
            <a:prstDash val="solid"/>
          </a:ln>
          <a:effectLst>
            <a:outerShdw blurRad="15240" dist="7620" dir="2700000" algn="bl" rotWithShape="0">
              <a:srgbClr val="000000">
                <a:alpha val="10000"/>
              </a:srgbClr>
            </a:outerShdw>
          </a:effectLst>
        </p:spPr>
        <p:txBody>
          <a:bodyPr/>
          <a:lstStyle/>
          <a:p>
            <a:endParaRPr lang="en-US"/>
          </a:p>
        </p:txBody>
      </p:sp>
      <p:sp>
        <p:nvSpPr>
          <p:cNvPr id="12" name="Text 10"/>
          <p:cNvSpPr/>
          <p:nvPr/>
        </p:nvSpPr>
        <p:spPr>
          <a:xfrm>
            <a:off x="7552706" y="1234441"/>
            <a:ext cx="3365230" cy="2921924"/>
          </a:xfrm>
          <a:prstGeom prst="rect">
            <a:avLst/>
          </a:prstGeom>
          <a:noFill/>
          <a:ln/>
        </p:spPr>
        <p:txBody>
          <a:bodyPr wrap="square" lIns="254" tIns="254" rIns="254" bIns="254" rtlCol="0" anchor="ctr">
            <a:normAutofit fontScale="92500" lnSpcReduction="10000"/>
          </a:bodyPr>
          <a:lstStyle/>
          <a:p>
            <a:r>
              <a:rPr lang="en-US" sz="1600" b="1" dirty="0">
                <a:latin typeface="Calibri" panose="020F0502020204030204" pitchFamily="34" charset="0"/>
                <a:cs typeface="Calibri" panose="020F0502020204030204" pitchFamily="34" charset="0"/>
              </a:rPr>
              <a:t>By the end of this session, you will be able to:</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Explain how an LLM generates text. </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Describe tokens, context, embeddings, and attention. </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Explain next-token prediction. </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Improve a prompt for better answers. </a:t>
            </a:r>
          </a:p>
          <a:p>
            <a:pPr marL="534988" lvl="0" indent="-342900">
              <a:buFont typeface="+mj-lt"/>
              <a:buAutoNum type="arabicPeriod"/>
            </a:pPr>
            <a:r>
              <a:rPr lang="en-US" sz="1600" dirty="0" err="1">
                <a:latin typeface="Calibri" panose="020F0502020204030204" pitchFamily="34" charset="0"/>
                <a:cs typeface="Calibri" panose="020F0502020204030204" pitchFamily="34" charset="0"/>
              </a:rPr>
              <a:t>Recognise</a:t>
            </a:r>
            <a:r>
              <a:rPr lang="en-US" sz="1600" dirty="0">
                <a:latin typeface="Calibri" panose="020F0502020204030204" pitchFamily="34" charset="0"/>
                <a:cs typeface="Calibri" panose="020F0502020204030204" pitchFamily="34" charset="0"/>
              </a:rPr>
              <a:t> limitations and hallucinations. </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Evaluate AI responses critically. </a:t>
            </a:r>
          </a:p>
          <a:p>
            <a:pPr marL="534988" lvl="0" indent="-342900">
              <a:buFont typeface="+mj-lt"/>
              <a:buAutoNum type="arabicPeriod"/>
            </a:pPr>
            <a:r>
              <a:rPr lang="en-US" sz="1600" dirty="0">
                <a:latin typeface="Calibri" panose="020F0502020204030204" pitchFamily="34" charset="0"/>
                <a:cs typeface="Calibri" panose="020F0502020204030204" pitchFamily="34" charset="0"/>
              </a:rPr>
              <a:t>Run and modify a simple LLM example in Google </a:t>
            </a:r>
            <a:r>
              <a:rPr lang="en-US" sz="1600" dirty="0" err="1">
                <a:latin typeface="Calibri" panose="020F0502020204030204" pitchFamily="34" charset="0"/>
                <a:cs typeface="Calibri" panose="020F0502020204030204" pitchFamily="34" charset="0"/>
              </a:rPr>
              <a:t>Colab</a:t>
            </a:r>
            <a:r>
              <a:rPr lang="en-US" sz="1600" dirty="0">
                <a:latin typeface="Calibri" panose="020F0502020204030204" pitchFamily="34" charset="0"/>
                <a:cs typeface="Calibri" panose="020F0502020204030204" pitchFamily="34" charset="0"/>
              </a:rPr>
              <a:t>.</a:t>
            </a:r>
          </a:p>
        </p:txBody>
      </p:sp>
      <p:sp>
        <p:nvSpPr>
          <p:cNvPr id="25" name="Slide Number Placeholder 0"/>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a:t>
            </a:fld>
            <a:endParaRPr lang="en-US"/>
          </a:p>
        </p:txBody>
      </p:sp>
      <p:sp>
        <p:nvSpPr>
          <p:cNvPr id="13" name="Text 2">
            <a:extLst>
              <a:ext uri="{FF2B5EF4-FFF2-40B4-BE49-F238E27FC236}">
                <a16:creationId xmlns:a16="http://schemas.microsoft.com/office/drawing/2014/main" id="{39B12AEB-4E16-D626-298D-50E15EDB4C1F}"/>
              </a:ext>
            </a:extLst>
          </p:cNvPr>
          <p:cNvSpPr/>
          <p:nvPr/>
        </p:nvSpPr>
        <p:spPr>
          <a:xfrm>
            <a:off x="640080" y="5145730"/>
            <a:ext cx="6400800" cy="320040"/>
          </a:xfrm>
          <a:prstGeom prst="rect">
            <a:avLst/>
          </a:prstGeom>
          <a:noFill/>
          <a:ln/>
        </p:spPr>
        <p:txBody>
          <a:bodyPr wrap="square" lIns="0" tIns="0" rIns="0" bIns="0" rtlCol="0" anchor="ctr"/>
          <a:lstStyle/>
          <a:p>
            <a:r>
              <a:rPr lang="en-US" sz="1550" dirty="0">
                <a:solidFill>
                  <a:srgbClr val="DDE8FF"/>
                </a:solidFill>
                <a:latin typeface="Aptos" pitchFamily="34" charset="0"/>
                <a:ea typeface="Aptos" pitchFamily="34" charset="-122"/>
                <a:cs typeface="Aptos" pitchFamily="34" charset="-120"/>
              </a:rPr>
              <a:t>Dr. Farshid Keivanian</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7955280" cy="411480"/>
          </a:xfrm>
          <a:prstGeom prst="rect">
            <a:avLst/>
          </a:prstGeom>
          <a:noFill/>
          <a:ln/>
        </p:spPr>
        <p:txBody>
          <a:bodyPr wrap="square" lIns="0" tIns="0" rIns="0" bIns="0" rtlCol="0" anchor="ctr"/>
          <a:lstStyle/>
          <a:p>
            <a:r>
              <a:rPr lang="en-US" sz="3600" b="1" dirty="0">
                <a:solidFill>
                  <a:srgbClr val="1B2559"/>
                </a:solidFill>
                <a:latin typeface="Calibri" panose="020F0502020204030204" pitchFamily="34" charset="0"/>
                <a:ea typeface="Aptos Display" pitchFamily="34" charset="-122"/>
                <a:cs typeface="Calibri" panose="020F0502020204030204" pitchFamily="34" charset="0"/>
              </a:rPr>
              <a:t>What is a Large Language Model?</a:t>
            </a:r>
            <a:endParaRPr lang="en-US" sz="3600" dirty="0">
              <a:latin typeface="Calibri" panose="020F0502020204030204" pitchFamily="34" charset="0"/>
              <a:cs typeface="Calibri" panose="020F0502020204030204" pitchFamily="34" charset="0"/>
            </a:endParaRPr>
          </a:p>
        </p:txBody>
      </p:sp>
      <p:sp>
        <p:nvSpPr>
          <p:cNvPr id="33" name="Text 31"/>
          <p:cNvSpPr/>
          <p:nvPr/>
        </p:nvSpPr>
        <p:spPr>
          <a:xfrm>
            <a:off x="7635240" y="6652260"/>
            <a:ext cx="3474720" cy="109728"/>
          </a:xfrm>
          <a:prstGeom prst="rect">
            <a:avLst/>
          </a:prstGeom>
          <a:noFill/>
          <a:ln/>
        </p:spPr>
        <p:txBody>
          <a:bodyPr wrap="square" lIns="0" tIns="0" rIns="0" bIns="0" rtlCol="0" anchor="ctr"/>
          <a:lstStyle/>
          <a:p>
            <a:pPr marL="0" indent="0" algn="r">
              <a:buNone/>
            </a:pPr>
            <a:r>
              <a:rPr lang="en-US" sz="700" dirty="0">
                <a:solidFill>
                  <a:srgbClr val="E2E8F0"/>
                </a:solidFill>
                <a:latin typeface="Aptos" pitchFamily="34" charset="0"/>
                <a:ea typeface="Aptos" pitchFamily="34" charset="-122"/>
                <a:cs typeface="Aptos" pitchFamily="34" charset="-120"/>
              </a:rPr>
              <a:t>Use this as the timing guide</a:t>
            </a:r>
            <a:endParaRPr lang="en-US" sz="700" dirty="0"/>
          </a:p>
        </p:txBody>
      </p:sp>
      <p:sp>
        <p:nvSpPr>
          <p:cNvPr id="34" name="Slide Number Placeholder 0"/>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a:t>
            </a:fld>
            <a:endParaRPr lang="en-US"/>
          </a:p>
        </p:txBody>
      </p:sp>
      <p:sp>
        <p:nvSpPr>
          <p:cNvPr id="5" name="Shape 3">
            <a:extLst>
              <a:ext uri="{FF2B5EF4-FFF2-40B4-BE49-F238E27FC236}">
                <a16:creationId xmlns:a16="http://schemas.microsoft.com/office/drawing/2014/main" id="{62D6492A-D289-F216-92ED-4EE32AE04629}"/>
              </a:ext>
            </a:extLst>
          </p:cNvPr>
          <p:cNvSpPr/>
          <p:nvPr/>
        </p:nvSpPr>
        <p:spPr>
          <a:xfrm>
            <a:off x="676655" y="1140031"/>
            <a:ext cx="10753345" cy="5237018"/>
          </a:xfrm>
          <a:prstGeom prst="roundRect">
            <a:avLst>
              <a:gd name="adj" fmla="val 12982"/>
            </a:avLst>
          </a:prstGeom>
          <a:solidFill>
            <a:schemeClr val="accent5">
              <a:lumMod val="20000"/>
              <a:lumOff val="80000"/>
            </a:schemeClr>
          </a:solidFill>
          <a:ln w="12700">
            <a:solidFill>
              <a:srgbClr val="00A6A6"/>
            </a:solidFill>
            <a:prstDash val="solid"/>
          </a:ln>
          <a:effectLst>
            <a:outerShdw blurRad="19050" dist="6350" dir="2700000" algn="bl" rotWithShape="0">
              <a:srgbClr val="000000">
                <a:alpha val="11000"/>
              </a:srgbClr>
            </a:outerShdw>
          </a:effectLst>
        </p:spPr>
        <p:txBody>
          <a:bodyPr/>
          <a:lstStyle/>
          <a:p>
            <a:endParaRPr lang="en-US"/>
          </a:p>
        </p:txBody>
      </p:sp>
      <p:sp>
        <p:nvSpPr>
          <p:cNvPr id="9" name="Text 4">
            <a:extLst>
              <a:ext uri="{FF2B5EF4-FFF2-40B4-BE49-F238E27FC236}">
                <a16:creationId xmlns:a16="http://schemas.microsoft.com/office/drawing/2014/main" id="{3DCB6F8A-80FD-3D0E-401D-33882203A512}"/>
              </a:ext>
            </a:extLst>
          </p:cNvPr>
          <p:cNvSpPr/>
          <p:nvPr/>
        </p:nvSpPr>
        <p:spPr>
          <a:xfrm>
            <a:off x="1021278" y="1425039"/>
            <a:ext cx="9547761" cy="4616651"/>
          </a:xfrm>
          <a:prstGeom prst="rect">
            <a:avLst/>
          </a:prstGeom>
          <a:noFill/>
          <a:ln/>
        </p:spPr>
        <p:txBody>
          <a:bodyPr wrap="square" lIns="0" tIns="0" rIns="0" bIns="0" rtlCol="0" anchor="ctr"/>
          <a:lstStyle/>
          <a:p>
            <a:pPr>
              <a:lnSpc>
                <a:spcPct val="150000"/>
              </a:lnSpc>
            </a:pPr>
            <a:r>
              <a:rPr lang="en-US" sz="2800" dirty="0">
                <a:latin typeface="Calibri" panose="020F0502020204030204" pitchFamily="34" charset="0"/>
                <a:cs typeface="Calibri" panose="020F0502020204030204" pitchFamily="34" charset="0"/>
              </a:rPr>
              <a:t>A Large Language Model (LLM) is an AI model trained on very large amounts of text to learn patterns in language.</a:t>
            </a:r>
          </a:p>
          <a:p>
            <a:pPr>
              <a:lnSpc>
                <a:spcPct val="150000"/>
              </a:lnSpc>
            </a:pPr>
            <a:r>
              <a:rPr lang="en-US" sz="2800" dirty="0">
                <a:latin typeface="Calibri" panose="020F0502020204030204" pitchFamily="34" charset="0"/>
                <a:cs typeface="Calibri" panose="020F0502020204030204" pitchFamily="34" charset="0"/>
              </a:rPr>
              <a:t>When you give it a prompt, it:</a:t>
            </a:r>
          </a:p>
          <a:p>
            <a:pPr marL="712788"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breaks the text into smaller units called tokens, </a:t>
            </a:r>
          </a:p>
          <a:p>
            <a:pPr marL="712788"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represents those tokens numerically, </a:t>
            </a:r>
          </a:p>
          <a:p>
            <a:pPr marL="712788"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uses the surrounding context to interpret them, </a:t>
            </a:r>
          </a:p>
          <a:p>
            <a:pPr marL="712788"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predicts a suitable next token, and </a:t>
            </a:r>
          </a:p>
          <a:p>
            <a:pPr marL="712788" lvl="0" indent="-457200">
              <a:lnSpc>
                <a:spcPct val="150000"/>
              </a:lnSpc>
              <a:buFont typeface="Arial" panose="020B0604020202020204" pitchFamily="34" charset="0"/>
              <a:buChar char="•"/>
            </a:pPr>
            <a:r>
              <a:rPr lang="en-US" sz="2400" dirty="0">
                <a:latin typeface="Calibri" panose="020F0502020204030204" pitchFamily="34" charset="0"/>
                <a:cs typeface="Calibri" panose="020F0502020204030204" pitchFamily="34" charset="0"/>
              </a:rPr>
              <a:t>repeats this process to generate a response.</a:t>
            </a:r>
          </a:p>
        </p:txBody>
      </p:sp>
      <p:pic>
        <p:nvPicPr>
          <p:cNvPr id="11" name="Picture 10">
            <a:extLst>
              <a:ext uri="{FF2B5EF4-FFF2-40B4-BE49-F238E27FC236}">
                <a16:creationId xmlns:a16="http://schemas.microsoft.com/office/drawing/2014/main" id="{CECE8BCF-F488-3512-EC06-95BE1658DA7F}"/>
              </a:ext>
            </a:extLst>
          </p:cNvPr>
          <p:cNvPicPr>
            <a:picLocks noChangeAspect="1"/>
          </p:cNvPicPr>
          <p:nvPr/>
        </p:nvPicPr>
        <p:blipFill>
          <a:blip r:embed="rId3"/>
          <a:srcRect l="37171" t="6570" r="33561" b="53756"/>
          <a:stretch>
            <a:fillRect/>
          </a:stretch>
        </p:blipFill>
        <p:spPr>
          <a:xfrm>
            <a:off x="8006818" y="2811869"/>
            <a:ext cx="2731563" cy="2468524"/>
          </a:xfrm>
          <a:prstGeom prst="rect">
            <a:avLst/>
          </a:prstGeom>
        </p:spPr>
      </p:pic>
      <p:sp>
        <p:nvSpPr>
          <p:cNvPr id="13" name="TextBox 12">
            <a:extLst>
              <a:ext uri="{FF2B5EF4-FFF2-40B4-BE49-F238E27FC236}">
                <a16:creationId xmlns:a16="http://schemas.microsoft.com/office/drawing/2014/main" id="{EB2A838E-9032-4ADD-63A1-C0C1BA641177}"/>
              </a:ext>
            </a:extLst>
          </p:cNvPr>
          <p:cNvSpPr txBox="1"/>
          <p:nvPr/>
        </p:nvSpPr>
        <p:spPr>
          <a:xfrm>
            <a:off x="8006818" y="4681563"/>
            <a:ext cx="2731563" cy="1477328"/>
          </a:xfrm>
          <a:prstGeom prst="rect">
            <a:avLst/>
          </a:prstGeom>
          <a:solidFill>
            <a:schemeClr val="bg1"/>
          </a:solidFill>
        </p:spPr>
        <p:txBody>
          <a:bodyPr wrap="square">
            <a:spAutoFit/>
          </a:bodyPr>
          <a:lstStyle/>
          <a:p>
            <a:r>
              <a:rPr lang="en-US" dirty="0">
                <a:latin typeface="Calibri" panose="020F0502020204030204" pitchFamily="34" charset="0"/>
                <a:cs typeface="Calibri" panose="020F0502020204030204" pitchFamily="34" charset="0"/>
              </a:rPr>
              <a:t>An LLM generates text one token at a time, using patterns learned during training and the context of your prompt.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2" presetClass="entr" presetSubtype="4"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par>
                                <p:cTn id="12" presetID="22" presetClass="entr" presetSubtype="4" fill="hold" grpId="0"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wipe(down)">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BF733-141D-8C71-B356-B4765C6A308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E119E9-8FC2-F4F0-FC68-20358BA3C2D1}"/>
              </a:ext>
            </a:extLst>
          </p:cNvPr>
          <p:cNvSpPr/>
          <p:nvPr/>
        </p:nvSpPr>
        <p:spPr>
          <a:xfrm>
            <a:off x="502920" y="320040"/>
            <a:ext cx="7955280" cy="411480"/>
          </a:xfrm>
          <a:prstGeom prst="rect">
            <a:avLst/>
          </a:prstGeom>
          <a:noFill/>
          <a:ln/>
        </p:spPr>
        <p:txBody>
          <a:bodyPr wrap="square" lIns="0" tIns="0" rIns="0" bIns="0" rtlCol="0" anchor="ctr"/>
          <a:lstStyle/>
          <a:p>
            <a:r>
              <a:rPr lang="en-US" sz="3600" b="1" dirty="0">
                <a:solidFill>
                  <a:srgbClr val="1B2559"/>
                </a:solidFill>
                <a:latin typeface="Calibri" panose="020F0502020204030204" pitchFamily="34" charset="0"/>
                <a:ea typeface="Aptos Display" pitchFamily="34" charset="-122"/>
                <a:cs typeface="Calibri" panose="020F0502020204030204" pitchFamily="34" charset="0"/>
              </a:rPr>
              <a:t>What is a Large Language Model?</a:t>
            </a:r>
            <a:endParaRPr lang="en-US" sz="3600" dirty="0">
              <a:latin typeface="Calibri" panose="020F0502020204030204" pitchFamily="34" charset="0"/>
              <a:cs typeface="Calibri" panose="020F0502020204030204" pitchFamily="34" charset="0"/>
            </a:endParaRPr>
          </a:p>
        </p:txBody>
      </p:sp>
      <p:sp>
        <p:nvSpPr>
          <p:cNvPr id="33" name="Text 31">
            <a:extLst>
              <a:ext uri="{FF2B5EF4-FFF2-40B4-BE49-F238E27FC236}">
                <a16:creationId xmlns:a16="http://schemas.microsoft.com/office/drawing/2014/main" id="{1A0DF591-D73E-1B5C-C7A1-F5D2077C1762}"/>
              </a:ext>
            </a:extLst>
          </p:cNvPr>
          <p:cNvSpPr/>
          <p:nvPr/>
        </p:nvSpPr>
        <p:spPr>
          <a:xfrm>
            <a:off x="7635240" y="6652260"/>
            <a:ext cx="3474720" cy="109728"/>
          </a:xfrm>
          <a:prstGeom prst="rect">
            <a:avLst/>
          </a:prstGeom>
          <a:noFill/>
          <a:ln/>
        </p:spPr>
        <p:txBody>
          <a:bodyPr wrap="square" lIns="0" tIns="0" rIns="0" bIns="0" rtlCol="0" anchor="ctr"/>
          <a:lstStyle/>
          <a:p>
            <a:pPr marL="0" indent="0" algn="r">
              <a:buNone/>
            </a:pPr>
            <a:r>
              <a:rPr lang="en-US" sz="700" dirty="0">
                <a:solidFill>
                  <a:srgbClr val="E2E8F0"/>
                </a:solidFill>
                <a:latin typeface="Aptos" pitchFamily="34" charset="0"/>
                <a:ea typeface="Aptos" pitchFamily="34" charset="-122"/>
                <a:cs typeface="Aptos" pitchFamily="34" charset="-120"/>
              </a:rPr>
              <a:t>Use this as the timing guide</a:t>
            </a:r>
            <a:endParaRPr lang="en-US" sz="700" dirty="0"/>
          </a:p>
        </p:txBody>
      </p:sp>
      <p:sp>
        <p:nvSpPr>
          <p:cNvPr id="34" name="Slide Number Placeholder 0">
            <a:extLst>
              <a:ext uri="{FF2B5EF4-FFF2-40B4-BE49-F238E27FC236}">
                <a16:creationId xmlns:a16="http://schemas.microsoft.com/office/drawing/2014/main" id="{1A91FD72-BDF8-5C30-3150-42398995C7D1}"/>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3</a:t>
            </a:fld>
            <a:endParaRPr lang="en-US"/>
          </a:p>
        </p:txBody>
      </p:sp>
      <p:sp>
        <p:nvSpPr>
          <p:cNvPr id="5" name="Shape 3">
            <a:extLst>
              <a:ext uri="{FF2B5EF4-FFF2-40B4-BE49-F238E27FC236}">
                <a16:creationId xmlns:a16="http://schemas.microsoft.com/office/drawing/2014/main" id="{202DB2F2-1697-2ABB-D038-1A34740333A7}"/>
              </a:ext>
            </a:extLst>
          </p:cNvPr>
          <p:cNvSpPr/>
          <p:nvPr/>
        </p:nvSpPr>
        <p:spPr>
          <a:xfrm>
            <a:off x="676655" y="1140031"/>
            <a:ext cx="10753345" cy="5237018"/>
          </a:xfrm>
          <a:prstGeom prst="roundRect">
            <a:avLst>
              <a:gd name="adj" fmla="val 12982"/>
            </a:avLst>
          </a:prstGeom>
          <a:solidFill>
            <a:schemeClr val="accent5">
              <a:lumMod val="20000"/>
              <a:lumOff val="80000"/>
            </a:schemeClr>
          </a:solidFill>
          <a:ln w="12700">
            <a:solidFill>
              <a:srgbClr val="00A6A6"/>
            </a:solidFill>
            <a:prstDash val="solid"/>
          </a:ln>
          <a:effectLst>
            <a:outerShdw blurRad="19050" dist="6350" dir="2700000" algn="bl" rotWithShape="0">
              <a:srgbClr val="000000">
                <a:alpha val="11000"/>
              </a:srgbClr>
            </a:outerShdw>
          </a:effectLst>
        </p:spPr>
        <p:txBody>
          <a:bodyPr/>
          <a:lstStyle/>
          <a:p>
            <a:endParaRPr lang="en-US"/>
          </a:p>
        </p:txBody>
      </p:sp>
      <p:sp>
        <p:nvSpPr>
          <p:cNvPr id="9" name="Text 4">
            <a:extLst>
              <a:ext uri="{FF2B5EF4-FFF2-40B4-BE49-F238E27FC236}">
                <a16:creationId xmlns:a16="http://schemas.microsoft.com/office/drawing/2014/main" id="{6E183AEA-4E34-05E6-C35C-27E9C7AB461D}"/>
              </a:ext>
            </a:extLst>
          </p:cNvPr>
          <p:cNvSpPr/>
          <p:nvPr/>
        </p:nvSpPr>
        <p:spPr>
          <a:xfrm>
            <a:off x="1021278" y="2015956"/>
            <a:ext cx="9547761" cy="3434818"/>
          </a:xfrm>
          <a:prstGeom prst="rect">
            <a:avLst/>
          </a:prstGeom>
          <a:noFill/>
          <a:ln/>
        </p:spPr>
        <p:txBody>
          <a:bodyPr wrap="square" lIns="0" tIns="0" rIns="0" bIns="0" rtlCol="0" anchor="ctr"/>
          <a:lstStyle/>
          <a:p>
            <a:pPr>
              <a:lnSpc>
                <a:spcPct val="150000"/>
              </a:lnSpc>
            </a:pPr>
            <a:r>
              <a:rPr lang="en-US" sz="2800" b="1" dirty="0">
                <a:latin typeface="Calibri" panose="020F0502020204030204" pitchFamily="34" charset="0"/>
                <a:cs typeface="Calibri" panose="020F0502020204030204" pitchFamily="34" charset="0"/>
              </a:rPr>
              <a:t>Key idea</a:t>
            </a:r>
          </a:p>
          <a:p>
            <a:pPr>
              <a:lnSpc>
                <a:spcPct val="150000"/>
              </a:lnSpc>
            </a:pPr>
            <a:r>
              <a:rPr lang="en-US" sz="2800" dirty="0">
                <a:latin typeface="Calibri" panose="020F0502020204030204" pitchFamily="34" charset="0"/>
                <a:cs typeface="Calibri" panose="020F0502020204030204" pitchFamily="34" charset="0"/>
              </a:rPr>
              <a:t>A base LLM does not normally look up a complete stored answer.</a:t>
            </a:r>
          </a:p>
          <a:p>
            <a:pPr>
              <a:lnSpc>
                <a:spcPct val="150000"/>
              </a:lnSpc>
            </a:pPr>
            <a:r>
              <a:rPr lang="en-US" sz="2800" b="1" dirty="0">
                <a:latin typeface="Calibri" panose="020F0502020204030204" pitchFamily="34" charset="0"/>
                <a:cs typeface="Calibri" panose="020F0502020204030204" pitchFamily="34" charset="0"/>
              </a:rPr>
              <a:t>Think:</a:t>
            </a:r>
            <a:r>
              <a:rPr lang="en-US" sz="2800" dirty="0">
                <a:latin typeface="Calibri" panose="020F0502020204030204" pitchFamily="34" charset="0"/>
                <a:cs typeface="Calibri" panose="020F0502020204030204" pitchFamily="34" charset="0"/>
              </a:rPr>
              <a:t> If an LLM predicts the next token, why can an answer sound convincing even when it is wrong?</a:t>
            </a:r>
          </a:p>
        </p:txBody>
      </p:sp>
    </p:spTree>
    <p:extLst>
      <p:ext uri="{BB962C8B-B14F-4D97-AF65-F5344CB8AC3E}">
        <p14:creationId xmlns:p14="http://schemas.microsoft.com/office/powerpoint/2010/main" val="1671645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74640-7988-C960-518A-D2C2C3CC63A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29CEFA-1F8D-B481-6A6A-993D0C2B4034}"/>
              </a:ext>
            </a:extLst>
          </p:cNvPr>
          <p:cNvSpPr/>
          <p:nvPr/>
        </p:nvSpPr>
        <p:spPr>
          <a:xfrm>
            <a:off x="502920" y="320040"/>
            <a:ext cx="9899864" cy="544780"/>
          </a:xfrm>
          <a:prstGeom prst="rect">
            <a:avLst/>
          </a:prstGeom>
          <a:noFill/>
          <a:ln/>
        </p:spPr>
        <p:txBody>
          <a:bodyPr wrap="square" lIns="0" tIns="0" rIns="0" bIns="0" rtlCol="0" anchor="ctr"/>
          <a:lstStyle/>
          <a:p>
            <a:r>
              <a:rPr lang="en-US" sz="3600" b="1" dirty="0">
                <a:solidFill>
                  <a:srgbClr val="1B2559"/>
                </a:solidFill>
                <a:latin typeface="Calibri" panose="020F0502020204030204" pitchFamily="34" charset="0"/>
                <a:ea typeface="Aptos Display" pitchFamily="34" charset="-122"/>
                <a:cs typeface="Calibri" panose="020F0502020204030204" pitchFamily="34" charset="0"/>
              </a:rPr>
              <a:t>How Does an LLM Turn a Question into an Answer?</a:t>
            </a:r>
            <a:endParaRPr lang="en-US" sz="3600" dirty="0">
              <a:latin typeface="Calibri" panose="020F0502020204030204" pitchFamily="34" charset="0"/>
              <a:cs typeface="Calibri" panose="020F0502020204030204" pitchFamily="34" charset="0"/>
            </a:endParaRPr>
          </a:p>
        </p:txBody>
      </p:sp>
      <p:sp>
        <p:nvSpPr>
          <p:cNvPr id="33" name="Text 31">
            <a:extLst>
              <a:ext uri="{FF2B5EF4-FFF2-40B4-BE49-F238E27FC236}">
                <a16:creationId xmlns:a16="http://schemas.microsoft.com/office/drawing/2014/main" id="{1FE626F5-1603-0CB3-BB41-59E41E23AA3B}"/>
              </a:ext>
            </a:extLst>
          </p:cNvPr>
          <p:cNvSpPr/>
          <p:nvPr/>
        </p:nvSpPr>
        <p:spPr>
          <a:xfrm>
            <a:off x="7635240" y="6652260"/>
            <a:ext cx="3474720" cy="109728"/>
          </a:xfrm>
          <a:prstGeom prst="rect">
            <a:avLst/>
          </a:prstGeom>
          <a:noFill/>
          <a:ln/>
        </p:spPr>
        <p:txBody>
          <a:bodyPr wrap="square" lIns="0" tIns="0" rIns="0" bIns="0" rtlCol="0" anchor="ctr"/>
          <a:lstStyle/>
          <a:p>
            <a:pPr marL="0" indent="0" algn="r">
              <a:buNone/>
            </a:pPr>
            <a:r>
              <a:rPr lang="en-US" sz="700" dirty="0">
                <a:solidFill>
                  <a:srgbClr val="E2E8F0"/>
                </a:solidFill>
                <a:latin typeface="Aptos" pitchFamily="34" charset="0"/>
                <a:ea typeface="Aptos" pitchFamily="34" charset="-122"/>
                <a:cs typeface="Aptos" pitchFamily="34" charset="-120"/>
              </a:rPr>
              <a:t>Use this as the timing guide</a:t>
            </a:r>
            <a:endParaRPr lang="en-US" sz="700" dirty="0"/>
          </a:p>
        </p:txBody>
      </p:sp>
      <p:sp>
        <p:nvSpPr>
          <p:cNvPr id="34" name="Slide Number Placeholder 0">
            <a:extLst>
              <a:ext uri="{FF2B5EF4-FFF2-40B4-BE49-F238E27FC236}">
                <a16:creationId xmlns:a16="http://schemas.microsoft.com/office/drawing/2014/main" id="{12D32B17-65FE-BBF8-91F2-1E7D906789A1}"/>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4</a:t>
            </a:fld>
            <a:endParaRPr lang="en-US"/>
          </a:p>
        </p:txBody>
      </p:sp>
      <p:pic>
        <p:nvPicPr>
          <p:cNvPr id="4" name="Picture 3">
            <a:extLst>
              <a:ext uri="{FF2B5EF4-FFF2-40B4-BE49-F238E27FC236}">
                <a16:creationId xmlns:a16="http://schemas.microsoft.com/office/drawing/2014/main" id="{1588D64B-7102-F968-02E5-6F0A14864DB2}"/>
              </a:ext>
            </a:extLst>
          </p:cNvPr>
          <p:cNvPicPr>
            <a:picLocks noChangeAspect="1"/>
          </p:cNvPicPr>
          <p:nvPr/>
        </p:nvPicPr>
        <p:blipFill>
          <a:blip r:embed="rId3"/>
          <a:srcRect t="12062"/>
          <a:stretch>
            <a:fillRect/>
          </a:stretch>
        </p:blipFill>
        <p:spPr>
          <a:xfrm>
            <a:off x="0" y="1116280"/>
            <a:ext cx="12192000" cy="5360719"/>
          </a:xfrm>
          <a:prstGeom prst="rect">
            <a:avLst/>
          </a:prstGeom>
        </p:spPr>
      </p:pic>
      <p:sp>
        <p:nvSpPr>
          <p:cNvPr id="7" name="TextBox 6">
            <a:extLst>
              <a:ext uri="{FF2B5EF4-FFF2-40B4-BE49-F238E27FC236}">
                <a16:creationId xmlns:a16="http://schemas.microsoft.com/office/drawing/2014/main" id="{6B4562AE-28CB-8A30-A0D7-9651D03301FB}"/>
              </a:ext>
            </a:extLst>
          </p:cNvPr>
          <p:cNvSpPr txBox="1"/>
          <p:nvPr/>
        </p:nvSpPr>
        <p:spPr>
          <a:xfrm>
            <a:off x="3788228" y="2960362"/>
            <a:ext cx="1591293" cy="1015663"/>
          </a:xfrm>
          <a:prstGeom prst="rect">
            <a:avLst/>
          </a:prstGeom>
          <a:solidFill>
            <a:srgbClr val="CC99FF"/>
          </a:solidFill>
        </p:spPr>
        <p:txBody>
          <a:bodyPr wrap="square">
            <a:spAutoFit/>
          </a:bodyPr>
          <a:lstStyle/>
          <a:p>
            <a:r>
              <a:rPr lang="en-US" sz="1200" dirty="0">
                <a:latin typeface="Calibri" panose="020F0502020204030204" pitchFamily="34" charset="0"/>
                <a:cs typeface="Calibri" panose="020F0502020204030204" pitchFamily="34" charset="0"/>
              </a:rPr>
              <a:t>Tokens are converted into numerical vectors that help the model represent meaning and relationships.</a:t>
            </a:r>
          </a:p>
        </p:txBody>
      </p:sp>
      <p:sp>
        <p:nvSpPr>
          <p:cNvPr id="10" name="TextBox 9">
            <a:extLst>
              <a:ext uri="{FF2B5EF4-FFF2-40B4-BE49-F238E27FC236}">
                <a16:creationId xmlns:a16="http://schemas.microsoft.com/office/drawing/2014/main" id="{91F2C33C-EF05-0FDC-2C76-9DF80CDF1C47}"/>
              </a:ext>
            </a:extLst>
          </p:cNvPr>
          <p:cNvSpPr txBox="1"/>
          <p:nvPr/>
        </p:nvSpPr>
        <p:spPr>
          <a:xfrm>
            <a:off x="5688280" y="3150367"/>
            <a:ext cx="1591294" cy="825658"/>
          </a:xfrm>
          <a:prstGeom prst="rect">
            <a:avLst/>
          </a:prstGeom>
          <a:solidFill>
            <a:schemeClr val="accent1">
              <a:lumMod val="20000"/>
              <a:lumOff val="80000"/>
            </a:schemeClr>
          </a:solidFill>
        </p:spPr>
        <p:txBody>
          <a:bodyPr wrap="square">
            <a:spAutoFit/>
          </a:bodyPr>
          <a:lstStyle/>
          <a:p>
            <a:r>
              <a:rPr lang="en-US" sz="1200" dirty="0">
                <a:latin typeface="Calibri" panose="020F0502020204030204" pitchFamily="34" charset="0"/>
                <a:cs typeface="Calibri" panose="020F0502020204030204" pitchFamily="34" charset="0"/>
              </a:rPr>
              <a:t>The model uses attention to weigh relevant earlier tokens in the context.</a:t>
            </a:r>
          </a:p>
        </p:txBody>
      </p:sp>
    </p:spTree>
    <p:extLst>
      <p:ext uri="{BB962C8B-B14F-4D97-AF65-F5344CB8AC3E}">
        <p14:creationId xmlns:p14="http://schemas.microsoft.com/office/powerpoint/2010/main" val="235992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76F25-A965-8734-A549-C0C2CC57D0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46C491-720E-714C-CFDF-9C31F08B7F97}"/>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Concept 1: Text becomes tokens</a:t>
            </a:r>
            <a:endParaRPr lang="en-US" sz="2600" dirty="0"/>
          </a:p>
        </p:txBody>
      </p:sp>
      <p:sp>
        <p:nvSpPr>
          <p:cNvPr id="33" name="Slide Number Placeholder 0">
            <a:extLst>
              <a:ext uri="{FF2B5EF4-FFF2-40B4-BE49-F238E27FC236}">
                <a16:creationId xmlns:a16="http://schemas.microsoft.com/office/drawing/2014/main" id="{32CCFAF9-9537-A1E1-164E-9E9BA6B2549C}"/>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5</a:t>
            </a:fld>
            <a:endParaRPr lang="en-US"/>
          </a:p>
        </p:txBody>
      </p:sp>
      <p:pic>
        <p:nvPicPr>
          <p:cNvPr id="4" name="Picture 3">
            <a:extLst>
              <a:ext uri="{FF2B5EF4-FFF2-40B4-BE49-F238E27FC236}">
                <a16:creationId xmlns:a16="http://schemas.microsoft.com/office/drawing/2014/main" id="{DC9BCD25-FE6A-B214-9515-B48C67849007}"/>
              </a:ext>
            </a:extLst>
          </p:cNvPr>
          <p:cNvPicPr>
            <a:picLocks noChangeAspect="1"/>
          </p:cNvPicPr>
          <p:nvPr/>
        </p:nvPicPr>
        <p:blipFill>
          <a:blip r:embed="rId3"/>
          <a:srcRect l="68917" t="13747" r="1923" b="53106"/>
          <a:stretch>
            <a:fillRect/>
          </a:stretch>
        </p:blipFill>
        <p:spPr>
          <a:xfrm>
            <a:off x="6096000" y="1252536"/>
            <a:ext cx="5987090" cy="4537279"/>
          </a:xfrm>
          <a:prstGeom prst="rect">
            <a:avLst/>
          </a:prstGeom>
        </p:spPr>
      </p:pic>
      <p:sp>
        <p:nvSpPr>
          <p:cNvPr id="5" name="TextBox 4">
            <a:extLst>
              <a:ext uri="{FF2B5EF4-FFF2-40B4-BE49-F238E27FC236}">
                <a16:creationId xmlns:a16="http://schemas.microsoft.com/office/drawing/2014/main" id="{BE7E4AB2-55C2-70ED-F7E2-F45472CB1B24}"/>
              </a:ext>
            </a:extLst>
          </p:cNvPr>
          <p:cNvSpPr txBox="1"/>
          <p:nvPr/>
        </p:nvSpPr>
        <p:spPr>
          <a:xfrm>
            <a:off x="108910" y="1405467"/>
            <a:ext cx="5769376" cy="4231415"/>
          </a:xfrm>
          <a:prstGeom prst="rect">
            <a:avLst/>
          </a:prstGeom>
          <a:noFill/>
        </p:spPr>
        <p:txBody>
          <a:bodyPr wrap="square">
            <a:spAutoFit/>
          </a:bodyPr>
          <a:lstStyle/>
          <a:p>
            <a:pPr>
              <a:lnSpc>
                <a:spcPct val="150000"/>
              </a:lnSpc>
              <a:buNone/>
            </a:pPr>
            <a:r>
              <a:rPr lang="en-US" sz="2600" b="1" dirty="0">
                <a:latin typeface="Calibri" panose="020F0502020204030204" pitchFamily="34" charset="0"/>
                <a:cs typeface="Calibri" panose="020F0502020204030204" pitchFamily="34" charset="0"/>
              </a:rPr>
              <a:t>LLMs process text as tokens rather than directly as sentences.</a:t>
            </a:r>
            <a:endParaRPr lang="en-US" sz="2600" dirty="0">
              <a:latin typeface="Calibri" panose="020F0502020204030204" pitchFamily="34" charset="0"/>
              <a:cs typeface="Calibri" panose="020F0502020204030204" pitchFamily="34" charset="0"/>
            </a:endParaRPr>
          </a:p>
          <a:p>
            <a:pPr>
              <a:lnSpc>
                <a:spcPct val="150000"/>
              </a:lnSpc>
              <a:buNone/>
            </a:pPr>
            <a:r>
              <a:rPr lang="en-US" sz="2600" dirty="0">
                <a:latin typeface="Calibri" panose="020F0502020204030204" pitchFamily="34" charset="0"/>
                <a:cs typeface="Calibri" panose="020F0502020204030204" pitchFamily="34" charset="0"/>
              </a:rPr>
              <a:t>Tokens can be:</a:t>
            </a:r>
          </a:p>
          <a:p>
            <a:pPr marL="534988"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a whole word, </a:t>
            </a:r>
          </a:p>
          <a:p>
            <a:pPr marL="534988"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part of a word, </a:t>
            </a:r>
          </a:p>
          <a:p>
            <a:pPr marL="534988"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punctuation, </a:t>
            </a:r>
          </a:p>
          <a:p>
            <a:pPr marL="534988" lvl="0" indent="-342900">
              <a:lnSpc>
                <a:spcPct val="150000"/>
              </a:lnSpc>
              <a:buFont typeface="Arial" panose="020B0604020202020204" pitchFamily="34" charset="0"/>
              <a:buChar char="•"/>
            </a:pPr>
            <a:r>
              <a:rPr lang="en-US" sz="2600" dirty="0">
                <a:latin typeface="Calibri" panose="020F0502020204030204" pitchFamily="34" charset="0"/>
                <a:cs typeface="Calibri" panose="020F0502020204030204" pitchFamily="34" charset="0"/>
              </a:rPr>
              <a:t>or another text unit.</a:t>
            </a:r>
          </a:p>
        </p:txBody>
      </p:sp>
    </p:spTree>
    <p:extLst>
      <p:ext uri="{BB962C8B-B14F-4D97-AF65-F5344CB8AC3E}">
        <p14:creationId xmlns:p14="http://schemas.microsoft.com/office/powerpoint/2010/main" val="39112345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C62A7-9E61-7B1D-DDD4-041FA8CF01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C29D39A-BBA4-DD08-FFD6-2B7FC2A8B5FD}"/>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Concept 2: Predicting the next token</a:t>
            </a:r>
            <a:endParaRPr lang="en-US" sz="2600" dirty="0"/>
          </a:p>
        </p:txBody>
      </p:sp>
      <p:sp>
        <p:nvSpPr>
          <p:cNvPr id="33" name="Slide Number Placeholder 0">
            <a:extLst>
              <a:ext uri="{FF2B5EF4-FFF2-40B4-BE49-F238E27FC236}">
                <a16:creationId xmlns:a16="http://schemas.microsoft.com/office/drawing/2014/main" id="{5DE8EC97-FD7F-76C7-B215-D2326571E5DB}"/>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6</a:t>
            </a:fld>
            <a:endParaRPr lang="en-US"/>
          </a:p>
        </p:txBody>
      </p:sp>
      <p:pic>
        <p:nvPicPr>
          <p:cNvPr id="6" name="Picture 5">
            <a:extLst>
              <a:ext uri="{FF2B5EF4-FFF2-40B4-BE49-F238E27FC236}">
                <a16:creationId xmlns:a16="http://schemas.microsoft.com/office/drawing/2014/main" id="{6E85485D-C481-DB22-45C7-C48B80C15AB0}"/>
              </a:ext>
            </a:extLst>
          </p:cNvPr>
          <p:cNvPicPr>
            <a:picLocks noChangeAspect="1"/>
          </p:cNvPicPr>
          <p:nvPr/>
        </p:nvPicPr>
        <p:blipFill>
          <a:blip r:embed="rId3"/>
          <a:srcRect l="34336" t="55772" r="33360" b="2927"/>
          <a:stretch>
            <a:fillRect/>
          </a:stretch>
        </p:blipFill>
        <p:spPr>
          <a:xfrm>
            <a:off x="502919" y="992457"/>
            <a:ext cx="6031231" cy="5140713"/>
          </a:xfrm>
          <a:prstGeom prst="rect">
            <a:avLst/>
          </a:prstGeom>
        </p:spPr>
      </p:pic>
    </p:spTree>
    <p:extLst>
      <p:ext uri="{BB962C8B-B14F-4D97-AF65-F5344CB8AC3E}">
        <p14:creationId xmlns:p14="http://schemas.microsoft.com/office/powerpoint/2010/main" val="31684063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0F33F-4FAE-B762-B123-D0128ED26D5B}"/>
            </a:ext>
          </a:extLst>
        </p:cNvPr>
        <p:cNvGrpSpPr/>
        <p:nvPr/>
      </p:nvGrpSpPr>
      <p:grpSpPr>
        <a:xfrm>
          <a:off x="0" y="0"/>
          <a:ext cx="0" cy="0"/>
          <a:chOff x="0" y="0"/>
          <a:chExt cx="0" cy="0"/>
        </a:xfrm>
      </p:grpSpPr>
      <p:sp>
        <p:nvSpPr>
          <p:cNvPr id="33" name="Slide Number Placeholder 0">
            <a:extLst>
              <a:ext uri="{FF2B5EF4-FFF2-40B4-BE49-F238E27FC236}">
                <a16:creationId xmlns:a16="http://schemas.microsoft.com/office/drawing/2014/main" id="{94635DC0-A374-73A1-D211-CCB2E873CE21}"/>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7</a:t>
            </a:fld>
            <a:endParaRPr lang="en-US"/>
          </a:p>
        </p:txBody>
      </p:sp>
      <p:sp>
        <p:nvSpPr>
          <p:cNvPr id="4" name="TextBox 3">
            <a:extLst>
              <a:ext uri="{FF2B5EF4-FFF2-40B4-BE49-F238E27FC236}">
                <a16:creationId xmlns:a16="http://schemas.microsoft.com/office/drawing/2014/main" id="{4EEF34DE-99FD-5501-A889-236C0B4E647E}"/>
              </a:ext>
            </a:extLst>
          </p:cNvPr>
          <p:cNvSpPr txBox="1"/>
          <p:nvPr/>
        </p:nvSpPr>
        <p:spPr>
          <a:xfrm>
            <a:off x="0" y="1613375"/>
            <a:ext cx="12192000" cy="3631250"/>
          </a:xfrm>
          <a:prstGeom prst="rect">
            <a:avLst/>
          </a:prstGeom>
          <a:noFill/>
        </p:spPr>
        <p:txBody>
          <a:bodyPr wrap="square">
            <a:spAutoFit/>
          </a:bodyPr>
          <a:lstStyle/>
          <a:p>
            <a:pPr>
              <a:lnSpc>
                <a:spcPct val="150000"/>
              </a:lnSpc>
              <a:buNone/>
            </a:pPr>
            <a:r>
              <a:rPr lang="en-US" sz="2600" b="1" dirty="0">
                <a:latin typeface="Calibri" panose="020F0502020204030204" pitchFamily="34" charset="0"/>
                <a:cs typeface="Calibri" panose="020F0502020204030204" pitchFamily="34" charset="0"/>
              </a:rPr>
              <a:t>Why doesn’t an LLM treat the whole sentence as one token? Why does it break the sentence into smaller tokens?</a:t>
            </a:r>
          </a:p>
          <a:p>
            <a:pPr>
              <a:lnSpc>
                <a:spcPct val="150000"/>
              </a:lnSpc>
              <a:buNone/>
            </a:pPr>
            <a:r>
              <a:rPr lang="en-US" sz="2600" dirty="0">
                <a:latin typeface="Calibri" panose="020F0502020204030204" pitchFamily="34" charset="0"/>
                <a:cs typeface="Calibri" panose="020F0502020204030204" pitchFamily="34" charset="0"/>
              </a:rPr>
              <a:t>Because there are almost unlimited possible sentences.</a:t>
            </a:r>
          </a:p>
          <a:p>
            <a:pPr>
              <a:lnSpc>
                <a:spcPct val="150000"/>
              </a:lnSpc>
              <a:buNone/>
            </a:pPr>
            <a:r>
              <a:rPr lang="en-US" sz="2600" dirty="0">
                <a:latin typeface="Calibri" panose="020F0502020204030204" pitchFamily="34" charset="0"/>
                <a:cs typeface="Calibri" panose="020F0502020204030204" pitchFamily="34" charset="0"/>
              </a:rPr>
              <a:t>If every complete sentence were one token, the model would need a separate token for every sentence it might ever encounter—including sentences it has never seen before.</a:t>
            </a:r>
          </a:p>
          <a:p>
            <a:pPr>
              <a:lnSpc>
                <a:spcPct val="150000"/>
              </a:lnSpc>
              <a:buNone/>
            </a:pPr>
            <a:r>
              <a:rPr lang="en-US" sz="2600" dirty="0">
                <a:latin typeface="Calibri" panose="020F0502020204030204" pitchFamily="34" charset="0"/>
                <a:cs typeface="Calibri" panose="020F0502020204030204" pitchFamily="34" charset="0"/>
              </a:rPr>
              <a:t>Instead, the model breaks text into smaller, reusable pieces called tokens.</a:t>
            </a:r>
          </a:p>
        </p:txBody>
      </p:sp>
      <p:sp>
        <p:nvSpPr>
          <p:cNvPr id="7" name="Text 0">
            <a:extLst>
              <a:ext uri="{FF2B5EF4-FFF2-40B4-BE49-F238E27FC236}">
                <a16:creationId xmlns:a16="http://schemas.microsoft.com/office/drawing/2014/main" id="{229FF945-51F8-12BF-D7BA-4826FE9A29B6}"/>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Why Does an LLM Break Text into Tokens?</a:t>
            </a:r>
            <a:endParaRPr lang="en-US" sz="2600" dirty="0"/>
          </a:p>
        </p:txBody>
      </p:sp>
    </p:spTree>
    <p:extLst>
      <p:ext uri="{BB962C8B-B14F-4D97-AF65-F5344CB8AC3E}">
        <p14:creationId xmlns:p14="http://schemas.microsoft.com/office/powerpoint/2010/main" val="256660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fade">
                                      <p:cBhvr>
                                        <p:cTn id="7" dur="1000"/>
                                        <p:tgtEl>
                                          <p:spTgt spid="4">
                                            <p:txEl>
                                              <p:pRg st="1" end="1"/>
                                            </p:txEl>
                                          </p:spTgt>
                                        </p:tgtEl>
                                      </p:cBhvr>
                                    </p:animEffect>
                                    <p:anim calcmode="lin" valueType="num">
                                      <p:cBhvr>
                                        <p:cTn id="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1000"/>
                                        <p:tgtEl>
                                          <p:spTgt spid="4">
                                            <p:txEl>
                                              <p:pRg st="2" end="2"/>
                                            </p:txEl>
                                          </p:spTgt>
                                        </p:tgtEl>
                                      </p:cBhvr>
                                    </p:animEffect>
                                    <p:anim calcmode="lin" valueType="num">
                                      <p:cBhvr>
                                        <p:cTn id="1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1000"/>
                                        <p:tgtEl>
                                          <p:spTgt spid="4">
                                            <p:txEl>
                                              <p:pRg st="3" end="3"/>
                                            </p:txEl>
                                          </p:spTgt>
                                        </p:tgtEl>
                                      </p:cBhvr>
                                    </p:animEffect>
                                    <p:anim calcmode="lin" valueType="num">
                                      <p:cBhvr>
                                        <p:cTn id="1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F3435-BC59-2A07-8073-11D417B71424}"/>
            </a:ext>
          </a:extLst>
        </p:cNvPr>
        <p:cNvGrpSpPr/>
        <p:nvPr/>
      </p:nvGrpSpPr>
      <p:grpSpPr>
        <a:xfrm>
          <a:off x="0" y="0"/>
          <a:ext cx="0" cy="0"/>
          <a:chOff x="0" y="0"/>
          <a:chExt cx="0" cy="0"/>
        </a:xfrm>
      </p:grpSpPr>
      <p:sp>
        <p:nvSpPr>
          <p:cNvPr id="33" name="Slide Number Placeholder 0">
            <a:extLst>
              <a:ext uri="{FF2B5EF4-FFF2-40B4-BE49-F238E27FC236}">
                <a16:creationId xmlns:a16="http://schemas.microsoft.com/office/drawing/2014/main" id="{25BD1F83-9337-255F-FD1E-F7147BC190BC}"/>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8</a:t>
            </a:fld>
            <a:endParaRPr lang="en-US"/>
          </a:p>
        </p:txBody>
      </p:sp>
      <p:sp>
        <p:nvSpPr>
          <p:cNvPr id="4" name="TextBox 3">
            <a:extLst>
              <a:ext uri="{FF2B5EF4-FFF2-40B4-BE49-F238E27FC236}">
                <a16:creationId xmlns:a16="http://schemas.microsoft.com/office/drawing/2014/main" id="{A01A0852-2AE3-9E8F-0632-E27653BA0228}"/>
              </a:ext>
            </a:extLst>
          </p:cNvPr>
          <p:cNvSpPr txBox="1"/>
          <p:nvPr/>
        </p:nvSpPr>
        <p:spPr>
          <a:xfrm>
            <a:off x="0" y="1613375"/>
            <a:ext cx="12192000" cy="4831579"/>
          </a:xfrm>
          <a:prstGeom prst="rect">
            <a:avLst/>
          </a:prstGeom>
          <a:noFill/>
        </p:spPr>
        <p:txBody>
          <a:bodyPr wrap="square">
            <a:spAutoFit/>
          </a:bodyPr>
          <a:lstStyle/>
          <a:p>
            <a:pPr>
              <a:lnSpc>
                <a:spcPct val="150000"/>
              </a:lnSpc>
              <a:buNone/>
            </a:pPr>
            <a:r>
              <a:rPr lang="en-US" sz="2600" dirty="0">
                <a:latin typeface="Calibri" panose="020F0502020204030204" pitchFamily="34" charset="0"/>
                <a:cs typeface="Calibri" panose="020F0502020204030204" pitchFamily="34" charset="0"/>
              </a:rPr>
              <a:t>For example:</a:t>
            </a:r>
          </a:p>
          <a:p>
            <a:pPr>
              <a:lnSpc>
                <a:spcPct val="150000"/>
              </a:lnSpc>
              <a:buNone/>
            </a:pPr>
            <a:r>
              <a:rPr lang="en-US" sz="2600" dirty="0">
                <a:latin typeface="Calibri" panose="020F0502020204030204" pitchFamily="34" charset="0"/>
                <a:cs typeface="Calibri" panose="020F0502020204030204" pitchFamily="34" charset="0"/>
              </a:rPr>
              <a:t>Sentence:</a:t>
            </a:r>
          </a:p>
          <a:p>
            <a:pPr>
              <a:lnSpc>
                <a:spcPct val="150000"/>
              </a:lnSpc>
              <a:buNone/>
            </a:pPr>
            <a:r>
              <a:rPr lang="en-US" sz="2600" dirty="0">
                <a:latin typeface="Calibri" panose="020F0502020204030204" pitchFamily="34" charset="0"/>
                <a:cs typeface="Calibri" panose="020F0502020204030204" pitchFamily="34" charset="0"/>
              </a:rPr>
              <a:t>The capital of France is Paris.</a:t>
            </a:r>
          </a:p>
          <a:p>
            <a:pPr>
              <a:lnSpc>
                <a:spcPct val="150000"/>
              </a:lnSpc>
              <a:buNone/>
            </a:pPr>
            <a:r>
              <a:rPr lang="en-US" sz="2600" dirty="0">
                <a:latin typeface="Calibri" panose="020F0502020204030204" pitchFamily="34" charset="0"/>
                <a:cs typeface="Calibri" panose="020F0502020204030204" pitchFamily="34" charset="0"/>
              </a:rPr>
              <a:t>Instead of one huge token:</a:t>
            </a:r>
          </a:p>
          <a:p>
            <a:pPr>
              <a:lnSpc>
                <a:spcPct val="150000"/>
              </a:lnSpc>
              <a:buNone/>
            </a:pPr>
            <a:r>
              <a:rPr lang="en-US" sz="2600" dirty="0">
                <a:latin typeface="Calibri" panose="020F0502020204030204" pitchFamily="34" charset="0"/>
                <a:cs typeface="Calibri" panose="020F0502020204030204" pitchFamily="34" charset="0"/>
              </a:rPr>
              <a:t>[The capital of France is Paris.]</a:t>
            </a:r>
          </a:p>
          <a:p>
            <a:pPr>
              <a:lnSpc>
                <a:spcPct val="150000"/>
              </a:lnSpc>
              <a:buNone/>
            </a:pPr>
            <a:r>
              <a:rPr lang="en-US" sz="2600" dirty="0">
                <a:latin typeface="Calibri" panose="020F0502020204030204" pitchFamily="34" charset="0"/>
                <a:cs typeface="Calibri" panose="020F0502020204030204" pitchFamily="34" charset="0"/>
              </a:rPr>
              <a:t>It uses smaller tokens:</a:t>
            </a:r>
          </a:p>
          <a:p>
            <a:pPr>
              <a:lnSpc>
                <a:spcPct val="150000"/>
              </a:lnSpc>
              <a:buNone/>
            </a:pPr>
            <a:r>
              <a:rPr lang="en-US" sz="2600" dirty="0">
                <a:latin typeface="Calibri" panose="020F0502020204030204" pitchFamily="34" charset="0"/>
                <a:cs typeface="Calibri" panose="020F0502020204030204" pitchFamily="34" charset="0"/>
              </a:rPr>
              <a:t>[The] [capital] [of] [France] [is] [Paris] [.]</a:t>
            </a:r>
          </a:p>
          <a:p>
            <a:pPr>
              <a:lnSpc>
                <a:spcPct val="150000"/>
              </a:lnSpc>
              <a:buNone/>
            </a:pPr>
            <a:r>
              <a:rPr lang="en-US" sz="2600" dirty="0">
                <a:latin typeface="Calibri" panose="020F0502020204030204" pitchFamily="34" charset="0"/>
                <a:cs typeface="Calibri" panose="020F0502020204030204" pitchFamily="34" charset="0"/>
              </a:rPr>
              <a:t>These smaller pieces can be reused in millions of different sentences.</a:t>
            </a:r>
          </a:p>
        </p:txBody>
      </p:sp>
      <p:sp>
        <p:nvSpPr>
          <p:cNvPr id="7" name="Text 0">
            <a:extLst>
              <a:ext uri="{FF2B5EF4-FFF2-40B4-BE49-F238E27FC236}">
                <a16:creationId xmlns:a16="http://schemas.microsoft.com/office/drawing/2014/main" id="{0E0F018C-A5F5-13DB-9B99-3426C3C9B392}"/>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Why Does an LLM Break Text into Tokens?</a:t>
            </a:r>
            <a:endParaRPr lang="en-US" sz="2600" dirty="0"/>
          </a:p>
        </p:txBody>
      </p:sp>
    </p:spTree>
    <p:extLst>
      <p:ext uri="{BB962C8B-B14F-4D97-AF65-F5344CB8AC3E}">
        <p14:creationId xmlns:p14="http://schemas.microsoft.com/office/powerpoint/2010/main" val="3343308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FD0D2-78D9-2273-A617-D3A5450186D5}"/>
            </a:ext>
          </a:extLst>
        </p:cNvPr>
        <p:cNvGrpSpPr/>
        <p:nvPr/>
      </p:nvGrpSpPr>
      <p:grpSpPr>
        <a:xfrm>
          <a:off x="0" y="0"/>
          <a:ext cx="0" cy="0"/>
          <a:chOff x="0" y="0"/>
          <a:chExt cx="0" cy="0"/>
        </a:xfrm>
      </p:grpSpPr>
      <p:sp>
        <p:nvSpPr>
          <p:cNvPr id="33" name="Slide Number Placeholder 0">
            <a:extLst>
              <a:ext uri="{FF2B5EF4-FFF2-40B4-BE49-F238E27FC236}">
                <a16:creationId xmlns:a16="http://schemas.microsoft.com/office/drawing/2014/main" id="{2E3AE83C-C384-9168-3E70-55F5113DFAE6}"/>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9</a:t>
            </a:fld>
            <a:endParaRPr lang="en-US"/>
          </a:p>
        </p:txBody>
      </p:sp>
      <p:sp>
        <p:nvSpPr>
          <p:cNvPr id="4" name="TextBox 3">
            <a:extLst>
              <a:ext uri="{FF2B5EF4-FFF2-40B4-BE49-F238E27FC236}">
                <a16:creationId xmlns:a16="http://schemas.microsoft.com/office/drawing/2014/main" id="{7717A883-8661-3B4A-F3F9-FC239FC7AB3E}"/>
              </a:ext>
            </a:extLst>
          </p:cNvPr>
          <p:cNvSpPr txBox="1"/>
          <p:nvPr/>
        </p:nvSpPr>
        <p:spPr>
          <a:xfrm>
            <a:off x="0" y="1613375"/>
            <a:ext cx="12192000" cy="2430922"/>
          </a:xfrm>
          <a:prstGeom prst="rect">
            <a:avLst/>
          </a:prstGeom>
          <a:noFill/>
        </p:spPr>
        <p:txBody>
          <a:bodyPr wrap="square">
            <a:spAutoFit/>
          </a:bodyPr>
          <a:lstStyle/>
          <a:p>
            <a:pPr>
              <a:lnSpc>
                <a:spcPct val="150000"/>
              </a:lnSpc>
              <a:buNone/>
            </a:pPr>
            <a:r>
              <a:rPr lang="en-US" sz="2600" dirty="0">
                <a:latin typeface="Calibri" panose="020F0502020204030204" pitchFamily="34" charset="0"/>
                <a:cs typeface="Calibri" panose="020F0502020204030204" pitchFamily="34" charset="0"/>
              </a:rPr>
              <a:t>Analogy:</a:t>
            </a:r>
          </a:p>
          <a:p>
            <a:pPr>
              <a:lnSpc>
                <a:spcPct val="150000"/>
              </a:lnSpc>
              <a:buNone/>
            </a:pPr>
            <a:r>
              <a:rPr lang="en-US" sz="2600" dirty="0">
                <a:latin typeface="Calibri" panose="020F0502020204030204" pitchFamily="34" charset="0"/>
                <a:cs typeface="Calibri" panose="020F0502020204030204" pitchFamily="34" charset="0"/>
              </a:rPr>
              <a:t>Think of LEGO. We don't create a completely new LEGO piece for every object we want to build. We use smaller reusable pieces and combine them in different ways. Tokens work in a similar way.</a:t>
            </a:r>
          </a:p>
        </p:txBody>
      </p:sp>
      <p:sp>
        <p:nvSpPr>
          <p:cNvPr id="7" name="Text 0">
            <a:extLst>
              <a:ext uri="{FF2B5EF4-FFF2-40B4-BE49-F238E27FC236}">
                <a16:creationId xmlns:a16="http://schemas.microsoft.com/office/drawing/2014/main" id="{96EFCCCB-6B5D-F813-8B4A-3914DC29A4B1}"/>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Why Does an LLM Break Text into Tokens?</a:t>
            </a:r>
            <a:endParaRPr lang="en-US" sz="2600" dirty="0"/>
          </a:p>
        </p:txBody>
      </p:sp>
    </p:spTree>
    <p:extLst>
      <p:ext uri="{BB962C8B-B14F-4D97-AF65-F5344CB8AC3E}">
        <p14:creationId xmlns:p14="http://schemas.microsoft.com/office/powerpoint/2010/main" val="1825174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93D5E-8FE9-1375-DF0F-98ACA8814B6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70C640-CFCC-A552-C60C-0F587F698127}"/>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6B8DB1F3-7D91-EE5B-CE2A-C9DB3D65159E}"/>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10</a:t>
            </a:fld>
            <a:endParaRPr lang="en-US"/>
          </a:p>
        </p:txBody>
      </p:sp>
      <p:sp>
        <p:nvSpPr>
          <p:cNvPr id="8" name="TextBox 7">
            <a:extLst>
              <a:ext uri="{FF2B5EF4-FFF2-40B4-BE49-F238E27FC236}">
                <a16:creationId xmlns:a16="http://schemas.microsoft.com/office/drawing/2014/main" id="{344522B0-996A-0737-9C8A-0A0414324F71}"/>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10" name="TextBox 9">
            <a:extLst>
              <a:ext uri="{FF2B5EF4-FFF2-40B4-BE49-F238E27FC236}">
                <a16:creationId xmlns:a16="http://schemas.microsoft.com/office/drawing/2014/main" id="{6D154847-A29B-F86B-5BDB-8DAEEAE146AA}"/>
              </a:ext>
            </a:extLst>
          </p:cNvPr>
          <p:cNvSpPr txBox="1"/>
          <p:nvPr/>
        </p:nvSpPr>
        <p:spPr>
          <a:xfrm>
            <a:off x="462032" y="4573448"/>
            <a:ext cx="11227048" cy="131818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In Google </a:t>
            </a:r>
            <a:r>
              <a:rPr lang="en-US" sz="2800" dirty="0" err="1">
                <a:latin typeface="Calibri" panose="020F0502020204030204" pitchFamily="34" charset="0"/>
                <a:cs typeface="Calibri" panose="020F0502020204030204" pitchFamily="34" charset="0"/>
              </a:rPr>
              <a:t>Colab</a:t>
            </a:r>
            <a:r>
              <a:rPr lang="en-US" sz="2800" dirty="0">
                <a:latin typeface="Calibri" panose="020F0502020204030204" pitchFamily="34" charset="0"/>
                <a:cs typeface="Calibri" panose="020F0502020204030204" pitchFamily="34" charset="0"/>
              </a:rPr>
              <a:t>, select:</a:t>
            </a:r>
          </a:p>
          <a:p>
            <a:pPr>
              <a:lnSpc>
                <a:spcPct val="150000"/>
              </a:lnSpc>
              <a:buNone/>
            </a:pPr>
            <a:r>
              <a:rPr lang="en-US" sz="2800" dirty="0">
                <a:latin typeface="Calibri" panose="020F0502020204030204" pitchFamily="34" charset="0"/>
                <a:cs typeface="Calibri" panose="020F0502020204030204" pitchFamily="34" charset="0"/>
              </a:rPr>
              <a:t>Runtime → Change runtime type → Hardware accelerator → T4 GPU → Save</a:t>
            </a:r>
          </a:p>
        </p:txBody>
      </p:sp>
      <p:pic>
        <p:nvPicPr>
          <p:cNvPr id="12" name="Picture 11">
            <a:extLst>
              <a:ext uri="{FF2B5EF4-FFF2-40B4-BE49-F238E27FC236}">
                <a16:creationId xmlns:a16="http://schemas.microsoft.com/office/drawing/2014/main" id="{F4A42910-4618-EF0E-E75D-8E3B38CEB1B5}"/>
              </a:ext>
            </a:extLst>
          </p:cNvPr>
          <p:cNvPicPr>
            <a:picLocks noChangeAspect="1"/>
          </p:cNvPicPr>
          <p:nvPr/>
        </p:nvPicPr>
        <p:blipFill>
          <a:blip r:embed="rId4"/>
          <a:srcRect b="10569"/>
          <a:stretch>
            <a:fillRect/>
          </a:stretch>
        </p:blipFill>
        <p:spPr>
          <a:xfrm>
            <a:off x="502920" y="969250"/>
            <a:ext cx="6951671" cy="3497030"/>
          </a:xfrm>
          <a:prstGeom prst="rect">
            <a:avLst/>
          </a:prstGeom>
        </p:spPr>
      </p:pic>
    </p:spTree>
    <p:extLst>
      <p:ext uri="{BB962C8B-B14F-4D97-AF65-F5344CB8AC3E}">
        <p14:creationId xmlns:p14="http://schemas.microsoft.com/office/powerpoint/2010/main" val="2169903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3BB78-8D7F-40A7-6D95-485B39C0D8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A52D098-F698-49D5-7E44-3E1E4F90F3C6}"/>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C60594FC-BBF3-6A37-2C50-6E8F5F30ECBF}"/>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11</a:t>
            </a:fld>
            <a:endParaRPr lang="en-US"/>
          </a:p>
        </p:txBody>
      </p:sp>
      <p:sp>
        <p:nvSpPr>
          <p:cNvPr id="8" name="TextBox 7">
            <a:extLst>
              <a:ext uri="{FF2B5EF4-FFF2-40B4-BE49-F238E27FC236}">
                <a16:creationId xmlns:a16="http://schemas.microsoft.com/office/drawing/2014/main" id="{55757E3B-D580-314A-AFFF-3DFE457FC8EF}"/>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10" name="TextBox 9">
            <a:extLst>
              <a:ext uri="{FF2B5EF4-FFF2-40B4-BE49-F238E27FC236}">
                <a16:creationId xmlns:a16="http://schemas.microsoft.com/office/drawing/2014/main" id="{CAB6EDEB-9A08-F40E-9C1F-8D90BD698555}"/>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1 – Check GPU</a:t>
            </a:r>
          </a:p>
        </p:txBody>
      </p:sp>
      <p:sp>
        <p:nvSpPr>
          <p:cNvPr id="6" name="TextBox 5">
            <a:extLst>
              <a:ext uri="{FF2B5EF4-FFF2-40B4-BE49-F238E27FC236}">
                <a16:creationId xmlns:a16="http://schemas.microsoft.com/office/drawing/2014/main" id="{3CB882EF-7C19-5113-60B4-C81E272B03B0}"/>
              </a:ext>
            </a:extLst>
          </p:cNvPr>
          <p:cNvSpPr txBox="1"/>
          <p:nvPr/>
        </p:nvSpPr>
        <p:spPr>
          <a:xfrm>
            <a:off x="462032" y="1687794"/>
            <a:ext cx="7955280" cy="3293209"/>
          </a:xfrm>
          <a:prstGeom prst="rect">
            <a:avLst/>
          </a:prstGeom>
          <a:noFill/>
        </p:spPr>
        <p:txBody>
          <a:bodyPr wrap="square">
            <a:spAutoFit/>
          </a:bodyPr>
          <a:lstStyle/>
          <a:p>
            <a:pPr>
              <a:buNone/>
            </a:pPr>
            <a:r>
              <a:rPr lang="en-US" sz="2600" b="0" dirty="0">
                <a:solidFill>
                  <a:srgbClr val="9723B4"/>
                </a:solidFill>
                <a:effectLst/>
                <a:latin typeface="Courier New" panose="02070309020205020404" pitchFamily="49" charset="0"/>
              </a:rPr>
              <a:t>import</a:t>
            </a:r>
            <a:r>
              <a:rPr lang="en-US" sz="2600" b="0" dirty="0">
                <a:solidFill>
                  <a:srgbClr val="000000"/>
                </a:solidFill>
                <a:effectLst/>
                <a:latin typeface="Courier New" panose="02070309020205020404" pitchFamily="49" charset="0"/>
              </a:rPr>
              <a:t> torch</a:t>
            </a:r>
          </a:p>
          <a:p>
            <a:pPr>
              <a:buNone/>
            </a:pPr>
            <a:br>
              <a:rPr lang="en-US" sz="2600" b="0" dirty="0">
                <a:solidFill>
                  <a:srgbClr val="000000"/>
                </a:solidFill>
                <a:effectLst/>
                <a:latin typeface="Courier New" panose="02070309020205020404" pitchFamily="49" charset="0"/>
              </a:rPr>
            </a:br>
            <a:r>
              <a:rPr lang="en-US" sz="2600" b="0" dirty="0">
                <a:solidFill>
                  <a:srgbClr val="6A5221"/>
                </a:solidFill>
                <a:effectLst/>
                <a:latin typeface="Courier New" panose="02070309020205020404" pitchFamily="49" charset="0"/>
              </a:rPr>
              <a:t>print</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"CUDA available:"</a:t>
            </a: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torch.cuda.is_available</a:t>
            </a:r>
            <a:r>
              <a:rPr lang="en-US" sz="2600" b="0" dirty="0">
                <a:solidFill>
                  <a:srgbClr val="000000"/>
                </a:solidFill>
                <a:effectLst/>
                <a:latin typeface="Courier New" panose="02070309020205020404" pitchFamily="49" charset="0"/>
              </a:rPr>
              <a:t>())</a:t>
            </a:r>
          </a:p>
          <a:p>
            <a:pPr>
              <a:buNone/>
            </a:pPr>
            <a:br>
              <a:rPr lang="en-US" sz="2600" b="0" dirty="0">
                <a:solidFill>
                  <a:srgbClr val="000000"/>
                </a:solidFill>
                <a:effectLst/>
                <a:latin typeface="Courier New" panose="02070309020205020404" pitchFamily="49" charset="0"/>
              </a:rPr>
            </a:br>
            <a:r>
              <a:rPr lang="en-US" sz="2600" b="0" dirty="0">
                <a:solidFill>
                  <a:srgbClr val="9723B4"/>
                </a:solidFill>
                <a:effectLst/>
                <a:latin typeface="Courier New" panose="02070309020205020404" pitchFamily="49" charset="0"/>
              </a:rPr>
              <a:t>if</a:t>
            </a: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torch.cuda.is_available</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a:solidFill>
                  <a:srgbClr val="6A5221"/>
                </a:solidFill>
                <a:effectLst/>
                <a:latin typeface="Courier New" panose="02070309020205020404" pitchFamily="49" charset="0"/>
              </a:rPr>
              <a:t>print</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"GPU:"</a:t>
            </a: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torch.cuda.get_device_name</a:t>
            </a:r>
            <a:r>
              <a:rPr lang="en-US" sz="2600" b="0" dirty="0">
                <a:solidFill>
                  <a:srgbClr val="000000"/>
                </a:solidFill>
                <a:effectLst/>
                <a:latin typeface="Courier New" panose="02070309020205020404" pitchFamily="49" charset="0"/>
              </a:rPr>
              <a:t>(</a:t>
            </a:r>
            <a:r>
              <a:rPr lang="en-US" sz="2600" b="0" dirty="0">
                <a:solidFill>
                  <a:srgbClr val="116644"/>
                </a:solidFill>
                <a:effectLst/>
                <a:latin typeface="Courier New" panose="02070309020205020404" pitchFamily="49" charset="0"/>
              </a:rPr>
              <a:t>0</a:t>
            </a:r>
            <a:r>
              <a:rPr lang="en-US" sz="2600" b="0" dirty="0">
                <a:solidFill>
                  <a:srgbClr val="000000"/>
                </a:solidFill>
                <a:effectLst/>
                <a:latin typeface="Courier New" panose="02070309020205020404" pitchFamily="49" charset="0"/>
              </a:rPr>
              <a:t>))</a:t>
            </a:r>
          </a:p>
        </p:txBody>
      </p:sp>
      <p:pic>
        <p:nvPicPr>
          <p:cNvPr id="9" name="Picture 8">
            <a:extLst>
              <a:ext uri="{FF2B5EF4-FFF2-40B4-BE49-F238E27FC236}">
                <a16:creationId xmlns:a16="http://schemas.microsoft.com/office/drawing/2014/main" id="{F2BD2D96-8300-683A-F2B9-3397394B4AE7}"/>
              </a:ext>
            </a:extLst>
          </p:cNvPr>
          <p:cNvPicPr>
            <a:picLocks noChangeAspect="1"/>
          </p:cNvPicPr>
          <p:nvPr/>
        </p:nvPicPr>
        <p:blipFill>
          <a:blip r:embed="rId4"/>
          <a:srcRect l="14451" t="41138" r="38994" b="17236"/>
          <a:stretch>
            <a:fillRect/>
          </a:stretch>
        </p:blipFill>
        <p:spPr>
          <a:xfrm>
            <a:off x="6516030" y="0"/>
            <a:ext cx="5675970" cy="2854712"/>
          </a:xfrm>
          <a:prstGeom prst="rect">
            <a:avLst/>
          </a:prstGeom>
        </p:spPr>
      </p:pic>
    </p:spTree>
    <p:extLst>
      <p:ext uri="{BB962C8B-B14F-4D97-AF65-F5344CB8AC3E}">
        <p14:creationId xmlns:p14="http://schemas.microsoft.com/office/powerpoint/2010/main" val="2647329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205AB-32EA-DC59-B9C0-66A97A079D5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C7A9DF2-401E-E2C2-DF5A-F65730BDCAD1}"/>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A708AB6C-2236-3C34-F4F5-63FFAB1791DC}"/>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12</a:t>
            </a:fld>
            <a:endParaRPr lang="en-US"/>
          </a:p>
        </p:txBody>
      </p:sp>
      <p:sp>
        <p:nvSpPr>
          <p:cNvPr id="8" name="TextBox 7">
            <a:extLst>
              <a:ext uri="{FF2B5EF4-FFF2-40B4-BE49-F238E27FC236}">
                <a16:creationId xmlns:a16="http://schemas.microsoft.com/office/drawing/2014/main" id="{519B9938-41B1-507A-7419-E06261C12408}"/>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10" name="TextBox 9">
            <a:extLst>
              <a:ext uri="{FF2B5EF4-FFF2-40B4-BE49-F238E27FC236}">
                <a16:creationId xmlns:a16="http://schemas.microsoft.com/office/drawing/2014/main" id="{96C9F9F5-8760-A7F3-6143-CAB8145272CC}"/>
              </a:ext>
            </a:extLst>
          </p:cNvPr>
          <p:cNvSpPr txBox="1"/>
          <p:nvPr/>
        </p:nvSpPr>
        <p:spPr>
          <a:xfrm>
            <a:off x="350519" y="806044"/>
            <a:ext cx="11227048" cy="3257174"/>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Why GPU rather than CPU?</a:t>
            </a:r>
          </a:p>
          <a:p>
            <a:pPr>
              <a:lnSpc>
                <a:spcPct val="150000"/>
              </a:lnSpc>
            </a:pPr>
            <a:r>
              <a:rPr lang="en-US" sz="2800" dirty="0">
                <a:latin typeface="Calibri" panose="020F0502020204030204" pitchFamily="34" charset="0"/>
                <a:cs typeface="Calibri" panose="020F0502020204030204" pitchFamily="34" charset="0"/>
              </a:rPr>
              <a:t>Phi-3 Mini has billions of parameters. CPU inference can be </a:t>
            </a:r>
            <a:r>
              <a:rPr lang="en-US" sz="2800" b="1" dirty="0">
                <a:latin typeface="Calibri" panose="020F0502020204030204" pitchFamily="34" charset="0"/>
                <a:cs typeface="Calibri" panose="020F0502020204030204" pitchFamily="34" charset="0"/>
              </a:rPr>
              <a:t>very slow</a:t>
            </a:r>
            <a:r>
              <a:rPr lang="en-US" sz="2800" dirty="0">
                <a:latin typeface="Calibri" panose="020F0502020204030204" pitchFamily="34" charset="0"/>
                <a:cs typeface="Calibri" panose="020F0502020204030204" pitchFamily="34" charset="0"/>
              </a:rPr>
              <a:t>, whereas a T4 GPU makes the classroom demonstration much more practical.</a:t>
            </a:r>
          </a:p>
          <a:p>
            <a:pPr>
              <a:lnSpc>
                <a:spcPct val="150000"/>
              </a:lnSpc>
            </a:pPr>
            <a:r>
              <a:rPr lang="en-US" sz="2800" dirty="0">
                <a:latin typeface="Calibri" panose="020F0502020204030204" pitchFamily="34" charset="0"/>
                <a:cs typeface="Calibri" panose="020F0502020204030204" pitchFamily="34" charset="0"/>
              </a:rPr>
              <a:t>Once the T4 is enabled, use:</a:t>
            </a:r>
          </a:p>
        </p:txBody>
      </p:sp>
    </p:spTree>
    <p:extLst>
      <p:ext uri="{BB962C8B-B14F-4D97-AF65-F5344CB8AC3E}">
        <p14:creationId xmlns:p14="http://schemas.microsoft.com/office/powerpoint/2010/main" val="3741208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B5CF-AF73-111C-5744-B2FD510DBC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FC887E-F584-96C5-80CE-7CD71B3F3BAF}"/>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65B5B914-F5F2-8B80-88EA-BB6802B5E3DE}"/>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13</a:t>
            </a:fld>
            <a:endParaRPr lang="en-US"/>
          </a:p>
        </p:txBody>
      </p:sp>
      <p:sp>
        <p:nvSpPr>
          <p:cNvPr id="7" name="TextBox 6">
            <a:extLst>
              <a:ext uri="{FF2B5EF4-FFF2-40B4-BE49-F238E27FC236}">
                <a16:creationId xmlns:a16="http://schemas.microsoft.com/office/drawing/2014/main" id="{BF0F00C3-E495-E1CF-8F5D-FCAF59BE8315}"/>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2 – Imported the LLM tools (Import the required classes)</a:t>
            </a:r>
          </a:p>
        </p:txBody>
      </p:sp>
      <p:sp>
        <p:nvSpPr>
          <p:cNvPr id="9" name="TextBox 8">
            <a:extLst>
              <a:ext uri="{FF2B5EF4-FFF2-40B4-BE49-F238E27FC236}">
                <a16:creationId xmlns:a16="http://schemas.microsoft.com/office/drawing/2014/main" id="{46808CC2-1E77-B33E-7FA2-E4D32E8BC1DF}"/>
              </a:ext>
            </a:extLst>
          </p:cNvPr>
          <p:cNvSpPr txBox="1"/>
          <p:nvPr/>
        </p:nvSpPr>
        <p:spPr>
          <a:xfrm>
            <a:off x="502919" y="1599673"/>
            <a:ext cx="11227047" cy="892552"/>
          </a:xfrm>
          <a:prstGeom prst="rect">
            <a:avLst/>
          </a:prstGeom>
          <a:noFill/>
        </p:spPr>
        <p:txBody>
          <a:bodyPr wrap="square">
            <a:spAutoFit/>
          </a:bodyPr>
          <a:lstStyle/>
          <a:p>
            <a:pPr>
              <a:buNone/>
            </a:pPr>
            <a:r>
              <a:rPr lang="en-US" sz="2600" b="0" dirty="0">
                <a:solidFill>
                  <a:srgbClr val="9723B4"/>
                </a:solidFill>
                <a:effectLst/>
                <a:latin typeface="Courier New" panose="02070309020205020404" pitchFamily="49" charset="0"/>
              </a:rPr>
              <a:t>from</a:t>
            </a:r>
            <a:r>
              <a:rPr lang="en-US" sz="2600" b="0" dirty="0">
                <a:solidFill>
                  <a:srgbClr val="000000"/>
                </a:solidFill>
                <a:effectLst/>
                <a:latin typeface="Courier New" panose="02070309020205020404" pitchFamily="49" charset="0"/>
              </a:rPr>
              <a:t> transformers </a:t>
            </a:r>
            <a:r>
              <a:rPr lang="en-US" sz="2600" b="0" dirty="0">
                <a:solidFill>
                  <a:srgbClr val="9723B4"/>
                </a:solidFill>
                <a:effectLst/>
                <a:latin typeface="Courier New" panose="02070309020205020404" pitchFamily="49" charset="0"/>
              </a:rPr>
              <a:t>import</a:t>
            </a: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AutoModelForCausalLM</a:t>
            </a: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AutoTokenizer</a:t>
            </a:r>
            <a:r>
              <a:rPr lang="en-US" sz="2600" b="0" dirty="0">
                <a:solidFill>
                  <a:srgbClr val="000000"/>
                </a:solidFill>
                <a:effectLst/>
                <a:latin typeface="Courier New" panose="02070309020205020404" pitchFamily="49" charset="0"/>
              </a:rPr>
              <a:t>, pipeline</a:t>
            </a:r>
          </a:p>
        </p:txBody>
      </p:sp>
      <p:sp>
        <p:nvSpPr>
          <p:cNvPr id="11" name="TextBox 10">
            <a:extLst>
              <a:ext uri="{FF2B5EF4-FFF2-40B4-BE49-F238E27FC236}">
                <a16:creationId xmlns:a16="http://schemas.microsoft.com/office/drawing/2014/main" id="{5D13ACD0-5B5C-929B-8ADD-01A3E9DE9488}"/>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13" name="TextBox 12">
            <a:extLst>
              <a:ext uri="{FF2B5EF4-FFF2-40B4-BE49-F238E27FC236}">
                <a16:creationId xmlns:a16="http://schemas.microsoft.com/office/drawing/2014/main" id="{4EE28448-FF45-9CDF-792E-9B9A2E8EF219}"/>
              </a:ext>
            </a:extLst>
          </p:cNvPr>
          <p:cNvSpPr txBox="1"/>
          <p:nvPr/>
        </p:nvSpPr>
        <p:spPr>
          <a:xfrm>
            <a:off x="691376" y="3150440"/>
            <a:ext cx="10850136" cy="1318181"/>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These components allowed us to load the tokenizer, load the pretrained model, and create a text-generation pipeline.</a:t>
            </a:r>
          </a:p>
        </p:txBody>
      </p:sp>
    </p:spTree>
    <p:extLst>
      <p:ext uri="{BB962C8B-B14F-4D97-AF65-F5344CB8AC3E}">
        <p14:creationId xmlns:p14="http://schemas.microsoft.com/office/powerpoint/2010/main" val="22725528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203D19-A366-12C1-5B75-E650C0F8BF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44E61C1-9177-C1F7-D3A0-D1C4EF6530DB}"/>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8E33907A-1033-81C4-0E72-4BD9E6A2E670}"/>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14</a:t>
            </a:fld>
            <a:endParaRPr lang="en-US"/>
          </a:p>
        </p:txBody>
      </p:sp>
      <p:sp>
        <p:nvSpPr>
          <p:cNvPr id="7" name="TextBox 6">
            <a:extLst>
              <a:ext uri="{FF2B5EF4-FFF2-40B4-BE49-F238E27FC236}">
                <a16:creationId xmlns:a16="http://schemas.microsoft.com/office/drawing/2014/main" id="{F74D21B7-7C82-F36B-04D4-803D9B86BBDE}"/>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3 — Define the model (Selected Phi-3)</a:t>
            </a:r>
          </a:p>
        </p:txBody>
      </p:sp>
      <p:sp>
        <p:nvSpPr>
          <p:cNvPr id="4" name="TextBox 3">
            <a:extLst>
              <a:ext uri="{FF2B5EF4-FFF2-40B4-BE49-F238E27FC236}">
                <a16:creationId xmlns:a16="http://schemas.microsoft.com/office/drawing/2014/main" id="{CCC26E7D-D3F3-A2F1-BFDC-153ABE923082}"/>
              </a:ext>
            </a:extLst>
          </p:cNvPr>
          <p:cNvSpPr txBox="1"/>
          <p:nvPr/>
        </p:nvSpPr>
        <p:spPr>
          <a:xfrm>
            <a:off x="350518" y="1552419"/>
            <a:ext cx="10767247" cy="492443"/>
          </a:xfrm>
          <a:prstGeom prst="rect">
            <a:avLst/>
          </a:prstGeom>
          <a:noFill/>
        </p:spPr>
        <p:txBody>
          <a:bodyPr wrap="square">
            <a:spAutoFit/>
          </a:bodyPr>
          <a:lstStyle/>
          <a:p>
            <a:pPr>
              <a:buNone/>
            </a:pPr>
            <a:r>
              <a:rPr lang="en-US" sz="2600" b="0" dirty="0" err="1">
                <a:solidFill>
                  <a:srgbClr val="000000"/>
                </a:solidFill>
                <a:effectLst/>
                <a:latin typeface="Courier New" panose="02070309020205020404" pitchFamily="49" charset="0"/>
              </a:rPr>
              <a:t>model_name</a:t>
            </a:r>
            <a:r>
              <a:rPr lang="en-US" sz="2600" b="0" dirty="0">
                <a:solidFill>
                  <a:srgbClr val="000000"/>
                </a:solidFill>
                <a:effectLst/>
                <a:latin typeface="Courier New" panose="02070309020205020404" pitchFamily="49" charset="0"/>
              </a:rPr>
              <a:t> = </a:t>
            </a:r>
            <a:r>
              <a:rPr lang="en-US" sz="2600" b="0" dirty="0">
                <a:solidFill>
                  <a:srgbClr val="A31515"/>
                </a:solidFill>
                <a:effectLst/>
                <a:latin typeface="Courier New" panose="02070309020205020404" pitchFamily="49" charset="0"/>
              </a:rPr>
              <a:t>"</a:t>
            </a:r>
            <a:r>
              <a:rPr lang="en-US" sz="2600" b="0" dirty="0" err="1">
                <a:solidFill>
                  <a:srgbClr val="A31515"/>
                </a:solidFill>
                <a:effectLst/>
                <a:latin typeface="Courier New" panose="02070309020205020404" pitchFamily="49" charset="0"/>
              </a:rPr>
              <a:t>microsoft</a:t>
            </a:r>
            <a:r>
              <a:rPr lang="en-US" sz="2600" b="0" dirty="0">
                <a:solidFill>
                  <a:srgbClr val="A31515"/>
                </a:solidFill>
                <a:effectLst/>
                <a:latin typeface="Courier New" panose="02070309020205020404" pitchFamily="49" charset="0"/>
              </a:rPr>
              <a:t>/Phi-3-mini-4k-instruct"</a:t>
            </a:r>
            <a:endParaRPr lang="en-US" sz="2600" b="0" dirty="0">
              <a:solidFill>
                <a:srgbClr val="000000"/>
              </a:solidFill>
              <a:effectLst/>
              <a:latin typeface="Courier New" panose="02070309020205020404" pitchFamily="49" charset="0"/>
            </a:endParaRPr>
          </a:p>
        </p:txBody>
      </p:sp>
      <p:sp>
        <p:nvSpPr>
          <p:cNvPr id="6" name="TextBox 5">
            <a:extLst>
              <a:ext uri="{FF2B5EF4-FFF2-40B4-BE49-F238E27FC236}">
                <a16:creationId xmlns:a16="http://schemas.microsoft.com/office/drawing/2014/main" id="{1438E419-C736-9AA9-40B5-E23AD554F80E}"/>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10" name="TextBox 9">
            <a:extLst>
              <a:ext uri="{FF2B5EF4-FFF2-40B4-BE49-F238E27FC236}">
                <a16:creationId xmlns:a16="http://schemas.microsoft.com/office/drawing/2014/main" id="{CC1176CF-E09F-782B-2072-8BB87B870317}"/>
              </a:ext>
            </a:extLst>
          </p:cNvPr>
          <p:cNvSpPr txBox="1"/>
          <p:nvPr/>
        </p:nvSpPr>
        <p:spPr>
          <a:xfrm>
            <a:off x="502920" y="3150440"/>
            <a:ext cx="11227048" cy="1318181"/>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We used a pretrained instruction-following LLM rather than training a model ourselves.</a:t>
            </a:r>
          </a:p>
        </p:txBody>
      </p:sp>
    </p:spTree>
    <p:extLst>
      <p:ext uri="{BB962C8B-B14F-4D97-AF65-F5344CB8AC3E}">
        <p14:creationId xmlns:p14="http://schemas.microsoft.com/office/powerpoint/2010/main" val="3337826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1121A-DB40-62B0-6160-5D9C90367CC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BBA4026-9226-F8F8-33E2-FAF69BFE70C4}"/>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9DB9F3DF-1664-D2B8-8AA7-D9BA8A5174F4}"/>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15</a:t>
            </a:fld>
            <a:endParaRPr lang="en-US"/>
          </a:p>
        </p:txBody>
      </p:sp>
      <p:sp>
        <p:nvSpPr>
          <p:cNvPr id="7" name="TextBox 6">
            <a:extLst>
              <a:ext uri="{FF2B5EF4-FFF2-40B4-BE49-F238E27FC236}">
                <a16:creationId xmlns:a16="http://schemas.microsoft.com/office/drawing/2014/main" id="{2FA79650-642B-A777-2382-8EC5A84672C5}"/>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4 — Load tokenizer</a:t>
            </a:r>
          </a:p>
        </p:txBody>
      </p:sp>
      <p:sp>
        <p:nvSpPr>
          <p:cNvPr id="8" name="TextBox 7">
            <a:extLst>
              <a:ext uri="{FF2B5EF4-FFF2-40B4-BE49-F238E27FC236}">
                <a16:creationId xmlns:a16="http://schemas.microsoft.com/office/drawing/2014/main" id="{0EEB97E0-61F2-A7B1-461D-EAF680011EFD}"/>
              </a:ext>
            </a:extLst>
          </p:cNvPr>
          <p:cNvSpPr txBox="1"/>
          <p:nvPr/>
        </p:nvSpPr>
        <p:spPr>
          <a:xfrm>
            <a:off x="350519" y="1616032"/>
            <a:ext cx="11227048" cy="492443"/>
          </a:xfrm>
          <a:prstGeom prst="rect">
            <a:avLst/>
          </a:prstGeom>
          <a:noFill/>
        </p:spPr>
        <p:txBody>
          <a:bodyPr wrap="square">
            <a:spAutoFit/>
          </a:bodyPr>
          <a:lstStyle/>
          <a:p>
            <a:pPr>
              <a:buNone/>
            </a:pPr>
            <a:r>
              <a:rPr lang="en-US" sz="2600" b="0" dirty="0">
                <a:solidFill>
                  <a:srgbClr val="000000"/>
                </a:solidFill>
                <a:effectLst/>
                <a:latin typeface="Courier New" panose="02070309020205020404" pitchFamily="49" charset="0"/>
              </a:rPr>
              <a:t>tokenizer = </a:t>
            </a:r>
            <a:r>
              <a:rPr lang="en-US" sz="2600" b="0" dirty="0" err="1">
                <a:solidFill>
                  <a:srgbClr val="000000"/>
                </a:solidFill>
                <a:effectLst/>
                <a:latin typeface="Courier New" panose="02070309020205020404" pitchFamily="49" charset="0"/>
              </a:rPr>
              <a:t>AutoTokenizer.from_pretrained</a:t>
            </a:r>
            <a:r>
              <a:rPr lang="en-US" sz="2600" b="0" dirty="0">
                <a:solidFill>
                  <a:srgbClr val="000000"/>
                </a:solidFill>
                <a:effectLst/>
                <a:latin typeface="Courier New" panose="02070309020205020404" pitchFamily="49" charset="0"/>
              </a:rPr>
              <a:t>(</a:t>
            </a:r>
            <a:r>
              <a:rPr lang="en-US" sz="2600" b="0" dirty="0" err="1">
                <a:solidFill>
                  <a:srgbClr val="000000"/>
                </a:solidFill>
                <a:effectLst/>
                <a:latin typeface="Courier New" panose="02070309020205020404" pitchFamily="49" charset="0"/>
              </a:rPr>
              <a:t>model_name</a:t>
            </a:r>
            <a:r>
              <a:rPr lang="en-US" sz="2600" b="0" dirty="0">
                <a:solidFill>
                  <a:srgbClr val="000000"/>
                </a:solidFill>
                <a:effectLst/>
                <a:latin typeface="Courier New" panose="02070309020205020404" pitchFamily="49" charset="0"/>
              </a:rPr>
              <a:t>)</a:t>
            </a:r>
          </a:p>
        </p:txBody>
      </p:sp>
      <p:pic>
        <p:nvPicPr>
          <p:cNvPr id="10" name="Picture 9">
            <a:extLst>
              <a:ext uri="{FF2B5EF4-FFF2-40B4-BE49-F238E27FC236}">
                <a16:creationId xmlns:a16="http://schemas.microsoft.com/office/drawing/2014/main" id="{95791C4C-839B-2461-A98A-E9BFCDD65F50}"/>
              </a:ext>
            </a:extLst>
          </p:cNvPr>
          <p:cNvPicPr>
            <a:picLocks noChangeAspect="1"/>
          </p:cNvPicPr>
          <p:nvPr/>
        </p:nvPicPr>
        <p:blipFill>
          <a:blip r:embed="rId3"/>
          <a:srcRect b="18211"/>
          <a:stretch>
            <a:fillRect/>
          </a:stretch>
        </p:blipFill>
        <p:spPr>
          <a:xfrm>
            <a:off x="502921" y="2169235"/>
            <a:ext cx="8038914" cy="3698390"/>
          </a:xfrm>
          <a:prstGeom prst="rect">
            <a:avLst/>
          </a:prstGeom>
        </p:spPr>
      </p:pic>
      <p:sp>
        <p:nvSpPr>
          <p:cNvPr id="12" name="TextBox 11">
            <a:extLst>
              <a:ext uri="{FF2B5EF4-FFF2-40B4-BE49-F238E27FC236}">
                <a16:creationId xmlns:a16="http://schemas.microsoft.com/office/drawing/2014/main" id="{CC2EF613-3B02-3A97-DB96-E04E6F84A0F3}"/>
              </a:ext>
            </a:extLst>
          </p:cNvPr>
          <p:cNvSpPr txBox="1"/>
          <p:nvPr/>
        </p:nvSpPr>
        <p:spPr>
          <a:xfrm>
            <a:off x="462032" y="5891629"/>
            <a:ext cx="6116444" cy="646331"/>
          </a:xfrm>
          <a:prstGeom prst="rect">
            <a:avLst/>
          </a:prstGeom>
          <a:noFill/>
        </p:spPr>
        <p:txBody>
          <a:bodyPr wrap="square">
            <a:spAutoFit/>
          </a:bodyPr>
          <a:lstStyle/>
          <a:p>
            <a:r>
              <a:rPr lang="en-US" dirty="0">
                <a:hlinkClick r:id="rId4"/>
              </a:rPr>
              <a:t>https://colab.research.google.com/drive/1QjxSJ95se_UqrQvn7ZStzZQV1TtfcJyL?usp=sharing</a:t>
            </a:r>
            <a:r>
              <a:rPr lang="en-US" dirty="0"/>
              <a:t> </a:t>
            </a:r>
          </a:p>
        </p:txBody>
      </p:sp>
      <p:sp>
        <p:nvSpPr>
          <p:cNvPr id="14" name="TextBox 13">
            <a:extLst>
              <a:ext uri="{FF2B5EF4-FFF2-40B4-BE49-F238E27FC236}">
                <a16:creationId xmlns:a16="http://schemas.microsoft.com/office/drawing/2014/main" id="{B960EB5D-F5DC-C401-AEFB-C014821A5FE6}"/>
              </a:ext>
            </a:extLst>
          </p:cNvPr>
          <p:cNvSpPr txBox="1"/>
          <p:nvPr/>
        </p:nvSpPr>
        <p:spPr>
          <a:xfrm>
            <a:off x="8579835" y="2759656"/>
            <a:ext cx="3650165" cy="2610843"/>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The tokenizer converts our text into tokens that the model can process.</a:t>
            </a:r>
          </a:p>
        </p:txBody>
      </p:sp>
    </p:spTree>
    <p:extLst>
      <p:ext uri="{BB962C8B-B14F-4D97-AF65-F5344CB8AC3E}">
        <p14:creationId xmlns:p14="http://schemas.microsoft.com/office/powerpoint/2010/main" val="2141163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37B91C-9D25-2746-6FD8-C01384729F4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1F5A9D-355E-556C-CFEF-864122F5C9E6}"/>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68A2E827-8868-8E34-A760-B6ECACCED3B7}"/>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16</a:t>
            </a:fld>
            <a:endParaRPr lang="en-US"/>
          </a:p>
        </p:txBody>
      </p:sp>
      <p:sp>
        <p:nvSpPr>
          <p:cNvPr id="7" name="TextBox 6">
            <a:extLst>
              <a:ext uri="{FF2B5EF4-FFF2-40B4-BE49-F238E27FC236}">
                <a16:creationId xmlns:a16="http://schemas.microsoft.com/office/drawing/2014/main" id="{99631E88-D475-3BBD-4145-CA74DE97E5CA}"/>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5 — Load the model onto the available hardware (Load Phi-3)</a:t>
            </a:r>
          </a:p>
        </p:txBody>
      </p:sp>
      <p:sp>
        <p:nvSpPr>
          <p:cNvPr id="4" name="TextBox 3">
            <a:extLst>
              <a:ext uri="{FF2B5EF4-FFF2-40B4-BE49-F238E27FC236}">
                <a16:creationId xmlns:a16="http://schemas.microsoft.com/office/drawing/2014/main" id="{758CB3C8-1755-EFCB-2BE6-E344B87FAFFC}"/>
              </a:ext>
            </a:extLst>
          </p:cNvPr>
          <p:cNvSpPr txBox="1"/>
          <p:nvPr/>
        </p:nvSpPr>
        <p:spPr>
          <a:xfrm>
            <a:off x="502920" y="1706137"/>
            <a:ext cx="11227048" cy="2092881"/>
          </a:xfrm>
          <a:prstGeom prst="rect">
            <a:avLst/>
          </a:prstGeom>
          <a:noFill/>
        </p:spPr>
        <p:txBody>
          <a:bodyPr wrap="square">
            <a:spAutoFit/>
          </a:bodyPr>
          <a:lstStyle/>
          <a:p>
            <a:pPr>
              <a:buNone/>
            </a:pPr>
            <a:r>
              <a:rPr lang="en-US" sz="2600" b="0" dirty="0">
                <a:solidFill>
                  <a:srgbClr val="000000"/>
                </a:solidFill>
                <a:effectLst/>
                <a:latin typeface="Courier New" panose="02070309020205020404" pitchFamily="49" charset="0"/>
              </a:rPr>
              <a:t>model = </a:t>
            </a:r>
            <a:r>
              <a:rPr lang="en-US" sz="2600" b="0" dirty="0" err="1">
                <a:solidFill>
                  <a:srgbClr val="000000"/>
                </a:solidFill>
                <a:effectLst/>
                <a:latin typeface="Courier New" panose="02070309020205020404" pitchFamily="49" charset="0"/>
              </a:rPr>
              <a:t>AutoModelForCausalLM.from_pretrained</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model_name</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device_map</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"auto"</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torch_dtype</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"auto"</a:t>
            </a:r>
            <a:endParaRPr lang="en-US" sz="2600" b="0" dirty="0">
              <a:solidFill>
                <a:srgbClr val="000000"/>
              </a:solidFill>
              <a:effectLst/>
              <a:latin typeface="Courier New" panose="02070309020205020404" pitchFamily="49" charset="0"/>
            </a:endParaRPr>
          </a:p>
          <a:p>
            <a:pPr>
              <a:buNone/>
            </a:pPr>
            <a:r>
              <a:rPr lang="en-US" sz="2600" b="0" dirty="0">
                <a:solidFill>
                  <a:srgbClr val="000000"/>
                </a:solidFill>
                <a:effectLst/>
                <a:latin typeface="Courier New" panose="02070309020205020404" pitchFamily="49" charset="0"/>
              </a:rPr>
              <a:t>)</a:t>
            </a:r>
          </a:p>
        </p:txBody>
      </p:sp>
      <p:sp>
        <p:nvSpPr>
          <p:cNvPr id="6" name="TextBox 5">
            <a:extLst>
              <a:ext uri="{FF2B5EF4-FFF2-40B4-BE49-F238E27FC236}">
                <a16:creationId xmlns:a16="http://schemas.microsoft.com/office/drawing/2014/main" id="{80DBDFD9-431A-8B3E-DB91-C47D6E42BB8B}"/>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pic>
        <p:nvPicPr>
          <p:cNvPr id="15" name="Picture 14">
            <a:extLst>
              <a:ext uri="{FF2B5EF4-FFF2-40B4-BE49-F238E27FC236}">
                <a16:creationId xmlns:a16="http://schemas.microsoft.com/office/drawing/2014/main" id="{771B8B30-59CD-D28F-6E2D-4E4D9A29926D}"/>
              </a:ext>
            </a:extLst>
          </p:cNvPr>
          <p:cNvPicPr>
            <a:picLocks noChangeAspect="1"/>
          </p:cNvPicPr>
          <p:nvPr/>
        </p:nvPicPr>
        <p:blipFill>
          <a:blip r:embed="rId4"/>
          <a:srcRect b="18049"/>
          <a:stretch>
            <a:fillRect/>
          </a:stretch>
        </p:blipFill>
        <p:spPr>
          <a:xfrm>
            <a:off x="4962292" y="2586788"/>
            <a:ext cx="7229707" cy="3332719"/>
          </a:xfrm>
          <a:prstGeom prst="rect">
            <a:avLst/>
          </a:prstGeom>
        </p:spPr>
      </p:pic>
      <p:sp>
        <p:nvSpPr>
          <p:cNvPr id="17" name="TextBox 16">
            <a:extLst>
              <a:ext uri="{FF2B5EF4-FFF2-40B4-BE49-F238E27FC236}">
                <a16:creationId xmlns:a16="http://schemas.microsoft.com/office/drawing/2014/main" id="{4FDBBCAD-E82F-7BC5-DB14-BB3B4EC881F5}"/>
              </a:ext>
            </a:extLst>
          </p:cNvPr>
          <p:cNvSpPr txBox="1"/>
          <p:nvPr/>
        </p:nvSpPr>
        <p:spPr>
          <a:xfrm>
            <a:off x="502920" y="4049564"/>
            <a:ext cx="4459373" cy="1711366"/>
          </a:xfrm>
          <a:prstGeom prst="rect">
            <a:avLst/>
          </a:prstGeom>
          <a:noFill/>
        </p:spPr>
        <p:txBody>
          <a:bodyPr wrap="square">
            <a:spAutoFit/>
          </a:bodyPr>
          <a:lstStyle/>
          <a:p>
            <a:pPr>
              <a:lnSpc>
                <a:spcPct val="150000"/>
              </a:lnSpc>
            </a:pPr>
            <a:r>
              <a:rPr lang="en-US" dirty="0" err="1">
                <a:highlight>
                  <a:srgbClr val="FFFF00"/>
                </a:highlight>
                <a:latin typeface="Calibri" panose="020F0502020204030204" pitchFamily="34" charset="0"/>
                <a:cs typeface="Calibri" panose="020F0502020204030204" pitchFamily="34" charset="0"/>
              </a:rPr>
              <a:t>device_map</a:t>
            </a:r>
            <a:r>
              <a:rPr lang="en-US" dirty="0">
                <a:highlight>
                  <a:srgbClr val="FFFF00"/>
                </a:highlight>
                <a:latin typeface="Calibri" panose="020F0502020204030204" pitchFamily="34" charset="0"/>
                <a:cs typeface="Calibri" panose="020F0502020204030204" pitchFamily="34" charset="0"/>
              </a:rPr>
              <a:t>="auto" </a:t>
            </a:r>
            <a:r>
              <a:rPr lang="en-US" dirty="0">
                <a:latin typeface="Calibri" panose="020F0502020204030204" pitchFamily="34" charset="0"/>
                <a:cs typeface="Calibri" panose="020F0502020204030204" pitchFamily="34" charset="0"/>
              </a:rPr>
              <a:t>allows the framework to choose the appropriate available device, while </a:t>
            </a:r>
            <a:r>
              <a:rPr lang="en-US" dirty="0" err="1">
                <a:highlight>
                  <a:srgbClr val="FFFF00"/>
                </a:highlight>
                <a:latin typeface="Calibri" panose="020F0502020204030204" pitchFamily="34" charset="0"/>
                <a:cs typeface="Calibri" panose="020F0502020204030204" pitchFamily="34" charset="0"/>
              </a:rPr>
              <a:t>torch_dtype</a:t>
            </a:r>
            <a:r>
              <a:rPr lang="en-US" dirty="0">
                <a:highlight>
                  <a:srgbClr val="FFFF00"/>
                </a:highlight>
                <a:latin typeface="Calibri" panose="020F0502020204030204" pitchFamily="34" charset="0"/>
                <a:cs typeface="Calibri" panose="020F0502020204030204" pitchFamily="34" charset="0"/>
              </a:rPr>
              <a:t>="auto" </a:t>
            </a:r>
            <a:r>
              <a:rPr lang="en-US" dirty="0">
                <a:latin typeface="Calibri" panose="020F0502020204030204" pitchFamily="34" charset="0"/>
                <a:cs typeface="Calibri" panose="020F0502020204030204" pitchFamily="34" charset="0"/>
              </a:rPr>
              <a:t>uses a suitable numerical representation for the model.</a:t>
            </a:r>
          </a:p>
        </p:txBody>
      </p:sp>
    </p:spTree>
    <p:extLst>
      <p:ext uri="{BB962C8B-B14F-4D97-AF65-F5344CB8AC3E}">
        <p14:creationId xmlns:p14="http://schemas.microsoft.com/office/powerpoint/2010/main" val="2284914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D5272-3B21-E772-951B-B29C6E6581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C4C7875-C2A7-33E1-C920-321A499586C3}"/>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4B633DE4-45B9-6F77-59B7-24D64EF0FE4F}"/>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17</a:t>
            </a:fld>
            <a:endParaRPr lang="en-US"/>
          </a:p>
        </p:txBody>
      </p:sp>
      <p:sp>
        <p:nvSpPr>
          <p:cNvPr id="7" name="TextBox 6">
            <a:extLst>
              <a:ext uri="{FF2B5EF4-FFF2-40B4-BE49-F238E27FC236}">
                <a16:creationId xmlns:a16="http://schemas.microsoft.com/office/drawing/2014/main" id="{89E904A8-BE4A-E4D1-87C3-464779A923AC}"/>
              </a:ext>
            </a:extLst>
          </p:cNvPr>
          <p:cNvSpPr txBox="1"/>
          <p:nvPr/>
        </p:nvSpPr>
        <p:spPr>
          <a:xfrm>
            <a:off x="350519" y="806044"/>
            <a:ext cx="11227048" cy="67185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6 — Create a text-generation pipeline</a:t>
            </a:r>
          </a:p>
        </p:txBody>
      </p:sp>
      <p:sp>
        <p:nvSpPr>
          <p:cNvPr id="6" name="TextBox 5">
            <a:extLst>
              <a:ext uri="{FF2B5EF4-FFF2-40B4-BE49-F238E27FC236}">
                <a16:creationId xmlns:a16="http://schemas.microsoft.com/office/drawing/2014/main" id="{7F98A666-22C6-FDB5-2FFB-ABEC92608699}"/>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5" name="TextBox 4">
            <a:extLst>
              <a:ext uri="{FF2B5EF4-FFF2-40B4-BE49-F238E27FC236}">
                <a16:creationId xmlns:a16="http://schemas.microsoft.com/office/drawing/2014/main" id="{B3ACDCFB-8E62-DF27-276B-187BD2926A74}"/>
              </a:ext>
            </a:extLst>
          </p:cNvPr>
          <p:cNvSpPr txBox="1"/>
          <p:nvPr/>
        </p:nvSpPr>
        <p:spPr>
          <a:xfrm>
            <a:off x="502920" y="1852045"/>
            <a:ext cx="6116444" cy="3293209"/>
          </a:xfrm>
          <a:prstGeom prst="rect">
            <a:avLst/>
          </a:prstGeom>
          <a:noFill/>
        </p:spPr>
        <p:txBody>
          <a:bodyPr wrap="square">
            <a:spAutoFit/>
          </a:bodyPr>
          <a:lstStyle/>
          <a:p>
            <a:pPr>
              <a:buNone/>
            </a:pPr>
            <a:r>
              <a:rPr lang="en-US" sz="2600" b="0" dirty="0">
                <a:solidFill>
                  <a:srgbClr val="000000"/>
                </a:solidFill>
                <a:effectLst/>
                <a:latin typeface="Courier New" panose="02070309020205020404" pitchFamily="49" charset="0"/>
              </a:rPr>
              <a:t>generator = pipeline(</a:t>
            </a:r>
          </a:p>
          <a:p>
            <a:pPr>
              <a:buNone/>
            </a:pPr>
            <a:r>
              <a:rPr lang="en-US" sz="2600" b="0" dirty="0">
                <a:solidFill>
                  <a:srgbClr val="000000"/>
                </a:solidFill>
                <a:effectLst/>
                <a:latin typeface="Courier New" panose="02070309020205020404" pitchFamily="49" charset="0"/>
              </a:rPr>
              <a:t>    </a:t>
            </a:r>
            <a:r>
              <a:rPr lang="en-US" sz="2600" b="0" dirty="0">
                <a:solidFill>
                  <a:srgbClr val="A31515"/>
                </a:solidFill>
                <a:effectLst/>
                <a:latin typeface="Courier New" panose="02070309020205020404" pitchFamily="49" charset="0"/>
              </a:rPr>
              <a:t>"text-generation"</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model=model,</a:t>
            </a:r>
          </a:p>
          <a:p>
            <a:pPr>
              <a:buNone/>
            </a:pPr>
            <a:r>
              <a:rPr lang="en-US" sz="2600" b="0" dirty="0">
                <a:solidFill>
                  <a:srgbClr val="000000"/>
                </a:solidFill>
                <a:effectLst/>
                <a:latin typeface="Courier New" panose="02070309020205020404" pitchFamily="49" charset="0"/>
              </a:rPr>
              <a:t>    tokenizer=tokenizer,</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return_full_text</a:t>
            </a:r>
            <a:r>
              <a:rPr lang="en-US" sz="2600" b="0" dirty="0">
                <a:solidFill>
                  <a:srgbClr val="000000"/>
                </a:solidFill>
                <a:effectLst/>
                <a:latin typeface="Courier New" panose="02070309020205020404" pitchFamily="49" charset="0"/>
              </a:rPr>
              <a:t>=</a:t>
            </a:r>
            <a:r>
              <a:rPr lang="en-US" sz="2600" b="0" dirty="0">
                <a:solidFill>
                  <a:srgbClr val="0000FF"/>
                </a:solidFill>
                <a:effectLst/>
                <a:latin typeface="Courier New" panose="02070309020205020404" pitchFamily="49" charset="0"/>
              </a:rPr>
              <a:t>False</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max_new_tokens</a:t>
            </a:r>
            <a:r>
              <a:rPr lang="en-US" sz="2600" b="0" dirty="0">
                <a:solidFill>
                  <a:srgbClr val="000000"/>
                </a:solidFill>
                <a:effectLst/>
                <a:latin typeface="Courier New" panose="02070309020205020404" pitchFamily="49" charset="0"/>
              </a:rPr>
              <a:t>=</a:t>
            </a:r>
            <a:r>
              <a:rPr lang="en-US" sz="2600" b="0" dirty="0">
                <a:solidFill>
                  <a:srgbClr val="116644"/>
                </a:solidFill>
                <a:effectLst/>
                <a:latin typeface="Courier New" panose="02070309020205020404" pitchFamily="49" charset="0"/>
              </a:rPr>
              <a:t>100</a:t>
            </a: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    </a:t>
            </a:r>
            <a:r>
              <a:rPr lang="en-US" sz="2600" b="0" dirty="0" err="1">
                <a:solidFill>
                  <a:srgbClr val="000000"/>
                </a:solidFill>
                <a:effectLst/>
                <a:latin typeface="Courier New" panose="02070309020205020404" pitchFamily="49" charset="0"/>
              </a:rPr>
              <a:t>do_sample</a:t>
            </a:r>
            <a:r>
              <a:rPr lang="en-US" sz="2600" b="0" dirty="0">
                <a:solidFill>
                  <a:srgbClr val="000000"/>
                </a:solidFill>
                <a:effectLst/>
                <a:latin typeface="Courier New" panose="02070309020205020404" pitchFamily="49" charset="0"/>
              </a:rPr>
              <a:t>=</a:t>
            </a:r>
            <a:r>
              <a:rPr lang="en-US" sz="2600" b="0" dirty="0">
                <a:solidFill>
                  <a:srgbClr val="0000FF"/>
                </a:solidFill>
                <a:effectLst/>
                <a:latin typeface="Courier New" panose="02070309020205020404" pitchFamily="49" charset="0"/>
              </a:rPr>
              <a:t>False</a:t>
            </a:r>
            <a:endParaRPr lang="en-US" sz="2600" b="0" dirty="0">
              <a:solidFill>
                <a:srgbClr val="000000"/>
              </a:solidFill>
              <a:effectLst/>
              <a:latin typeface="Courier New" panose="02070309020205020404" pitchFamily="49" charset="0"/>
            </a:endParaRPr>
          </a:p>
          <a:p>
            <a:pPr>
              <a:buNone/>
            </a:pPr>
            <a:r>
              <a:rPr lang="en-US" sz="2600" b="0" dirty="0">
                <a:solidFill>
                  <a:srgbClr val="000000"/>
                </a:solidFill>
                <a:effectLst/>
                <a:latin typeface="Courier New" panose="02070309020205020404" pitchFamily="49" charset="0"/>
              </a:rPr>
              <a:t>)</a:t>
            </a:r>
          </a:p>
        </p:txBody>
      </p:sp>
      <p:pic>
        <p:nvPicPr>
          <p:cNvPr id="9" name="Picture 8">
            <a:extLst>
              <a:ext uri="{FF2B5EF4-FFF2-40B4-BE49-F238E27FC236}">
                <a16:creationId xmlns:a16="http://schemas.microsoft.com/office/drawing/2014/main" id="{8FEAB563-6EFD-3A2C-583D-E019D4CE83C3}"/>
              </a:ext>
            </a:extLst>
          </p:cNvPr>
          <p:cNvPicPr>
            <a:picLocks noChangeAspect="1"/>
          </p:cNvPicPr>
          <p:nvPr/>
        </p:nvPicPr>
        <p:blipFill>
          <a:blip r:embed="rId4"/>
          <a:srcRect r="1951" b="28130"/>
          <a:stretch>
            <a:fillRect/>
          </a:stretch>
        </p:blipFill>
        <p:spPr>
          <a:xfrm>
            <a:off x="6134000" y="1552419"/>
            <a:ext cx="6096000" cy="2513463"/>
          </a:xfrm>
          <a:prstGeom prst="rect">
            <a:avLst/>
          </a:prstGeom>
        </p:spPr>
      </p:pic>
      <p:sp>
        <p:nvSpPr>
          <p:cNvPr id="12" name="TextBox 11">
            <a:extLst>
              <a:ext uri="{FF2B5EF4-FFF2-40B4-BE49-F238E27FC236}">
                <a16:creationId xmlns:a16="http://schemas.microsoft.com/office/drawing/2014/main" id="{95F2926D-4DFE-8F23-CE36-6F4B5A4B34E3}"/>
              </a:ext>
            </a:extLst>
          </p:cNvPr>
          <p:cNvSpPr txBox="1"/>
          <p:nvPr/>
        </p:nvSpPr>
        <p:spPr>
          <a:xfrm>
            <a:off x="6578476" y="4053650"/>
            <a:ext cx="5613524" cy="2610843"/>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We limited the generated response </a:t>
            </a:r>
            <a:r>
              <a:rPr lang="en-US" sz="2800">
                <a:latin typeface="Calibri" panose="020F0502020204030204" pitchFamily="34" charset="0"/>
                <a:cs typeface="Calibri" panose="020F0502020204030204" pitchFamily="34" charset="0"/>
              </a:rPr>
              <a:t>to 100 </a:t>
            </a:r>
            <a:r>
              <a:rPr lang="en-US" sz="2800" dirty="0">
                <a:latin typeface="Calibri" panose="020F0502020204030204" pitchFamily="34" charset="0"/>
                <a:cs typeface="Calibri" panose="020F0502020204030204" pitchFamily="34" charset="0"/>
              </a:rPr>
              <a:t>new tokens and used deterministic generation rather than random sampling.</a:t>
            </a:r>
          </a:p>
        </p:txBody>
      </p:sp>
    </p:spTree>
    <p:extLst>
      <p:ext uri="{BB962C8B-B14F-4D97-AF65-F5344CB8AC3E}">
        <p14:creationId xmlns:p14="http://schemas.microsoft.com/office/powerpoint/2010/main" val="1570710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2745E-307F-214C-526C-8AAA1DAE920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14688B3-994C-3331-9F86-27095CBC4FFC}"/>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D5899112-75AC-E31B-C1C9-E38F49774362}"/>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18</a:t>
            </a:fld>
            <a:endParaRPr lang="en-US"/>
          </a:p>
        </p:txBody>
      </p:sp>
      <p:sp>
        <p:nvSpPr>
          <p:cNvPr id="7" name="TextBox 6">
            <a:extLst>
              <a:ext uri="{FF2B5EF4-FFF2-40B4-BE49-F238E27FC236}">
                <a16:creationId xmlns:a16="http://schemas.microsoft.com/office/drawing/2014/main" id="{955CA005-26CF-5677-130C-4C21E9BE5592}"/>
              </a:ext>
            </a:extLst>
          </p:cNvPr>
          <p:cNvSpPr txBox="1"/>
          <p:nvPr/>
        </p:nvSpPr>
        <p:spPr>
          <a:xfrm>
            <a:off x="350519" y="806044"/>
            <a:ext cx="11227048" cy="1318181"/>
          </a:xfrm>
          <a:prstGeom prst="rect">
            <a:avLst/>
          </a:prstGeom>
          <a:noFill/>
        </p:spPr>
        <p:txBody>
          <a:bodyPr wrap="square">
            <a:spAutoFit/>
          </a:bodyPr>
          <a:lstStyle/>
          <a:p>
            <a:pPr>
              <a:lnSpc>
                <a:spcPct val="150000"/>
              </a:lnSpc>
              <a:buNone/>
            </a:pPr>
            <a:r>
              <a:rPr lang="en-US" sz="2800" dirty="0">
                <a:latin typeface="Calibri" panose="020F0502020204030204" pitchFamily="34" charset="0"/>
                <a:cs typeface="Calibri" panose="020F0502020204030204" pitchFamily="34" charset="0"/>
              </a:rPr>
              <a:t>Cell 7 — Give the LLM  prompt </a:t>
            </a:r>
            <a:br>
              <a:rPr lang="en-US" sz="2800" dirty="0">
                <a:latin typeface="Calibri" panose="020F0502020204030204" pitchFamily="34" charset="0"/>
                <a:cs typeface="Calibri" panose="020F0502020204030204" pitchFamily="34" charset="0"/>
              </a:rPr>
            </a:br>
            <a:r>
              <a:rPr lang="en-US" sz="2800" dirty="0">
                <a:latin typeface="Calibri" panose="020F0502020204030204" pitchFamily="34" charset="0"/>
                <a:cs typeface="Calibri" panose="020F0502020204030204" pitchFamily="34" charset="0"/>
              </a:rPr>
              <a:t>(Test it)</a:t>
            </a:r>
          </a:p>
        </p:txBody>
      </p:sp>
      <p:sp>
        <p:nvSpPr>
          <p:cNvPr id="6" name="TextBox 5">
            <a:extLst>
              <a:ext uri="{FF2B5EF4-FFF2-40B4-BE49-F238E27FC236}">
                <a16:creationId xmlns:a16="http://schemas.microsoft.com/office/drawing/2014/main" id="{F32F74B1-7C2C-B815-957F-7DF07FCBAE53}"/>
              </a:ext>
            </a:extLst>
          </p:cNvPr>
          <p:cNvSpPr txBox="1"/>
          <p:nvPr/>
        </p:nvSpPr>
        <p:spPr>
          <a:xfrm>
            <a:off x="462032" y="5891629"/>
            <a:ext cx="6116444" cy="646331"/>
          </a:xfrm>
          <a:prstGeom prst="rect">
            <a:avLst/>
          </a:prstGeom>
          <a:noFill/>
        </p:spPr>
        <p:txBody>
          <a:bodyPr wrap="square">
            <a:spAutoFit/>
          </a:bodyPr>
          <a:lstStyle/>
          <a:p>
            <a:r>
              <a:rPr lang="en-US" dirty="0">
                <a:hlinkClick r:id="rId3"/>
              </a:rPr>
              <a:t>https://colab.research.google.com/drive/1QjxSJ95se_UqrQvn7ZStzZQV1TtfcJyL?usp=sharing</a:t>
            </a:r>
            <a:r>
              <a:rPr lang="en-US" dirty="0"/>
              <a:t> </a:t>
            </a:r>
          </a:p>
        </p:txBody>
      </p:sp>
      <p:sp>
        <p:nvSpPr>
          <p:cNvPr id="4" name="TextBox 3">
            <a:extLst>
              <a:ext uri="{FF2B5EF4-FFF2-40B4-BE49-F238E27FC236}">
                <a16:creationId xmlns:a16="http://schemas.microsoft.com/office/drawing/2014/main" id="{33AF4F48-0EF0-F878-F3BA-0018BEC56592}"/>
              </a:ext>
            </a:extLst>
          </p:cNvPr>
          <p:cNvSpPr txBox="1"/>
          <p:nvPr/>
        </p:nvSpPr>
        <p:spPr>
          <a:xfrm>
            <a:off x="502920" y="2469044"/>
            <a:ext cx="11727080" cy="3077766"/>
          </a:xfrm>
          <a:prstGeom prst="rect">
            <a:avLst/>
          </a:prstGeom>
          <a:noFill/>
        </p:spPr>
        <p:txBody>
          <a:bodyPr wrap="square">
            <a:spAutoFit/>
          </a:bodyPr>
          <a:lstStyle/>
          <a:p>
            <a:pPr>
              <a:buNone/>
            </a:pPr>
            <a:r>
              <a:rPr lang="en-US" sz="2600" b="0" dirty="0">
                <a:solidFill>
                  <a:srgbClr val="000000"/>
                </a:solidFill>
                <a:effectLst/>
                <a:latin typeface="Courier New" panose="02070309020205020404" pitchFamily="49" charset="0"/>
              </a:rPr>
              <a:t>messages = [</a:t>
            </a:r>
          </a:p>
          <a:p>
            <a:pPr>
              <a:buNone/>
            </a:pPr>
            <a:r>
              <a:rPr lang="en-US" sz="2600" b="0" dirty="0">
                <a:solidFill>
                  <a:srgbClr val="000000"/>
                </a:solidFill>
                <a:effectLst/>
                <a:latin typeface="Courier New" panose="02070309020205020404" pitchFamily="49" charset="0"/>
              </a:rPr>
              <a:t>    {</a:t>
            </a:r>
          </a:p>
          <a:p>
            <a:pPr>
              <a:buNone/>
            </a:pPr>
            <a:r>
              <a:rPr lang="en-US" sz="1900" b="0" dirty="0">
                <a:solidFill>
                  <a:srgbClr val="000000"/>
                </a:solidFill>
                <a:effectLst/>
                <a:latin typeface="Courier New" panose="02070309020205020404" pitchFamily="49" charset="0"/>
              </a:rPr>
              <a:t>        </a:t>
            </a:r>
            <a:r>
              <a:rPr lang="en-US" sz="1900" b="0" dirty="0">
                <a:solidFill>
                  <a:srgbClr val="A31515"/>
                </a:solidFill>
                <a:effectLst/>
                <a:latin typeface="Courier New" panose="02070309020205020404" pitchFamily="49" charset="0"/>
              </a:rPr>
              <a:t>"role"</a:t>
            </a:r>
            <a:r>
              <a:rPr lang="en-US" sz="1900" b="0" dirty="0">
                <a:solidFill>
                  <a:srgbClr val="000000"/>
                </a:solidFill>
                <a:effectLst/>
                <a:latin typeface="Courier New" panose="02070309020205020404" pitchFamily="49" charset="0"/>
              </a:rPr>
              <a:t>: </a:t>
            </a:r>
            <a:r>
              <a:rPr lang="en-US" sz="1900" b="0" dirty="0">
                <a:solidFill>
                  <a:srgbClr val="A31515"/>
                </a:solidFill>
                <a:effectLst/>
                <a:latin typeface="Courier New" panose="02070309020205020404" pitchFamily="49" charset="0"/>
              </a:rPr>
              <a:t>"user"</a:t>
            </a:r>
            <a:r>
              <a:rPr lang="en-US" sz="1900" b="0" dirty="0">
                <a:solidFill>
                  <a:srgbClr val="000000"/>
                </a:solidFill>
                <a:effectLst/>
                <a:latin typeface="Courier New" panose="02070309020205020404" pitchFamily="49" charset="0"/>
              </a:rPr>
              <a:t>,</a:t>
            </a:r>
          </a:p>
          <a:p>
            <a:pPr>
              <a:buNone/>
            </a:pPr>
            <a:r>
              <a:rPr lang="en-US" sz="1900" b="0" dirty="0">
                <a:solidFill>
                  <a:srgbClr val="000000"/>
                </a:solidFill>
                <a:effectLst/>
                <a:latin typeface="Courier New" panose="02070309020205020404" pitchFamily="49" charset="0"/>
              </a:rPr>
              <a:t>        </a:t>
            </a:r>
            <a:r>
              <a:rPr lang="en-US" sz="1900" b="0" dirty="0">
                <a:solidFill>
                  <a:srgbClr val="A31515"/>
                </a:solidFill>
                <a:effectLst/>
                <a:latin typeface="Courier New" panose="02070309020205020404" pitchFamily="49" charset="0"/>
              </a:rPr>
              <a:t>"content"</a:t>
            </a:r>
            <a:r>
              <a:rPr lang="en-US" sz="1900" b="0" dirty="0">
                <a:solidFill>
                  <a:srgbClr val="000000"/>
                </a:solidFill>
                <a:effectLst/>
                <a:latin typeface="Courier New" panose="02070309020205020404" pitchFamily="49" charset="0"/>
              </a:rPr>
              <a:t>: </a:t>
            </a:r>
            <a:r>
              <a:rPr lang="en-US" sz="1900" b="0" dirty="0">
                <a:solidFill>
                  <a:srgbClr val="A31515"/>
                </a:solidFill>
                <a:effectLst/>
                <a:latin typeface="Courier New" panose="02070309020205020404" pitchFamily="49" charset="0"/>
              </a:rPr>
              <a:t>"Explain photosynthesis to a 12-year-old in two sentences."</a:t>
            </a:r>
            <a:endParaRPr lang="en-US" sz="1900" b="0" dirty="0">
              <a:solidFill>
                <a:srgbClr val="000000"/>
              </a:solidFill>
              <a:effectLst/>
              <a:latin typeface="Courier New" panose="02070309020205020404" pitchFamily="49" charset="0"/>
            </a:endParaRPr>
          </a:p>
          <a:p>
            <a:pPr>
              <a:buNone/>
            </a:pPr>
            <a:r>
              <a:rPr lang="en-US" sz="2600" b="0" dirty="0">
                <a:solidFill>
                  <a:srgbClr val="000000"/>
                </a:solidFill>
                <a:effectLst/>
                <a:latin typeface="Courier New" panose="02070309020205020404" pitchFamily="49" charset="0"/>
              </a:rPr>
              <a:t>    }</a:t>
            </a:r>
          </a:p>
          <a:p>
            <a:pPr>
              <a:buNone/>
            </a:pPr>
            <a:r>
              <a:rPr lang="en-US" sz="2600" b="0" dirty="0">
                <a:solidFill>
                  <a:srgbClr val="000000"/>
                </a:solidFill>
                <a:effectLst/>
                <a:latin typeface="Courier New" panose="02070309020205020404" pitchFamily="49" charset="0"/>
              </a:rPr>
              <a:t>]</a:t>
            </a:r>
          </a:p>
          <a:p>
            <a:pPr>
              <a:buNone/>
            </a:pPr>
            <a:r>
              <a:rPr lang="en-US" sz="2600" b="0" dirty="0">
                <a:solidFill>
                  <a:srgbClr val="000000"/>
                </a:solidFill>
                <a:effectLst/>
                <a:latin typeface="Courier New" panose="02070309020205020404" pitchFamily="49" charset="0"/>
              </a:rPr>
              <a:t>output = generator(messages)</a:t>
            </a:r>
          </a:p>
          <a:p>
            <a:pPr>
              <a:buNone/>
            </a:pPr>
            <a:r>
              <a:rPr lang="en-US" sz="2600" b="0" dirty="0">
                <a:solidFill>
                  <a:srgbClr val="6A5221"/>
                </a:solidFill>
                <a:effectLst/>
                <a:latin typeface="Courier New" panose="02070309020205020404" pitchFamily="49" charset="0"/>
              </a:rPr>
              <a:t>print</a:t>
            </a:r>
            <a:r>
              <a:rPr lang="en-US" sz="2600" b="0" dirty="0">
                <a:solidFill>
                  <a:srgbClr val="000000"/>
                </a:solidFill>
                <a:effectLst/>
                <a:latin typeface="Courier New" panose="02070309020205020404" pitchFamily="49" charset="0"/>
              </a:rPr>
              <a:t>(output[</a:t>
            </a:r>
            <a:r>
              <a:rPr lang="en-US" sz="2600" b="0" dirty="0">
                <a:solidFill>
                  <a:srgbClr val="116644"/>
                </a:solidFill>
                <a:effectLst/>
                <a:latin typeface="Courier New" panose="02070309020205020404" pitchFamily="49" charset="0"/>
              </a:rPr>
              <a:t>0</a:t>
            </a:r>
            <a:r>
              <a:rPr lang="en-US" sz="2600" b="0" dirty="0">
                <a:solidFill>
                  <a:srgbClr val="000000"/>
                </a:solidFill>
                <a:effectLst/>
                <a:latin typeface="Courier New" panose="02070309020205020404" pitchFamily="49" charset="0"/>
              </a:rPr>
              <a:t>][</a:t>
            </a:r>
            <a:r>
              <a:rPr lang="en-US" sz="2600" b="0" dirty="0">
                <a:solidFill>
                  <a:srgbClr val="A31515"/>
                </a:solidFill>
                <a:effectLst/>
                <a:latin typeface="Courier New" panose="02070309020205020404" pitchFamily="49" charset="0"/>
              </a:rPr>
              <a:t>"</a:t>
            </a:r>
            <a:r>
              <a:rPr lang="en-US" sz="2600" b="0" dirty="0" err="1">
                <a:solidFill>
                  <a:srgbClr val="A31515"/>
                </a:solidFill>
                <a:effectLst/>
                <a:latin typeface="Courier New" panose="02070309020205020404" pitchFamily="49" charset="0"/>
              </a:rPr>
              <a:t>generated_text</a:t>
            </a:r>
            <a:r>
              <a:rPr lang="en-US" sz="2600" b="0" dirty="0">
                <a:solidFill>
                  <a:srgbClr val="A31515"/>
                </a:solidFill>
                <a:effectLst/>
                <a:latin typeface="Courier New" panose="02070309020205020404" pitchFamily="49" charset="0"/>
              </a:rPr>
              <a:t>"</a:t>
            </a:r>
            <a:r>
              <a:rPr lang="en-US" sz="2600" b="0" dirty="0">
                <a:solidFill>
                  <a:srgbClr val="000000"/>
                </a:solidFill>
                <a:effectLst/>
                <a:latin typeface="Courier New" panose="02070309020205020404" pitchFamily="49" charset="0"/>
              </a:rPr>
              <a:t>])</a:t>
            </a:r>
          </a:p>
        </p:txBody>
      </p:sp>
      <p:pic>
        <p:nvPicPr>
          <p:cNvPr id="9" name="Picture 8">
            <a:extLst>
              <a:ext uri="{FF2B5EF4-FFF2-40B4-BE49-F238E27FC236}">
                <a16:creationId xmlns:a16="http://schemas.microsoft.com/office/drawing/2014/main" id="{C5B61A1A-A3FD-642B-A7BA-DD420592A672}"/>
              </a:ext>
            </a:extLst>
          </p:cNvPr>
          <p:cNvPicPr>
            <a:picLocks noChangeAspect="1"/>
          </p:cNvPicPr>
          <p:nvPr/>
        </p:nvPicPr>
        <p:blipFill>
          <a:blip r:embed="rId4"/>
          <a:srcRect r="2875" b="25853"/>
          <a:stretch>
            <a:fillRect/>
          </a:stretch>
        </p:blipFill>
        <p:spPr>
          <a:xfrm>
            <a:off x="5252224" y="0"/>
            <a:ext cx="6939776" cy="2980071"/>
          </a:xfrm>
          <a:prstGeom prst="rect">
            <a:avLst/>
          </a:prstGeom>
        </p:spPr>
      </p:pic>
    </p:spTree>
    <p:extLst>
      <p:ext uri="{BB962C8B-B14F-4D97-AF65-F5344CB8AC3E}">
        <p14:creationId xmlns:p14="http://schemas.microsoft.com/office/powerpoint/2010/main" val="2680844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87237-3F3C-A2B4-807B-C7B7266870E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43E43CB-055E-0526-C570-12F389AF76D9}"/>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17AEA1BF-C0F4-3BEA-C9A4-53E64DC6348A}"/>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19</a:t>
            </a:fld>
            <a:endParaRPr lang="en-US"/>
          </a:p>
        </p:txBody>
      </p:sp>
      <p:sp>
        <p:nvSpPr>
          <p:cNvPr id="4" name="TextBox 3">
            <a:extLst>
              <a:ext uri="{FF2B5EF4-FFF2-40B4-BE49-F238E27FC236}">
                <a16:creationId xmlns:a16="http://schemas.microsoft.com/office/drawing/2014/main" id="{FA84E317-BCA5-9F98-DD3F-AA932152A223}"/>
              </a:ext>
            </a:extLst>
          </p:cNvPr>
          <p:cNvSpPr txBox="1"/>
          <p:nvPr/>
        </p:nvSpPr>
        <p:spPr>
          <a:xfrm>
            <a:off x="289932" y="1048216"/>
            <a:ext cx="11653024" cy="2579039"/>
          </a:xfrm>
          <a:prstGeom prst="rect">
            <a:avLst/>
          </a:prstGeom>
          <a:noFill/>
        </p:spPr>
        <p:txBody>
          <a:bodyPr wrap="square">
            <a:spAutoFit/>
          </a:bodyPr>
          <a:lstStyle/>
          <a:p>
            <a:pPr>
              <a:lnSpc>
                <a:spcPct val="150000"/>
              </a:lnSpc>
              <a:buNone/>
            </a:pPr>
            <a:r>
              <a:rPr lang="en-US" sz="2200" dirty="0">
                <a:latin typeface="Calibri" panose="020F0502020204030204" pitchFamily="34" charset="0"/>
                <a:cs typeface="Calibri" panose="020F0502020204030204" pitchFamily="34" charset="0"/>
              </a:rPr>
              <a:t>Great — the experiment worked successfully. The final text beginning with </a:t>
            </a:r>
            <a:r>
              <a:rPr lang="en-US" sz="2200" i="1" dirty="0">
                <a:latin typeface="Calibri" panose="020F0502020204030204" pitchFamily="34" charset="0"/>
                <a:cs typeface="Calibri" panose="020F0502020204030204" pitchFamily="34" charset="0"/>
              </a:rPr>
              <a:t>“Photosynthesis is like a magic recipe plants use to make their food using sunlight, water, and air. They take in sunlight with their leaves, grab water from the ground, and use air to create sugar, which is their food, and oxygen, which we breathe.”</a:t>
            </a:r>
            <a:r>
              <a:rPr lang="en-US" sz="2200" dirty="0">
                <a:latin typeface="Calibri" panose="020F0502020204030204" pitchFamily="34" charset="0"/>
                <a:cs typeface="Calibri" panose="020F0502020204030204" pitchFamily="34" charset="0"/>
              </a:rPr>
              <a:t> is the response generated by Phi-3. The messages above it are warnings rather than failures.</a:t>
            </a:r>
          </a:p>
        </p:txBody>
      </p:sp>
      <p:pic>
        <p:nvPicPr>
          <p:cNvPr id="9" name="Picture 8">
            <a:extLst>
              <a:ext uri="{FF2B5EF4-FFF2-40B4-BE49-F238E27FC236}">
                <a16:creationId xmlns:a16="http://schemas.microsoft.com/office/drawing/2014/main" id="{1CFCE500-F267-855A-521F-0F9BE0EBEE2F}"/>
              </a:ext>
            </a:extLst>
          </p:cNvPr>
          <p:cNvPicPr>
            <a:picLocks noChangeAspect="1"/>
          </p:cNvPicPr>
          <p:nvPr/>
        </p:nvPicPr>
        <p:blipFill>
          <a:blip r:embed="rId3"/>
          <a:srcRect b="31382"/>
          <a:stretch>
            <a:fillRect/>
          </a:stretch>
        </p:blipFill>
        <p:spPr>
          <a:xfrm>
            <a:off x="5156410" y="3429000"/>
            <a:ext cx="7073590" cy="2730234"/>
          </a:xfrm>
          <a:prstGeom prst="rect">
            <a:avLst/>
          </a:prstGeom>
        </p:spPr>
      </p:pic>
      <p:sp>
        <p:nvSpPr>
          <p:cNvPr id="11" name="TextBox 10">
            <a:extLst>
              <a:ext uri="{FF2B5EF4-FFF2-40B4-BE49-F238E27FC236}">
                <a16:creationId xmlns:a16="http://schemas.microsoft.com/office/drawing/2014/main" id="{5E3430D4-018F-9621-FF9C-8D0BA293467B}"/>
              </a:ext>
            </a:extLst>
          </p:cNvPr>
          <p:cNvSpPr txBox="1"/>
          <p:nvPr/>
        </p:nvSpPr>
        <p:spPr>
          <a:xfrm>
            <a:off x="289933" y="3623139"/>
            <a:ext cx="4828478" cy="2579039"/>
          </a:xfrm>
          <a:prstGeom prst="rect">
            <a:avLst/>
          </a:prstGeom>
          <a:noFill/>
        </p:spPr>
        <p:txBody>
          <a:bodyPr wrap="square">
            <a:spAutoFit/>
          </a:bodyPr>
          <a:lstStyle/>
          <a:p>
            <a:pPr>
              <a:lnSpc>
                <a:spcPct val="150000"/>
              </a:lnSpc>
              <a:buNone/>
            </a:pPr>
            <a:r>
              <a:rPr lang="en-US" sz="2200" dirty="0">
                <a:latin typeface="Calibri" panose="020F0502020204030204" pitchFamily="34" charset="0"/>
                <a:cs typeface="Calibri" panose="020F0502020204030204" pitchFamily="34" charset="0"/>
              </a:rPr>
              <a:t>What we did: Running an LLM in Google </a:t>
            </a:r>
            <a:r>
              <a:rPr lang="en-US" sz="2200" dirty="0" err="1">
                <a:latin typeface="Calibri" panose="020F0502020204030204" pitchFamily="34" charset="0"/>
                <a:cs typeface="Calibri" panose="020F0502020204030204" pitchFamily="34" charset="0"/>
              </a:rPr>
              <a:t>Colab</a:t>
            </a:r>
            <a:endParaRPr lang="en-US" sz="2200" dirty="0">
              <a:latin typeface="Calibri" panose="020F0502020204030204" pitchFamily="34" charset="0"/>
              <a:cs typeface="Calibri" panose="020F0502020204030204" pitchFamily="34" charset="0"/>
            </a:endParaRPr>
          </a:p>
          <a:p>
            <a:pPr>
              <a:lnSpc>
                <a:spcPct val="150000"/>
              </a:lnSpc>
              <a:buNone/>
            </a:pPr>
            <a:r>
              <a:rPr lang="en-US" sz="2200" dirty="0">
                <a:latin typeface="Calibri" panose="020F0502020204030204" pitchFamily="34" charset="0"/>
                <a:cs typeface="Calibri" panose="020F0502020204030204" pitchFamily="34" charset="0"/>
              </a:rPr>
              <a:t>We used Google </a:t>
            </a:r>
            <a:r>
              <a:rPr lang="en-US" sz="2200" dirty="0" err="1">
                <a:latin typeface="Calibri" panose="020F0502020204030204" pitchFamily="34" charset="0"/>
                <a:cs typeface="Calibri" panose="020F0502020204030204" pitchFamily="34" charset="0"/>
              </a:rPr>
              <a:t>Colab</a:t>
            </a:r>
            <a:r>
              <a:rPr lang="en-US" sz="2200" dirty="0">
                <a:latin typeface="Calibri" panose="020F0502020204030204" pitchFamily="34" charset="0"/>
                <a:cs typeface="Calibri" panose="020F0502020204030204" pitchFamily="34" charset="0"/>
              </a:rPr>
              <a:t> with a T4 GPU to load and run Microsoft's Phi-3 Mini 4K Instruct language model.</a:t>
            </a:r>
          </a:p>
        </p:txBody>
      </p:sp>
    </p:spTree>
    <p:extLst>
      <p:ext uri="{BB962C8B-B14F-4D97-AF65-F5344CB8AC3E}">
        <p14:creationId xmlns:p14="http://schemas.microsoft.com/office/powerpoint/2010/main" val="3509031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58CF0-5420-DC8C-AC93-58FEF2FD91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EF3D08C-59BE-7C9E-FCBE-7BC1D797F2D8}"/>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AE65A665-3AEE-7E77-5B80-3E707E0B954C}"/>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20</a:t>
            </a:fld>
            <a:endParaRPr lang="en-US"/>
          </a:p>
        </p:txBody>
      </p:sp>
      <p:sp>
        <p:nvSpPr>
          <p:cNvPr id="4" name="TextBox 3">
            <a:extLst>
              <a:ext uri="{FF2B5EF4-FFF2-40B4-BE49-F238E27FC236}">
                <a16:creationId xmlns:a16="http://schemas.microsoft.com/office/drawing/2014/main" id="{CD8C2B9C-4963-C264-DD02-09065E3DAEA0}"/>
              </a:ext>
            </a:extLst>
          </p:cNvPr>
          <p:cNvSpPr txBox="1"/>
          <p:nvPr/>
        </p:nvSpPr>
        <p:spPr>
          <a:xfrm>
            <a:off x="312234" y="1326995"/>
            <a:ext cx="11600662" cy="1318181"/>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Notice that I am not programming the answer. I am giving the model an instruction, and the model generates the response token by token.</a:t>
            </a:r>
          </a:p>
        </p:txBody>
      </p:sp>
    </p:spTree>
    <p:extLst>
      <p:ext uri="{BB962C8B-B14F-4D97-AF65-F5344CB8AC3E}">
        <p14:creationId xmlns:p14="http://schemas.microsoft.com/office/powerpoint/2010/main" val="4234815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AC145-9BFE-750B-A674-EBC4A59BC7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193C38-97C7-D515-0E3F-1589C53FF631}"/>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Let’s make an LLM generate text</a:t>
            </a:r>
            <a:endParaRPr lang="en-US" sz="2600" dirty="0"/>
          </a:p>
        </p:txBody>
      </p:sp>
      <p:sp>
        <p:nvSpPr>
          <p:cNvPr id="33" name="Slide Number Placeholder 0">
            <a:extLst>
              <a:ext uri="{FF2B5EF4-FFF2-40B4-BE49-F238E27FC236}">
                <a16:creationId xmlns:a16="http://schemas.microsoft.com/office/drawing/2014/main" id="{EB3AF9A1-132F-2BE7-8051-D3DB8B2BE96B}"/>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21</a:t>
            </a:fld>
            <a:endParaRPr lang="en-US"/>
          </a:p>
        </p:txBody>
      </p:sp>
      <p:sp>
        <p:nvSpPr>
          <p:cNvPr id="4" name="TextBox 3">
            <a:extLst>
              <a:ext uri="{FF2B5EF4-FFF2-40B4-BE49-F238E27FC236}">
                <a16:creationId xmlns:a16="http://schemas.microsoft.com/office/drawing/2014/main" id="{3CDEBCE8-8B1C-D58E-DD4D-C2674F368B1B}"/>
              </a:ext>
            </a:extLst>
          </p:cNvPr>
          <p:cNvSpPr txBox="1"/>
          <p:nvPr/>
        </p:nvSpPr>
        <p:spPr>
          <a:xfrm>
            <a:off x="312234" y="1817649"/>
            <a:ext cx="11600662" cy="3718839"/>
          </a:xfrm>
          <a:prstGeom prst="rect">
            <a:avLst/>
          </a:prstGeom>
          <a:noFill/>
        </p:spPr>
        <p:txBody>
          <a:bodyPr wrap="square">
            <a:spAutoFit/>
          </a:bodyPr>
          <a:lstStyle/>
          <a:p>
            <a:pPr>
              <a:lnSpc>
                <a:spcPct val="150000"/>
              </a:lnSpc>
            </a:pPr>
            <a:r>
              <a:rPr lang="en-US" sz="2800" dirty="0">
                <a:latin typeface="Calibri" panose="020F0502020204030204" pitchFamily="34" charset="0"/>
                <a:cs typeface="Calibri" panose="020F0502020204030204" pitchFamily="34" charset="0"/>
              </a:rPr>
              <a:t>The important lesson is not the Python syntax. The demonstration connects directly to your earlier slides:</a:t>
            </a:r>
          </a:p>
          <a:p>
            <a:pPr>
              <a:lnSpc>
                <a:spcPct val="150000"/>
              </a:lnSpc>
            </a:pPr>
            <a:r>
              <a:rPr lang="en-US" sz="2000" dirty="0">
                <a:highlight>
                  <a:srgbClr val="FFFF00"/>
                </a:highlight>
                <a:latin typeface="Calibri" panose="020F0502020204030204" pitchFamily="34" charset="0"/>
                <a:cs typeface="Calibri" panose="020F0502020204030204" pitchFamily="34" charset="0"/>
              </a:rPr>
              <a:t>Human prompt → </a:t>
            </a:r>
            <a:r>
              <a:rPr lang="en-US" sz="2000" dirty="0" err="1">
                <a:highlight>
                  <a:srgbClr val="FFFF00"/>
                </a:highlight>
                <a:latin typeface="Calibri" panose="020F0502020204030204" pitchFamily="34" charset="0"/>
                <a:cs typeface="Calibri" panose="020F0502020204030204" pitchFamily="34" charset="0"/>
              </a:rPr>
              <a:t>Tokenisation</a:t>
            </a:r>
            <a:r>
              <a:rPr lang="en-US" sz="2000" dirty="0">
                <a:highlight>
                  <a:srgbClr val="FFFF00"/>
                </a:highlight>
                <a:latin typeface="Calibri" panose="020F0502020204030204" pitchFamily="34" charset="0"/>
                <a:cs typeface="Calibri" panose="020F0502020204030204" pitchFamily="34" charset="0"/>
              </a:rPr>
              <a:t> → Model processes context → Predicts next tokens → Generated response</a:t>
            </a:r>
          </a:p>
          <a:p>
            <a:pPr>
              <a:lnSpc>
                <a:spcPct val="150000"/>
              </a:lnSpc>
            </a:pPr>
            <a:r>
              <a:rPr lang="en-US" sz="2800" dirty="0">
                <a:latin typeface="Calibri" panose="020F0502020204030204" pitchFamily="34" charset="0"/>
                <a:cs typeface="Calibri" panose="020F0502020204030204" pitchFamily="34" charset="0"/>
              </a:rPr>
              <a:t>The model wasn't given the photosynthesis answer in our Python code. We provided an instruction, and the pretrained LLM generated an appropriate continuation based on that context.</a:t>
            </a:r>
          </a:p>
        </p:txBody>
      </p:sp>
    </p:spTree>
    <p:extLst>
      <p:ext uri="{BB962C8B-B14F-4D97-AF65-F5344CB8AC3E}">
        <p14:creationId xmlns:p14="http://schemas.microsoft.com/office/powerpoint/2010/main" val="23885410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C8128-3D2E-D7AA-41FB-8352F6EC62C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F29B94-EBF0-B1B1-B2D2-D8644B1325D3}"/>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Hands-on activity after the code</a:t>
            </a:r>
            <a:endParaRPr lang="en-US" sz="2600" dirty="0"/>
          </a:p>
        </p:txBody>
      </p:sp>
      <p:sp>
        <p:nvSpPr>
          <p:cNvPr id="33" name="Slide Number Placeholder 0">
            <a:extLst>
              <a:ext uri="{FF2B5EF4-FFF2-40B4-BE49-F238E27FC236}">
                <a16:creationId xmlns:a16="http://schemas.microsoft.com/office/drawing/2014/main" id="{A0DA06CF-334A-0AA5-FA4C-A8AC56870526}"/>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22</a:t>
            </a:fld>
            <a:endParaRPr lang="en-US"/>
          </a:p>
        </p:txBody>
      </p:sp>
      <p:sp>
        <p:nvSpPr>
          <p:cNvPr id="4" name="TextBox 3">
            <a:extLst>
              <a:ext uri="{FF2B5EF4-FFF2-40B4-BE49-F238E27FC236}">
                <a16:creationId xmlns:a16="http://schemas.microsoft.com/office/drawing/2014/main" id="{DA3B38B6-545F-C1F0-678D-CF2F0CAADAE3}"/>
              </a:ext>
            </a:extLst>
          </p:cNvPr>
          <p:cNvSpPr txBox="1"/>
          <p:nvPr/>
        </p:nvSpPr>
        <p:spPr>
          <a:xfrm>
            <a:off x="486355" y="1013210"/>
            <a:ext cx="11219290" cy="4831579"/>
          </a:xfrm>
          <a:prstGeom prst="rect">
            <a:avLst/>
          </a:prstGeom>
          <a:noFill/>
        </p:spPr>
        <p:txBody>
          <a:bodyPr wrap="square">
            <a:spAutoFit/>
          </a:bodyPr>
          <a:lstStyle/>
          <a:p>
            <a:pPr>
              <a:lnSpc>
                <a:spcPct val="150000"/>
              </a:lnSpc>
              <a:buNone/>
            </a:pPr>
            <a:r>
              <a:rPr lang="en-US" sz="2600" b="1" dirty="0">
                <a:latin typeface="Calibri" panose="020F0502020204030204" pitchFamily="34" charset="0"/>
                <a:cs typeface="Calibri" panose="020F0502020204030204" pitchFamily="34" charset="0"/>
              </a:rPr>
              <a:t>Your turn: Change one thing</a:t>
            </a:r>
          </a:p>
          <a:p>
            <a:pPr>
              <a:lnSpc>
                <a:spcPct val="150000"/>
              </a:lnSpc>
              <a:buNone/>
            </a:pPr>
            <a:r>
              <a:rPr lang="en-US" sz="2600" dirty="0">
                <a:latin typeface="Calibri" panose="020F0502020204030204" pitchFamily="34" charset="0"/>
                <a:cs typeface="Calibri" panose="020F0502020204030204" pitchFamily="34" charset="0"/>
              </a:rPr>
              <a:t>Students work in pairs.</a:t>
            </a:r>
          </a:p>
          <a:p>
            <a:pPr>
              <a:lnSpc>
                <a:spcPct val="150000"/>
              </a:lnSpc>
              <a:buNone/>
            </a:pPr>
            <a:r>
              <a:rPr lang="en-US" sz="2600" dirty="0">
                <a:latin typeface="Calibri" panose="020F0502020204030204" pitchFamily="34" charset="0"/>
                <a:cs typeface="Calibri" panose="020F0502020204030204" pitchFamily="34" charset="0"/>
              </a:rPr>
              <a:t>Given this: "Explain photosynthesis to a 12-year-old in two sentences."</a:t>
            </a:r>
          </a:p>
          <a:p>
            <a:pPr>
              <a:lnSpc>
                <a:spcPct val="150000"/>
              </a:lnSpc>
              <a:buNone/>
            </a:pPr>
            <a:r>
              <a:rPr lang="en-US" sz="2600" dirty="0">
                <a:latin typeface="Calibri" panose="020F0502020204030204" pitchFamily="34" charset="0"/>
                <a:cs typeface="Calibri" panose="020F0502020204030204" pitchFamily="34" charset="0"/>
              </a:rPr>
              <a:t>Your task: Change only one part of the prompt.</a:t>
            </a:r>
          </a:p>
          <a:p>
            <a:pPr>
              <a:lnSpc>
                <a:spcPct val="150000"/>
              </a:lnSpc>
              <a:buNone/>
            </a:pPr>
            <a:r>
              <a:rPr lang="en-US" sz="2600" dirty="0">
                <a:latin typeface="Calibri" panose="020F0502020204030204" pitchFamily="34" charset="0"/>
                <a:cs typeface="Calibri" panose="020F0502020204030204" pitchFamily="34" charset="0"/>
              </a:rPr>
              <a:t>For example: "Explain photosynthesis to a university student in two sentences."</a:t>
            </a:r>
          </a:p>
          <a:p>
            <a:pPr>
              <a:lnSpc>
                <a:spcPct val="150000"/>
              </a:lnSpc>
              <a:buNone/>
            </a:pPr>
            <a:r>
              <a:rPr lang="en-US" sz="2600" dirty="0">
                <a:latin typeface="Calibri" panose="020F0502020204030204" pitchFamily="34" charset="0"/>
                <a:cs typeface="Calibri" panose="020F0502020204030204" pitchFamily="34" charset="0"/>
              </a:rPr>
              <a:t>or: "Explain photosynthesis to a 12-year-old using an analogy."</a:t>
            </a:r>
          </a:p>
          <a:p>
            <a:pPr>
              <a:lnSpc>
                <a:spcPct val="150000"/>
              </a:lnSpc>
              <a:buNone/>
            </a:pPr>
            <a:r>
              <a:rPr lang="en-US" sz="2600" dirty="0">
                <a:latin typeface="Calibri" panose="020F0502020204030204" pitchFamily="34" charset="0"/>
                <a:cs typeface="Calibri" panose="020F0502020204030204" pitchFamily="34" charset="0"/>
              </a:rPr>
              <a:t>Then answer: What changed in the response, and why?</a:t>
            </a:r>
          </a:p>
          <a:p>
            <a:pPr>
              <a:lnSpc>
                <a:spcPct val="150000"/>
              </a:lnSpc>
              <a:buNone/>
            </a:pPr>
            <a:r>
              <a:rPr lang="en-US" sz="2600" dirty="0">
                <a:latin typeface="Calibri" panose="020F0502020204030204" pitchFamily="34" charset="0"/>
                <a:cs typeface="Calibri" panose="020F0502020204030204" pitchFamily="34" charset="0"/>
              </a:rPr>
              <a:t>5 minutes</a:t>
            </a:r>
          </a:p>
        </p:txBody>
      </p:sp>
    </p:spTree>
    <p:extLst>
      <p:ext uri="{BB962C8B-B14F-4D97-AF65-F5344CB8AC3E}">
        <p14:creationId xmlns:p14="http://schemas.microsoft.com/office/powerpoint/2010/main" val="32112706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0439C-F496-FF0F-7602-B8A30732053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B9A5E23-56DB-A791-4C14-D0193C348C89}"/>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Concept 3: Context and attention</a:t>
            </a:r>
            <a:endParaRPr lang="en-US" sz="2600" dirty="0"/>
          </a:p>
        </p:txBody>
      </p:sp>
      <p:sp>
        <p:nvSpPr>
          <p:cNvPr id="33" name="Slide Number Placeholder 0">
            <a:extLst>
              <a:ext uri="{FF2B5EF4-FFF2-40B4-BE49-F238E27FC236}">
                <a16:creationId xmlns:a16="http://schemas.microsoft.com/office/drawing/2014/main" id="{7DC66D2F-26DD-BD18-88E9-BA42B2903256}"/>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23</a:t>
            </a:fld>
            <a:endParaRPr lang="en-US"/>
          </a:p>
        </p:txBody>
      </p:sp>
      <p:sp>
        <p:nvSpPr>
          <p:cNvPr id="35" name="TextBox 34">
            <a:extLst>
              <a:ext uri="{FF2B5EF4-FFF2-40B4-BE49-F238E27FC236}">
                <a16:creationId xmlns:a16="http://schemas.microsoft.com/office/drawing/2014/main" id="{9F73E538-6952-9B3F-FBDA-5FD81F6FA6B1}"/>
              </a:ext>
            </a:extLst>
          </p:cNvPr>
          <p:cNvSpPr txBox="1"/>
          <p:nvPr/>
        </p:nvSpPr>
        <p:spPr>
          <a:xfrm>
            <a:off x="502920" y="1580322"/>
            <a:ext cx="11219290" cy="1321772"/>
          </a:xfrm>
          <a:prstGeom prst="rect">
            <a:avLst/>
          </a:prstGeom>
          <a:noFill/>
        </p:spPr>
        <p:txBody>
          <a:bodyPr wrap="square">
            <a:spAutoFit/>
          </a:bodyPr>
          <a:lstStyle/>
          <a:p>
            <a:pPr>
              <a:lnSpc>
                <a:spcPct val="150000"/>
              </a:lnSpc>
            </a:pPr>
            <a:r>
              <a:rPr lang="en-US" sz="2800" dirty="0"/>
              <a:t>Explain attention as “Which earlier words matter most right now?” Use a simple ambiguous sentence.</a:t>
            </a:r>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1130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1F20C-A7E0-BE1F-1636-C7C5DF7155F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084D10-B497-F207-5781-074B5D69DE87}"/>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Practical example 2 — Prompt engineering</a:t>
            </a:r>
            <a:endParaRPr lang="en-US" sz="2600" dirty="0"/>
          </a:p>
        </p:txBody>
      </p:sp>
      <p:sp>
        <p:nvSpPr>
          <p:cNvPr id="33" name="Slide Number Placeholder 0">
            <a:extLst>
              <a:ext uri="{FF2B5EF4-FFF2-40B4-BE49-F238E27FC236}">
                <a16:creationId xmlns:a16="http://schemas.microsoft.com/office/drawing/2014/main" id="{35825CAE-BDF8-3852-2EA6-EABF832910B8}"/>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24</a:t>
            </a:fld>
            <a:endParaRPr lang="en-US"/>
          </a:p>
        </p:txBody>
      </p:sp>
      <p:sp>
        <p:nvSpPr>
          <p:cNvPr id="4" name="TextBox 3">
            <a:extLst>
              <a:ext uri="{FF2B5EF4-FFF2-40B4-BE49-F238E27FC236}">
                <a16:creationId xmlns:a16="http://schemas.microsoft.com/office/drawing/2014/main" id="{7E7A90BA-90CA-752C-5965-EFA4B972515E}"/>
              </a:ext>
            </a:extLst>
          </p:cNvPr>
          <p:cNvSpPr txBox="1"/>
          <p:nvPr/>
        </p:nvSpPr>
        <p:spPr>
          <a:xfrm>
            <a:off x="502920" y="731520"/>
            <a:ext cx="11219290" cy="5431743"/>
          </a:xfrm>
          <a:prstGeom prst="rect">
            <a:avLst/>
          </a:prstGeom>
          <a:noFill/>
        </p:spPr>
        <p:txBody>
          <a:bodyPr wrap="square">
            <a:spAutoFit/>
          </a:bodyPr>
          <a:lstStyle/>
          <a:p>
            <a:pPr>
              <a:lnSpc>
                <a:spcPct val="150000"/>
              </a:lnSpc>
            </a:pPr>
            <a:r>
              <a:rPr lang="en-US" sz="2600" b="1" dirty="0">
                <a:latin typeface="Calibri" panose="020F0502020204030204" pitchFamily="34" charset="0"/>
                <a:cs typeface="Calibri" panose="020F0502020204030204" pitchFamily="34" charset="0"/>
              </a:rPr>
              <a:t>Same model. Better instructions. Better result.</a:t>
            </a:r>
            <a:endParaRPr lang="en-US" sz="2600" dirty="0">
              <a:latin typeface="Calibri" panose="020F0502020204030204" pitchFamily="34" charset="0"/>
              <a:cs typeface="Calibri" panose="020F0502020204030204" pitchFamily="34" charset="0"/>
            </a:endParaRPr>
          </a:p>
          <a:p>
            <a:pPr>
              <a:lnSpc>
                <a:spcPct val="150000"/>
              </a:lnSpc>
            </a:pPr>
            <a:r>
              <a:rPr lang="en-US" sz="2600" dirty="0">
                <a:latin typeface="Calibri" panose="020F0502020204030204" pitchFamily="34" charset="0"/>
                <a:cs typeface="Calibri" panose="020F0502020204030204" pitchFamily="34" charset="0"/>
              </a:rPr>
              <a:t>Start with:</a:t>
            </a:r>
          </a:p>
          <a:p>
            <a:pPr>
              <a:lnSpc>
                <a:spcPct val="150000"/>
              </a:lnSpc>
            </a:pPr>
            <a:r>
              <a:rPr lang="en-US" sz="2600" b="1" dirty="0">
                <a:latin typeface="Calibri" panose="020F0502020204030204" pitchFamily="34" charset="0"/>
                <a:cs typeface="Calibri" panose="020F0502020204030204" pitchFamily="34" charset="0"/>
              </a:rPr>
              <a:t>Prompt A: </a:t>
            </a:r>
            <a:r>
              <a:rPr lang="en-US" sz="2600" dirty="0">
                <a:latin typeface="Calibri" panose="020F0502020204030204" pitchFamily="34" charset="0"/>
                <a:cs typeface="Calibri" panose="020F0502020204030204" pitchFamily="34" charset="0"/>
              </a:rPr>
              <a:t>Tell me about cybersecurity.</a:t>
            </a:r>
          </a:p>
          <a:p>
            <a:pPr>
              <a:lnSpc>
                <a:spcPct val="150000"/>
              </a:lnSpc>
            </a:pPr>
            <a:r>
              <a:rPr lang="en-US" sz="2600" dirty="0">
                <a:latin typeface="Calibri" panose="020F0502020204030204" pitchFamily="34" charset="0"/>
                <a:cs typeface="Calibri" panose="020F0502020204030204" pitchFamily="34" charset="0"/>
              </a:rPr>
              <a:t>Then:</a:t>
            </a:r>
          </a:p>
          <a:p>
            <a:pPr>
              <a:lnSpc>
                <a:spcPct val="150000"/>
              </a:lnSpc>
            </a:pPr>
            <a:r>
              <a:rPr lang="en-US" sz="2600" b="1" dirty="0">
                <a:latin typeface="Calibri" panose="020F0502020204030204" pitchFamily="34" charset="0"/>
                <a:cs typeface="Calibri" panose="020F0502020204030204" pitchFamily="34" charset="0"/>
              </a:rPr>
              <a:t>Prompt B: </a:t>
            </a:r>
            <a:r>
              <a:rPr lang="en-US" sz="2600" dirty="0">
                <a:latin typeface="Calibri" panose="020F0502020204030204" pitchFamily="34" charset="0"/>
                <a:cs typeface="Calibri" panose="020F0502020204030204" pitchFamily="34" charset="0"/>
              </a:rPr>
              <a:t>Explain three common cybersecurity risks to first-year university students.</a:t>
            </a:r>
            <a:br>
              <a:rPr lang="en-US" sz="2600" dirty="0">
                <a:latin typeface="Calibri" panose="020F0502020204030204" pitchFamily="34" charset="0"/>
                <a:cs typeface="Calibri" panose="020F0502020204030204" pitchFamily="34" charset="0"/>
              </a:rPr>
            </a:br>
            <a:r>
              <a:rPr lang="en-US" sz="2600" dirty="0">
                <a:latin typeface="Calibri" panose="020F0502020204030204" pitchFamily="34" charset="0"/>
                <a:cs typeface="Calibri" panose="020F0502020204030204" pitchFamily="34" charset="0"/>
              </a:rPr>
              <a:t>Use no more than 120 words.</a:t>
            </a:r>
          </a:p>
          <a:p>
            <a:pPr>
              <a:lnSpc>
                <a:spcPct val="150000"/>
              </a:lnSpc>
            </a:pPr>
            <a:r>
              <a:rPr lang="en-US" sz="2600" b="1" dirty="0">
                <a:latin typeface="Calibri" panose="020F0502020204030204" pitchFamily="34" charset="0"/>
                <a:cs typeface="Calibri" panose="020F0502020204030204" pitchFamily="34" charset="0"/>
              </a:rPr>
              <a:t>Which prompt would probably give us the more useful answer? Why?</a:t>
            </a:r>
            <a:endParaRPr lang="en-US" sz="2600" dirty="0">
              <a:latin typeface="Calibri" panose="020F0502020204030204" pitchFamily="34" charset="0"/>
              <a:cs typeface="Calibri" panose="020F0502020204030204" pitchFamily="34" charset="0"/>
            </a:endParaRPr>
          </a:p>
          <a:p>
            <a:pPr>
              <a:lnSpc>
                <a:spcPct val="150000"/>
              </a:lnSpc>
            </a:pPr>
            <a:r>
              <a:rPr lang="en-US" sz="2600" dirty="0">
                <a:latin typeface="Calibri" panose="020F0502020204030204" pitchFamily="34" charset="0"/>
                <a:cs typeface="Calibri" panose="020F0502020204030204" pitchFamily="34" charset="0"/>
              </a:rPr>
              <a:t>Then run both.</a:t>
            </a:r>
          </a:p>
        </p:txBody>
      </p:sp>
    </p:spTree>
    <p:extLst>
      <p:ext uri="{BB962C8B-B14F-4D97-AF65-F5344CB8AC3E}">
        <p14:creationId xmlns:p14="http://schemas.microsoft.com/office/powerpoint/2010/main" val="19643704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8B912-5B89-586C-DDC2-C2E6294394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552A38-3B39-58F0-8B8B-15FB39BA5060}"/>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Hands-on activity after the code</a:t>
            </a:r>
            <a:endParaRPr lang="en-US" sz="2600" dirty="0"/>
          </a:p>
        </p:txBody>
      </p:sp>
      <p:sp>
        <p:nvSpPr>
          <p:cNvPr id="33" name="Slide Number Placeholder 0">
            <a:extLst>
              <a:ext uri="{FF2B5EF4-FFF2-40B4-BE49-F238E27FC236}">
                <a16:creationId xmlns:a16="http://schemas.microsoft.com/office/drawing/2014/main" id="{83787702-07BE-03CD-C2A5-1F12493907FF}"/>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25</a:t>
            </a:fld>
            <a:endParaRPr lang="en-US"/>
          </a:p>
        </p:txBody>
      </p:sp>
      <p:sp>
        <p:nvSpPr>
          <p:cNvPr id="4" name="TextBox 3">
            <a:extLst>
              <a:ext uri="{FF2B5EF4-FFF2-40B4-BE49-F238E27FC236}">
                <a16:creationId xmlns:a16="http://schemas.microsoft.com/office/drawing/2014/main" id="{526EDDE1-7A4A-832F-E918-52FDF7ADD647}"/>
              </a:ext>
            </a:extLst>
          </p:cNvPr>
          <p:cNvSpPr txBox="1"/>
          <p:nvPr/>
        </p:nvSpPr>
        <p:spPr>
          <a:xfrm>
            <a:off x="502920" y="731520"/>
            <a:ext cx="11219290" cy="2610843"/>
          </a:xfrm>
          <a:prstGeom prst="rect">
            <a:avLst/>
          </a:prstGeom>
          <a:noFill/>
        </p:spPr>
        <p:txBody>
          <a:bodyPr wrap="square">
            <a:spAutoFit/>
          </a:bodyPr>
          <a:lstStyle/>
          <a:p>
            <a:pPr>
              <a:lnSpc>
                <a:spcPct val="150000"/>
              </a:lnSpc>
            </a:pPr>
            <a:r>
              <a:rPr lang="en-US" sz="2800" b="1" dirty="0">
                <a:latin typeface="Calibri" panose="020F0502020204030204" pitchFamily="34" charset="0"/>
                <a:cs typeface="Calibri" panose="020F0502020204030204" pitchFamily="34" charset="0"/>
              </a:rPr>
              <a:t>Five-minute activity</a:t>
            </a:r>
          </a:p>
          <a:p>
            <a:pPr>
              <a:lnSpc>
                <a:spcPct val="150000"/>
              </a:lnSpc>
            </a:pPr>
            <a:r>
              <a:rPr lang="en-US" sz="2800" dirty="0">
                <a:latin typeface="Calibri" panose="020F0502020204030204" pitchFamily="34" charset="0"/>
                <a:cs typeface="Calibri" panose="020F0502020204030204" pitchFamily="34" charset="0"/>
              </a:rPr>
              <a:t>Explain large language models to first-year IT students. Use one simple analogy, one example, and one limitation. Keep the answer under 100 words.</a:t>
            </a:r>
          </a:p>
        </p:txBody>
      </p:sp>
    </p:spTree>
    <p:extLst>
      <p:ext uri="{BB962C8B-B14F-4D97-AF65-F5344CB8AC3E}">
        <p14:creationId xmlns:p14="http://schemas.microsoft.com/office/powerpoint/2010/main" val="18762677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AF70A-23AE-AE03-2857-153ADEDACA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40191B-CDC3-081C-ABB2-0C5FABF98C2C}"/>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When can an LLM go wrong?</a:t>
            </a:r>
            <a:endParaRPr lang="en-US" sz="2600" dirty="0"/>
          </a:p>
        </p:txBody>
      </p:sp>
      <p:sp>
        <p:nvSpPr>
          <p:cNvPr id="33" name="Slide Number Placeholder 0">
            <a:extLst>
              <a:ext uri="{FF2B5EF4-FFF2-40B4-BE49-F238E27FC236}">
                <a16:creationId xmlns:a16="http://schemas.microsoft.com/office/drawing/2014/main" id="{3E7DE7FF-E2AD-0D44-1621-EFEBC3735108}"/>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26</a:t>
            </a:fld>
            <a:endParaRPr lang="en-US"/>
          </a:p>
        </p:txBody>
      </p:sp>
      <p:pic>
        <p:nvPicPr>
          <p:cNvPr id="4" name="Picture 3">
            <a:extLst>
              <a:ext uri="{FF2B5EF4-FFF2-40B4-BE49-F238E27FC236}">
                <a16:creationId xmlns:a16="http://schemas.microsoft.com/office/drawing/2014/main" id="{CCBBA87C-188E-B331-C410-AD33438D1E69}"/>
              </a:ext>
            </a:extLst>
          </p:cNvPr>
          <p:cNvPicPr>
            <a:picLocks noChangeAspect="1"/>
          </p:cNvPicPr>
          <p:nvPr/>
        </p:nvPicPr>
        <p:blipFill>
          <a:blip r:embed="rId3"/>
          <a:srcRect l="68483" t="55260" r="731" b="2301"/>
          <a:stretch>
            <a:fillRect/>
          </a:stretch>
        </p:blipFill>
        <p:spPr>
          <a:xfrm>
            <a:off x="234175" y="829753"/>
            <a:ext cx="6211230" cy="5708207"/>
          </a:xfrm>
          <a:prstGeom prst="rect">
            <a:avLst/>
          </a:prstGeom>
        </p:spPr>
      </p:pic>
    </p:spTree>
    <p:extLst>
      <p:ext uri="{BB962C8B-B14F-4D97-AF65-F5344CB8AC3E}">
        <p14:creationId xmlns:p14="http://schemas.microsoft.com/office/powerpoint/2010/main" val="3806580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123C5-3695-5467-6533-AAED9FFFCC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C5CBDC4-7A6E-A032-CEFE-0352559A2583}"/>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Final Challenge: Build a Mini AI Study Assistant</a:t>
            </a:r>
            <a:endParaRPr lang="en-US" sz="2600" dirty="0"/>
          </a:p>
        </p:txBody>
      </p:sp>
      <p:sp>
        <p:nvSpPr>
          <p:cNvPr id="33" name="Slide Number Placeholder 0">
            <a:extLst>
              <a:ext uri="{FF2B5EF4-FFF2-40B4-BE49-F238E27FC236}">
                <a16:creationId xmlns:a16="http://schemas.microsoft.com/office/drawing/2014/main" id="{320869D3-E766-7291-BB8A-F30BA23517E0}"/>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27</a:t>
            </a:fld>
            <a:endParaRPr lang="en-US"/>
          </a:p>
        </p:txBody>
      </p:sp>
      <p:sp>
        <p:nvSpPr>
          <p:cNvPr id="35" name="TextBox 34">
            <a:extLst>
              <a:ext uri="{FF2B5EF4-FFF2-40B4-BE49-F238E27FC236}">
                <a16:creationId xmlns:a16="http://schemas.microsoft.com/office/drawing/2014/main" id="{A6F7CA8B-3AE1-D826-728F-D76475EB7A84}"/>
              </a:ext>
            </a:extLst>
          </p:cNvPr>
          <p:cNvSpPr txBox="1"/>
          <p:nvPr/>
        </p:nvSpPr>
        <p:spPr>
          <a:xfrm>
            <a:off x="486355" y="1123122"/>
            <a:ext cx="11219290" cy="5118196"/>
          </a:xfrm>
          <a:prstGeom prst="rect">
            <a:avLst/>
          </a:prstGeom>
          <a:noFill/>
        </p:spPr>
        <p:txBody>
          <a:bodyPr wrap="square">
            <a:spAutoFit/>
          </a:bodyPr>
          <a:lstStyle/>
          <a:p>
            <a:pPr>
              <a:lnSpc>
                <a:spcPct val="150000"/>
              </a:lnSpc>
            </a:pPr>
            <a:r>
              <a:rPr lang="en-US" sz="2200" b="1" dirty="0">
                <a:latin typeface="Calibri" panose="020F0502020204030204" pitchFamily="34" charset="0"/>
                <a:cs typeface="Calibri" panose="020F0502020204030204" pitchFamily="34" charset="0"/>
              </a:rPr>
              <a:t>Your challenge for the next session</a:t>
            </a:r>
            <a:endParaRPr lang="en-US" sz="2200" dirty="0">
              <a:latin typeface="Calibri" panose="020F0502020204030204" pitchFamily="34" charset="0"/>
              <a:cs typeface="Calibri" panose="020F0502020204030204" pitchFamily="34" charset="0"/>
            </a:endParaRPr>
          </a:p>
          <a:p>
            <a:pPr>
              <a:lnSpc>
                <a:spcPct val="150000"/>
              </a:lnSpc>
            </a:pPr>
            <a:r>
              <a:rPr lang="en-US" sz="2200" dirty="0">
                <a:latin typeface="Calibri" panose="020F0502020204030204" pitchFamily="34" charset="0"/>
                <a:cs typeface="Calibri" panose="020F0502020204030204" pitchFamily="34" charset="0"/>
              </a:rPr>
              <a:t>Create an AI assistant that helps a first-year student understand a difficult topic.</a:t>
            </a:r>
          </a:p>
          <a:p>
            <a:pPr>
              <a:lnSpc>
                <a:spcPct val="150000"/>
              </a:lnSpc>
            </a:pPr>
            <a:r>
              <a:rPr lang="en-US" sz="2200" dirty="0">
                <a:latin typeface="Calibri" panose="020F0502020204030204" pitchFamily="34" charset="0"/>
                <a:cs typeface="Calibri" panose="020F0502020204030204" pitchFamily="34" charset="0"/>
              </a:rPr>
              <a:t>Your assistant must:</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accept a topic from the student; </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explain it in simple language; </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give one real-world example; </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generate three quiz questions; </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identify one point the student should verify; </a:t>
            </a:r>
          </a:p>
          <a:p>
            <a:pPr marL="534988" lvl="0" indent="-342900">
              <a:lnSpc>
                <a:spcPct val="150000"/>
              </a:lnSpc>
              <a:buFont typeface="Arial" panose="020B0604020202020204" pitchFamily="34" charset="0"/>
              <a:buChar char="•"/>
            </a:pPr>
            <a:r>
              <a:rPr lang="en-US" sz="2200" dirty="0">
                <a:latin typeface="Calibri" panose="020F0502020204030204" pitchFamily="34" charset="0"/>
                <a:cs typeface="Calibri" panose="020F0502020204030204" pitchFamily="34" charset="0"/>
              </a:rPr>
              <a:t>keep the response concise. </a:t>
            </a:r>
          </a:p>
          <a:p>
            <a:pPr>
              <a:lnSpc>
                <a:spcPct val="150000"/>
              </a:lnSpc>
            </a:pPr>
            <a:r>
              <a:rPr lang="en-US" sz="2200" dirty="0">
                <a:latin typeface="Calibri" panose="020F0502020204030204" pitchFamily="34" charset="0"/>
                <a:cs typeface="Calibri" panose="020F0502020204030204" pitchFamily="34" charset="0"/>
              </a:rPr>
              <a:t>So you create your prompt.</a:t>
            </a:r>
          </a:p>
        </p:txBody>
      </p:sp>
    </p:spTree>
    <p:extLst>
      <p:ext uri="{BB962C8B-B14F-4D97-AF65-F5344CB8AC3E}">
        <p14:creationId xmlns:p14="http://schemas.microsoft.com/office/powerpoint/2010/main" val="19331747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75506-3B79-18F4-41E2-8AD8F78734B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FEDC8F-A983-C88D-FF64-B9E724E33BEB}"/>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Final Challenge: Build a Mini AI Study Assistant</a:t>
            </a:r>
            <a:endParaRPr lang="en-US" sz="2600" dirty="0"/>
          </a:p>
        </p:txBody>
      </p:sp>
      <p:sp>
        <p:nvSpPr>
          <p:cNvPr id="33" name="Slide Number Placeholder 0">
            <a:extLst>
              <a:ext uri="{FF2B5EF4-FFF2-40B4-BE49-F238E27FC236}">
                <a16:creationId xmlns:a16="http://schemas.microsoft.com/office/drawing/2014/main" id="{141D1B7B-F852-045F-5B7D-FC71AFF633F9}"/>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 xmlns:ma14="http://schemas.microsoft.com/office/mac/drawingml/2011/main"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28</a:t>
            </a:fld>
            <a:endParaRPr lang="en-US"/>
          </a:p>
        </p:txBody>
      </p:sp>
      <p:sp>
        <p:nvSpPr>
          <p:cNvPr id="35" name="TextBox 34">
            <a:extLst>
              <a:ext uri="{FF2B5EF4-FFF2-40B4-BE49-F238E27FC236}">
                <a16:creationId xmlns:a16="http://schemas.microsoft.com/office/drawing/2014/main" id="{86C94C64-6057-2971-0CDB-393A3E6EFAB6}"/>
              </a:ext>
            </a:extLst>
          </p:cNvPr>
          <p:cNvSpPr txBox="1"/>
          <p:nvPr/>
        </p:nvSpPr>
        <p:spPr>
          <a:xfrm>
            <a:off x="610710" y="1176560"/>
            <a:ext cx="11219290" cy="5118196"/>
          </a:xfrm>
          <a:prstGeom prst="rect">
            <a:avLst/>
          </a:prstGeom>
          <a:noFill/>
        </p:spPr>
        <p:txBody>
          <a:bodyPr wrap="square">
            <a:spAutoFit/>
          </a:bodyPr>
          <a:lstStyle/>
          <a:p>
            <a:pPr>
              <a:lnSpc>
                <a:spcPct val="150000"/>
              </a:lnSpc>
            </a:pPr>
            <a:r>
              <a:rPr lang="en-US" sz="2200" dirty="0">
                <a:latin typeface="Calibri" panose="020F0502020204030204" pitchFamily="34" charset="0"/>
                <a:cs typeface="Calibri" panose="020F0502020204030204" pitchFamily="34" charset="0"/>
              </a:rPr>
              <a:t>Example:</a:t>
            </a:r>
          </a:p>
          <a:p>
            <a:pPr>
              <a:lnSpc>
                <a:spcPct val="150000"/>
              </a:lnSpc>
            </a:pPr>
            <a:r>
              <a:rPr lang="en-US" sz="2200" dirty="0">
                <a:latin typeface="Calibri" panose="020F0502020204030204" pitchFamily="34" charset="0"/>
                <a:cs typeface="Calibri" panose="020F0502020204030204" pitchFamily="34" charset="0"/>
              </a:rPr>
              <a:t>You are a study assistant for first-year IT students.</a:t>
            </a:r>
          </a:p>
          <a:p>
            <a:pPr>
              <a:lnSpc>
                <a:spcPct val="150000"/>
              </a:lnSpc>
            </a:pPr>
            <a:r>
              <a:rPr lang="en-US" sz="2200" dirty="0">
                <a:latin typeface="Calibri" panose="020F0502020204030204" pitchFamily="34" charset="0"/>
                <a:cs typeface="Calibri" panose="020F0502020204030204" pitchFamily="34" charset="0"/>
              </a:rPr>
              <a:t>Explain the following topic in simple language:</a:t>
            </a:r>
          </a:p>
          <a:p>
            <a:pPr>
              <a:lnSpc>
                <a:spcPct val="150000"/>
              </a:lnSpc>
            </a:pPr>
            <a:r>
              <a:rPr lang="en-US" sz="2200" dirty="0">
                <a:latin typeface="Calibri" panose="020F0502020204030204" pitchFamily="34" charset="0"/>
                <a:cs typeface="Calibri" panose="020F0502020204030204" pitchFamily="34" charset="0"/>
              </a:rPr>
              <a:t>[TOPIC]</a:t>
            </a:r>
          </a:p>
          <a:p>
            <a:pPr>
              <a:lnSpc>
                <a:spcPct val="150000"/>
              </a:lnSpc>
            </a:pPr>
            <a:r>
              <a:rPr lang="en-US" sz="2200" dirty="0">
                <a:latin typeface="Calibri" panose="020F0502020204030204" pitchFamily="34" charset="0"/>
                <a:cs typeface="Calibri" panose="020F0502020204030204" pitchFamily="34" charset="0"/>
              </a:rPr>
              <a:t>Include:</a:t>
            </a:r>
          </a:p>
          <a:p>
            <a:pPr>
              <a:lnSpc>
                <a:spcPct val="150000"/>
              </a:lnSpc>
            </a:pPr>
            <a:r>
              <a:rPr lang="en-US" sz="2200" dirty="0">
                <a:latin typeface="Calibri" panose="020F0502020204030204" pitchFamily="34" charset="0"/>
                <a:cs typeface="Calibri" panose="020F0502020204030204" pitchFamily="34" charset="0"/>
              </a:rPr>
              <a:t>- a short explanation</a:t>
            </a:r>
          </a:p>
          <a:p>
            <a:pPr>
              <a:lnSpc>
                <a:spcPct val="150000"/>
              </a:lnSpc>
            </a:pPr>
            <a:r>
              <a:rPr lang="en-US" sz="2200" dirty="0">
                <a:latin typeface="Calibri" panose="020F0502020204030204" pitchFamily="34" charset="0"/>
                <a:cs typeface="Calibri" panose="020F0502020204030204" pitchFamily="34" charset="0"/>
              </a:rPr>
              <a:t>- one everyday analogy</a:t>
            </a:r>
          </a:p>
          <a:p>
            <a:pPr>
              <a:lnSpc>
                <a:spcPct val="150000"/>
              </a:lnSpc>
            </a:pPr>
            <a:r>
              <a:rPr lang="en-US" sz="2200" dirty="0">
                <a:latin typeface="Calibri" panose="020F0502020204030204" pitchFamily="34" charset="0"/>
                <a:cs typeface="Calibri" panose="020F0502020204030204" pitchFamily="34" charset="0"/>
              </a:rPr>
              <a:t>- one practical example</a:t>
            </a:r>
          </a:p>
          <a:p>
            <a:pPr>
              <a:lnSpc>
                <a:spcPct val="150000"/>
              </a:lnSpc>
            </a:pPr>
            <a:r>
              <a:rPr lang="en-US" sz="2200" dirty="0">
                <a:latin typeface="Calibri" panose="020F0502020204030204" pitchFamily="34" charset="0"/>
                <a:cs typeface="Calibri" panose="020F0502020204030204" pitchFamily="34" charset="0"/>
              </a:rPr>
              <a:t>- three quiz questions</a:t>
            </a:r>
          </a:p>
          <a:p>
            <a:pPr>
              <a:lnSpc>
                <a:spcPct val="150000"/>
              </a:lnSpc>
            </a:pPr>
            <a:r>
              <a:rPr lang="en-US" sz="2200" dirty="0">
                <a:latin typeface="Calibri" panose="020F0502020204030204" pitchFamily="34" charset="0"/>
                <a:cs typeface="Calibri" panose="020F0502020204030204" pitchFamily="34" charset="0"/>
              </a:rPr>
              <a:t>- one point the student should verify</a:t>
            </a:r>
          </a:p>
        </p:txBody>
      </p:sp>
    </p:spTree>
    <p:extLst>
      <p:ext uri="{BB962C8B-B14F-4D97-AF65-F5344CB8AC3E}">
        <p14:creationId xmlns:p14="http://schemas.microsoft.com/office/powerpoint/2010/main" val="1421244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32123-BF0F-F3C3-5998-C4446A92037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4DB63B-3085-D60C-29D0-6CA563ED1B59}"/>
              </a:ext>
            </a:extLst>
          </p:cNvPr>
          <p:cNvSpPr/>
          <p:nvPr/>
        </p:nvSpPr>
        <p:spPr>
          <a:xfrm>
            <a:off x="502920" y="320040"/>
            <a:ext cx="7955280" cy="411480"/>
          </a:xfrm>
          <a:prstGeom prst="rect">
            <a:avLst/>
          </a:prstGeom>
          <a:noFill/>
          <a:ln/>
        </p:spPr>
        <p:txBody>
          <a:bodyPr wrap="square" lIns="0" tIns="0" rIns="0" bIns="0" rtlCol="0" anchor="ctr"/>
          <a:lstStyle/>
          <a:p>
            <a:r>
              <a:rPr lang="en-US" sz="2600" b="1" dirty="0">
                <a:solidFill>
                  <a:srgbClr val="1B2559"/>
                </a:solidFill>
                <a:latin typeface="Aptos Display" pitchFamily="34" charset="0"/>
                <a:ea typeface="Aptos Display" pitchFamily="34" charset="-122"/>
                <a:cs typeface="Aptos Display" pitchFamily="34" charset="-120"/>
              </a:rPr>
              <a:t>Final Challenge: Build a Mini AI Study Assistant</a:t>
            </a:r>
            <a:endParaRPr lang="en-US" sz="2600" dirty="0"/>
          </a:p>
        </p:txBody>
      </p:sp>
      <p:sp>
        <p:nvSpPr>
          <p:cNvPr id="33" name="Slide Number Placeholder 0">
            <a:extLst>
              <a:ext uri="{FF2B5EF4-FFF2-40B4-BE49-F238E27FC236}">
                <a16:creationId xmlns:a16="http://schemas.microsoft.com/office/drawing/2014/main" id="{F8B4529B-EC50-C140-5279-A3E5C8F28A16}"/>
              </a:ext>
            </a:extLst>
          </p:cNvPr>
          <p:cNvSpPr>
            <a:spLocks noGrp="1"/>
          </p:cNvSpPr>
          <p:nvPr>
            <p:ph type="sldNum" sz="quarter" idx="4294967295"/>
          </p:nvPr>
        </p:nvSpPr>
        <p:spPr>
          <a:xfrm>
            <a:off x="11430000" y="6652260"/>
            <a:ext cx="800000" cy="300000"/>
          </a:xfrm>
          <a:prstGeom prst="rect">
            <a:avLst/>
          </a:prstGeom>
          <a:extLst>
            <a:ext uri="{C572A759-6A51-4108-AA02-DFA0A04FC94B}">
              <ma14:wrappingTextBoxFlag xmlns:ma14="http://schemas.microsoft.com/office/mac/drawingml/2011/main" xmlns="" val="0"/>
            </a:ext>
          </a:extLst>
        </p:spPr>
        <p:txBody>
          <a:bodyPr/>
          <a:lstStyle>
            <a:lvl1pPr>
              <a:defRPr sz="700">
                <a:solidFill>
                  <a:srgbClr val="FFFFFF"/>
                </a:solidFill>
                <a:latin typeface="Aptos"/>
                <a:ea typeface="Aptos"/>
                <a:cs typeface="Aptos"/>
              </a:defRPr>
            </a:lvl1pPr>
          </a:lstStyle>
          <a:p>
            <a:pPr algn="l"/>
            <a:fld id="{F7021451-1387-4CA6-816F-3879F97B5CBC}" type="slidenum">
              <a:rPr lang="en-US" b="0"/>
              <a:t>29</a:t>
            </a:fld>
            <a:endParaRPr lang="en-US"/>
          </a:p>
        </p:txBody>
      </p:sp>
      <p:sp>
        <p:nvSpPr>
          <p:cNvPr id="35" name="TextBox 34">
            <a:extLst>
              <a:ext uri="{FF2B5EF4-FFF2-40B4-BE49-F238E27FC236}">
                <a16:creationId xmlns:a16="http://schemas.microsoft.com/office/drawing/2014/main" id="{1708B914-A36D-7270-CB5D-687B5AB7C083}"/>
              </a:ext>
            </a:extLst>
          </p:cNvPr>
          <p:cNvSpPr txBox="1"/>
          <p:nvPr/>
        </p:nvSpPr>
        <p:spPr>
          <a:xfrm>
            <a:off x="502920" y="1580322"/>
            <a:ext cx="11219290" cy="3594702"/>
          </a:xfrm>
          <a:prstGeom prst="rect">
            <a:avLst/>
          </a:prstGeom>
          <a:noFill/>
        </p:spPr>
        <p:txBody>
          <a:bodyPr wrap="square">
            <a:spAutoFit/>
          </a:bodyPr>
          <a:lstStyle/>
          <a:p>
            <a:pPr>
              <a:lnSpc>
                <a:spcPct val="150000"/>
              </a:lnSpc>
            </a:pPr>
            <a:r>
              <a:rPr lang="en-US" sz="2200" dirty="0">
                <a:latin typeface="Calibri" panose="020F0502020204030204" pitchFamily="34" charset="0"/>
                <a:cs typeface="Calibri" panose="020F0502020204030204" pitchFamily="34" charset="0"/>
              </a:rPr>
              <a:t>Keep the response under 250 words.</a:t>
            </a:r>
          </a:p>
          <a:p>
            <a:pPr>
              <a:lnSpc>
                <a:spcPct val="150000"/>
              </a:lnSpc>
            </a:pPr>
            <a:r>
              <a:rPr lang="en-US" sz="2200" dirty="0">
                <a:latin typeface="Calibri" panose="020F0502020204030204" pitchFamily="34" charset="0"/>
                <a:cs typeface="Calibri" panose="020F0502020204030204" pitchFamily="34" charset="0"/>
              </a:rPr>
              <a:t>Then students test it with something such as:</a:t>
            </a:r>
          </a:p>
          <a:p>
            <a:pPr>
              <a:lnSpc>
                <a:spcPct val="150000"/>
              </a:lnSpc>
            </a:pPr>
            <a:r>
              <a:rPr lang="en-US" sz="2200" dirty="0">
                <a:latin typeface="Calibri" panose="020F0502020204030204" pitchFamily="34" charset="0"/>
                <a:cs typeface="Calibri" panose="020F0502020204030204" pitchFamily="34" charset="0"/>
              </a:rPr>
              <a:t>Cloud computing</a:t>
            </a:r>
          </a:p>
          <a:p>
            <a:pPr>
              <a:lnSpc>
                <a:spcPct val="150000"/>
              </a:lnSpc>
            </a:pPr>
            <a:r>
              <a:rPr lang="en-US" sz="2200" dirty="0">
                <a:latin typeface="Calibri" panose="020F0502020204030204" pitchFamily="34" charset="0"/>
                <a:cs typeface="Calibri" panose="020F0502020204030204" pitchFamily="34" charset="0"/>
              </a:rPr>
              <a:t>or:</a:t>
            </a:r>
          </a:p>
          <a:p>
            <a:pPr>
              <a:lnSpc>
                <a:spcPct val="150000"/>
              </a:lnSpc>
            </a:pPr>
            <a:r>
              <a:rPr lang="en-US" sz="2200" dirty="0">
                <a:latin typeface="Calibri" panose="020F0502020204030204" pitchFamily="34" charset="0"/>
                <a:cs typeface="Calibri" panose="020F0502020204030204" pitchFamily="34" charset="0"/>
              </a:rPr>
              <a:t>Network security</a:t>
            </a:r>
          </a:p>
          <a:p>
            <a:pPr>
              <a:lnSpc>
                <a:spcPct val="150000"/>
              </a:lnSpc>
            </a:pPr>
            <a:r>
              <a:rPr lang="en-US" sz="2200" dirty="0">
                <a:latin typeface="Calibri" panose="020F0502020204030204" pitchFamily="34" charset="0"/>
                <a:cs typeface="Calibri" panose="020F0502020204030204" pitchFamily="34" charset="0"/>
              </a:rPr>
              <a:t>or:</a:t>
            </a:r>
          </a:p>
          <a:p>
            <a:pPr>
              <a:lnSpc>
                <a:spcPct val="150000"/>
              </a:lnSpc>
            </a:pPr>
            <a:r>
              <a:rPr lang="en-US" sz="2200" dirty="0">
                <a:latin typeface="Calibri" panose="020F0502020204030204" pitchFamily="34" charset="0"/>
                <a:cs typeface="Calibri" panose="020F0502020204030204" pitchFamily="34" charset="0"/>
              </a:rPr>
              <a:t>Database </a:t>
            </a:r>
            <a:r>
              <a:rPr lang="en-US" sz="2200" dirty="0" err="1">
                <a:latin typeface="Calibri" panose="020F0502020204030204" pitchFamily="34" charset="0"/>
                <a:cs typeface="Calibri" panose="020F0502020204030204" pitchFamily="34" charset="0"/>
              </a:rPr>
              <a:t>normalisation</a:t>
            </a:r>
            <a:endParaRPr lang="en-US" sz="2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972896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251</TotalTime>
  <Words>1840</Words>
  <Application>Microsoft Office PowerPoint</Application>
  <PresentationFormat>Widescreen</PresentationFormat>
  <Paragraphs>239</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Aptos Display</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Prepared with ChatGPT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LLM Demo Class</dc:title>
  <dc:subject>15-minute demo class: What LLMs are and how they work</dc:subject>
  <dc:creator>Dr. Farshid Keivanian</dc:creator>
  <cp:lastModifiedBy>Farshid Keivanian</cp:lastModifiedBy>
  <cp:revision>95</cp:revision>
  <dcterms:created xsi:type="dcterms:W3CDTF">2026-08-12T04:19:57Z</dcterms:created>
  <dcterms:modified xsi:type="dcterms:W3CDTF">2026-09-08T04:27:15Z</dcterms:modified>
</cp:coreProperties>
</file>